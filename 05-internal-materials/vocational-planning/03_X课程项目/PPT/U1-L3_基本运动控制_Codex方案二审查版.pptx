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801367" cy="43891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第三堂人形机器人课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0515600" cy="11887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4600" b="1" a:ea="Microsoft YaHei" a:cs="Microsoft YaHei">
                <a:solidFill>
                  <a:srgbClr val="1F2937"/>
                </a:solidFill>
                <a:latin typeface="Microsoft YaHei"/>
              </a:rPr>
              <a:t>基本运动控制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383280"/>
            <a:ext cx="1051560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2200" b="0" a:ea="Microsoft YaHei" a:cs="Microsoft YaHei">
                <a:solidFill>
                  <a:srgbClr val="606A78"/>
                </a:solidFill>
                <a:latin typeface="Microsoft YaHei"/>
              </a:rPr>
              <a:t>—— 让 K1 按指令行走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114800"/>
            <a:ext cx="2011680" cy="914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4480560"/>
            <a:ext cx="10515600" cy="1554480"/>
          </a:xfrm>
          <a:prstGeom prst="roundRect">
            <a:avLst/>
          </a:prstGeom>
          <a:solidFill>
            <a:srgbClr val="EEF1F5"/>
          </a:solidFill>
          <a:ln w="19050">
            <a:solidFill>
              <a:srgbClr val="B8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【配图占位】</a:t>
            </a:r>
          </a:p>
          <a:p>
            <a:pPr algn="ctr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课程主视觉 / K1 行走场景 或 坐标系示意图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17920"/>
            <a:ext cx="105156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课时 L3 · 主讲人：__________</a:t>
            </a:r>
          </a:p>
        </p:txBody>
      </p:sp>
      <p:sp>
        <p:nvSpPr>
          <p:cNvPr id="9" name="Rectangle 8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100" b="0" a:ea="Microsoft YaHei" a:cs="Microsoft YaHei">
                <a:solidFill>
                  <a:srgbClr val="606A78"/>
                </a:solidFill>
                <a:latin typeface="Microsoft YaHei"/>
              </a:rPr>
              <a:t>1 / 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649224" cy="43891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导学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200" b="1" a:ea="Microsoft YaHei" a:cs="Microsoft YaHei">
                <a:solidFill>
                  <a:srgbClr val="1F2937"/>
                </a:solidFill>
                <a:latin typeface="Microsoft YaHei"/>
              </a:rPr>
              <a:t>本课目标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800" b="0" a:ea="Microsoft YaHei" a:cs="Microsoft YaHei">
                <a:solidFill>
                  <a:srgbClr val="606A78"/>
                </a:solidFill>
                <a:latin typeface="Microsoft YaHei"/>
              </a:rPr>
              <a:t>—— 一节课我们要带走什么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286000"/>
            <a:ext cx="10515600" cy="3200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8000"/>
              </a:lnSpc>
              <a:spcAft>
                <a:spcPts val="600"/>
              </a:spcAft>
            </a:pPr>
            <a:r>
              <a:rPr sz="2000" b="0" a:ea="Microsoft YaHei" a:cs="Microsoft YaHei">
                <a:solidFill>
                  <a:srgbClr val="1F2937"/>
                </a:solidFill>
                <a:latin typeface="Microsoft YaHei"/>
              </a:rPr>
              <a:t>• 理解自身坐标系与 set_velocity 的三个参数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2000" b="0" a:ea="Microsoft YaHei" a:cs="Microsoft YaHei">
                <a:solidFill>
                  <a:srgbClr val="1F2937"/>
                </a:solidFill>
                <a:latin typeface="Microsoft YaHei"/>
              </a:rPr>
              <a:t>• 用 SDK 发出速度指令，让 K1 前进 / 后退 / 转向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2000" b="0" a:ea="Microsoft YaHei" a:cs="Microsoft YaHei">
                <a:solidFill>
                  <a:srgbClr val="1F2937"/>
                </a:solidFill>
                <a:latin typeface="Microsoft YaHei"/>
              </a:rPr>
              <a:t>• 认识开环控制的偏差，学会观察与记录</a:t>
            </a:r>
          </a:p>
        </p:txBody>
      </p:sp>
      <p:sp>
        <p:nvSpPr>
          <p:cNvPr id="7" name="Rectangle 6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100" b="0" a:ea="Microsoft YaHei" a:cs="Microsoft YaHei">
                <a:solidFill>
                  <a:srgbClr val="606A78"/>
                </a:solidFill>
                <a:latin typeface="Microsoft YaHei"/>
              </a:rPr>
              <a:t>2 / 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2788920" cy="43891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第一部分 · 速度指令与坐标系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200" b="1" a:ea="Microsoft YaHei" a:cs="Microsoft YaHei">
                <a:solidFill>
                  <a:srgbClr val="1F2937"/>
                </a:solidFill>
                <a:latin typeface="Microsoft YaHei"/>
              </a:rPr>
              <a:t>从“能切换”到“能移动”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800" b="0" a:ea="Microsoft YaHei" a:cs="Microsoft YaHei">
                <a:solidFill>
                  <a:srgbClr val="606A78"/>
                </a:solidFill>
                <a:latin typeface="Microsoft YaHei"/>
              </a:rPr>
              <a:t>—— 怎么告诉机器人往哪走？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66560" y="2194560"/>
            <a:ext cx="4754880" cy="3108960"/>
          </a:xfrm>
          <a:prstGeom prst="roundRect">
            <a:avLst/>
          </a:prstGeom>
          <a:solidFill>
            <a:srgbClr val="EEF1F5"/>
          </a:solidFill>
          <a:ln w="19050">
            <a:solidFill>
              <a:srgbClr val="B8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【配图占位】</a:t>
            </a:r>
          </a:p>
          <a:p>
            <a:pPr algn="ctr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K1 站立待发 / 行走中 场景图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194560"/>
            <a:ext cx="5669280" cy="12801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800" b="1" a:ea="Microsoft YaHei" a:cs="Microsoft YaHei">
                <a:solidFill>
                  <a:srgbClr val="1F2937"/>
                </a:solidFill>
                <a:latin typeface="Microsoft YaHei"/>
              </a:rPr>
              <a:t>回顾：上节课我们让 K1 进入 walk，站稳了。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657600"/>
            <a:ext cx="5669280" cy="1645920"/>
          </a:xfrm>
          <a:prstGeom prst="roundRect">
            <a:avLst/>
          </a:prstGeom>
          <a:solidFill>
            <a:srgbClr val="F0F4FC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3657600"/>
            <a:ext cx="91440" cy="16459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51560" y="3712464"/>
            <a:ext cx="530352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400" b="1" a:ea="Microsoft YaHei" a:cs="Microsoft YaHei">
                <a:solidFill>
                  <a:srgbClr val="F59E0B"/>
                </a:solidFill>
                <a:latin typeface="Microsoft YaHei"/>
              </a:rPr>
              <a:t>【想一想】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51560" y="4078224"/>
            <a:ext cx="5257800" cy="11704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300" b="0" a:ea="Microsoft YaHei" a:cs="Microsoft YaHei">
                <a:solidFill>
                  <a:srgbClr val="1F2937"/>
                </a:solidFill>
                <a:latin typeface="Microsoft YaHei"/>
              </a:rPr>
              <a:t>站立会了，那怎么让它真的走起来、</a:t>
            </a:r>
          </a:p>
          <a:p>
            <a:pPr algn="l">
              <a:lnSpc>
                <a:spcPct val="112000"/>
              </a:lnSpc>
            </a:pPr>
            <a:r>
              <a:rPr sz="1300" b="0" a:ea="Microsoft YaHei" a:cs="Microsoft YaHei">
                <a:solidFill>
                  <a:srgbClr val="1F2937"/>
                </a:solidFill>
                <a:latin typeface="Microsoft YaHei"/>
              </a:rPr>
              <a:t>往指定的方向走？</a:t>
            </a:r>
          </a:p>
          <a:p>
            <a:pPr algn="l">
              <a:lnSpc>
                <a:spcPct val="112000"/>
              </a:lnSpc>
            </a:pPr>
            <a:r>
              <a:rPr sz="1300" b="0" a:ea="Microsoft YaHei" a:cs="Microsoft YaHei">
                <a:solidFill>
                  <a:srgbClr val="1F2937"/>
                </a:solidFill>
                <a:latin typeface="Microsoft YaHei"/>
              </a:rPr>
              <a:t>先猜一下，下面揭晓。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100" b="0" a:ea="Microsoft YaHei" a:cs="Microsoft YaHei">
                <a:solidFill>
                  <a:srgbClr val="606A78"/>
                </a:solidFill>
                <a:latin typeface="Microsoft YaHei"/>
              </a:rPr>
              <a:t>3 / 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2788920" cy="43891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第一部分 · 速度指令与坐标系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200" b="1" a:ea="Microsoft YaHei" a:cs="Microsoft YaHei">
                <a:solidFill>
                  <a:srgbClr val="1F2937"/>
                </a:solidFill>
                <a:latin typeface="Microsoft YaHei"/>
              </a:rPr>
              <a:t>什么是自身坐标系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800" b="0" a:ea="Microsoft YaHei" a:cs="Microsoft YaHei">
                <a:solidFill>
                  <a:srgbClr val="606A78"/>
                </a:solidFill>
                <a:latin typeface="Microsoft YaHei"/>
              </a:rPr>
              <a:t>—— 以机器人自己的前后左右为准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94560"/>
            <a:ext cx="5669280" cy="2743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700" b="0" a:ea="Microsoft YaHei" a:cs="Microsoft YaHei">
                <a:solidFill>
                  <a:srgbClr val="1F2937"/>
                </a:solidFill>
                <a:latin typeface="Microsoft YaHei"/>
              </a:rPr>
              <a:t>自身坐标系 = 以机器人自身为原点建立的方向基准。</a:t>
            </a:r>
          </a:p>
          <a:p>
            <a:pPr algn="l">
              <a:lnSpc>
                <a:spcPct val="112000"/>
              </a:lnSpc>
            </a:pPr>
            <a:r>
              <a:rPr sz="1700" b="0" a:ea="Microsoft YaHei" a:cs="Microsoft YaHei">
                <a:solidFill>
                  <a:srgbClr val="1F2937"/>
                </a:solidFill>
                <a:latin typeface="Microsoft YaHei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700" b="0" a:ea="Microsoft YaHei" a:cs="Microsoft YaHei">
                <a:solidFill>
                  <a:srgbClr val="1F2937"/>
                </a:solidFill>
                <a:latin typeface="Microsoft YaHei"/>
              </a:rPr>
              <a:t>前后、左右是“相对于机器人朝向”的，不是固定的“上北下南”——</a:t>
            </a:r>
          </a:p>
          <a:p>
            <a:pPr algn="l">
              <a:lnSpc>
                <a:spcPct val="112000"/>
              </a:lnSpc>
            </a:pPr>
            <a:r>
              <a:rPr sz="1700" b="0" a:ea="Microsoft YaHei" a:cs="Microsoft YaHei">
                <a:solidFill>
                  <a:srgbClr val="1F2937"/>
                </a:solidFill>
                <a:latin typeface="Microsoft YaHei"/>
              </a:rPr>
              <a:t>机器人一转身，它的“前”就变了。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2194560"/>
            <a:ext cx="4754880" cy="3108960"/>
          </a:xfrm>
          <a:prstGeom prst="roundRect">
            <a:avLst/>
          </a:prstGeom>
          <a:solidFill>
            <a:srgbClr val="EEF1F5"/>
          </a:solidFill>
          <a:ln w="19050">
            <a:solidFill>
              <a:srgbClr val="B8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【配图占位】</a:t>
            </a:r>
          </a:p>
          <a:p>
            <a:pPr algn="ctr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机器人坐标轴示意（自身前后左右）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100" b="0" a:ea="Microsoft YaHei" a:cs="Microsoft YaHei">
                <a:solidFill>
                  <a:srgbClr val="606A78"/>
                </a:solidFill>
                <a:latin typeface="Microsoft YaHei"/>
              </a:rPr>
              <a:t>4 / 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2788920" cy="43891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第一部分 · 速度指令与坐标系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200" b="1" a:ea="Microsoft YaHei" a:cs="Microsoft YaHei">
                <a:solidFill>
                  <a:srgbClr val="1F2937"/>
                </a:solidFill>
                <a:latin typeface="Microsoft YaHei"/>
              </a:rPr>
              <a:t>三个轴的方向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800" b="0" a:ea="Microsoft YaHei" a:cs="Microsoft YaHei">
                <a:solidFill>
                  <a:srgbClr val="606A78"/>
                </a:solidFill>
                <a:latin typeface="Microsoft YaHei"/>
              </a:rPr>
              <a:t>—— x 前进 · y 左移 · yaw 左转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94560"/>
            <a:ext cx="5669280" cy="2743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>三个轴的正方向约定：</a:t>
            </a:r>
          </a:p>
          <a:p>
            <a:pPr algn="l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>· x 轴：机器人正前方为“前进正方向”</a:t>
            </a:r>
          </a:p>
          <a:p>
            <a:pPr algn="l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>· y 轴：机器人左侧为“左移正方向”</a:t>
            </a:r>
          </a:p>
          <a:p>
            <a:pPr algn="l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>· yaw：绕竖直轴逆时针（向左）转为正</a:t>
            </a:r>
          </a:p>
          <a:p>
            <a:pPr algn="l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>记住“正方向”，后面正负号就不会乱。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2194560"/>
            <a:ext cx="4754880" cy="3108960"/>
          </a:xfrm>
          <a:prstGeom prst="roundRect">
            <a:avLst/>
          </a:prstGeom>
          <a:solidFill>
            <a:srgbClr val="EEF1F5"/>
          </a:solidFill>
          <a:ln w="19050">
            <a:solidFill>
              <a:srgbClr val="B8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【配图占位】</a:t>
            </a:r>
          </a:p>
          <a:p>
            <a:pPr algn="ctr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坐标系正方向标注图（x前 / y左 / yaw左转）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100" b="0" a:ea="Microsoft YaHei" a:cs="Microsoft YaHei">
                <a:solidFill>
                  <a:srgbClr val="606A78"/>
                </a:solidFill>
                <a:latin typeface="Microsoft YaHei"/>
              </a:rPr>
              <a:t>5 / 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2788920" cy="43891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第一部分 · 速度指令与坐标系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200" b="1" a:ea="Microsoft YaHei" a:cs="Microsoft YaHei">
                <a:solidFill>
                  <a:srgbClr val="1F2937"/>
                </a:solidFill>
                <a:latin typeface="Microsoft YaHei"/>
              </a:rPr>
              <a:t>set_velocity 的三个参数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800" b="0" a:ea="Microsoft YaHei" a:cs="Microsoft YaHei">
                <a:solidFill>
                  <a:srgbClr val="606A78"/>
                </a:solidFill>
                <a:latin typeface="Microsoft YaHei"/>
              </a:rPr>
              <a:t>—— 一个指令，三个数，决定往哪走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2468880"/>
          <a:ext cx="105156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4206240"/>
                <a:gridCol w="1828800"/>
                <a:gridCol w="2286000"/>
              </a:tblGrid>
              <a:tr h="777240">
                <a:tc>
                  <a:txBody>
                    <a:bodyPr/>
                    <a:lstStyle/>
                    <a:p>
                      <a:pPr algn="ctr"/>
                      <a:r>
                        <a:rPr sz="1400" b="1" a:ea="Microsoft YaHei" a:cs="Microsoft YaHei">
                          <a:solidFill>
                            <a:srgbClr val="FFFFFF"/>
                          </a:solidFill>
                          <a:latin typeface="Microsoft YaHei"/>
                        </a:rPr>
                        <a:t>参数</a:t>
                      </a:r>
                    </a:p>
                  </a:txBody>
                  <a:tcPr anchor="ctr" marT="36576" marB="36576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a:ea="Microsoft YaHei" a:cs="Microsoft YaHei">
                          <a:solidFill>
                            <a:srgbClr val="FFFFFF"/>
                          </a:solidFill>
                          <a:latin typeface="Microsoft YaHei"/>
                        </a:rPr>
                        <a:t>含义</a:t>
                      </a:r>
                    </a:p>
                  </a:txBody>
                  <a:tcPr anchor="ctr" marT="36576" marB="36576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a:ea="Microsoft YaHei" a:cs="Microsoft YaHei">
                          <a:solidFill>
                            <a:srgbClr val="FFFFFF"/>
                          </a:solidFill>
                          <a:latin typeface="Microsoft YaHei"/>
                        </a:rPr>
                        <a:t>单位</a:t>
                      </a:r>
                    </a:p>
                  </a:txBody>
                  <a:tcPr anchor="ctr" marT="36576" marB="36576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a:ea="Microsoft YaHei" a:cs="Microsoft YaHei">
                          <a:solidFill>
                            <a:srgbClr val="FFFFFF"/>
                          </a:solidFill>
                          <a:latin typeface="Microsoft YaHei"/>
                        </a:rPr>
                        <a:t>正方向</a:t>
                      </a:r>
                    </a:p>
                  </a:txBody>
                  <a:tcPr anchor="ctr" marT="36576" marB="36576">
                    <a:solidFill>
                      <a:srgbClr val="2563EB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/>
                      <a:r>
                        <a:rPr sz="1400" b="1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vx</a:t>
                      </a:r>
                    </a:p>
                  </a:txBody>
                  <a:tcPr anchor="ctr" marT="36576" marB="36576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前后方向速度</a:t>
                      </a:r>
                    </a:p>
                  </a:txBody>
                  <a:tcPr anchor="ctr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m/s</a:t>
                      </a:r>
                    </a:p>
                  </a:txBody>
                  <a:tcPr anchor="ctr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正数 = 前进，负数 = 后退</a:t>
                      </a:r>
                    </a:p>
                  </a:txBody>
                  <a:tcPr anchor="ctr" marT="36576" marB="36576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/>
                      <a:r>
                        <a:rPr sz="1400" b="1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vy</a:t>
                      </a:r>
                    </a:p>
                  </a:txBody>
                  <a:tcPr anchor="ctr" marT="36576" marB="36576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左右方向速度</a:t>
                      </a:r>
                    </a:p>
                  </a:txBody>
                  <a:tcPr anchor="ctr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m/s</a:t>
                      </a:r>
                    </a:p>
                  </a:txBody>
                  <a:tcPr anchor="ctr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正数 = 左移，负数 = 右移</a:t>
                      </a:r>
                    </a:p>
                  </a:txBody>
                  <a:tcPr anchor="ctr" marT="36576" marB="36576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/>
                      <a:r>
                        <a:rPr sz="1400" b="1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vyaw</a:t>
                      </a:r>
                    </a:p>
                  </a:txBody>
                  <a:tcPr anchor="ctr" marT="36576" marB="36576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绕竖直轴转向速度</a:t>
                      </a:r>
                    </a:p>
                  </a:txBody>
                  <a:tcPr anchor="ctr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rad/s</a:t>
                      </a:r>
                    </a:p>
                  </a:txBody>
                  <a:tcPr anchor="ctr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正数 = 向左（逆时针）转，负数 = 向右（顺时针）转</a:t>
                      </a:r>
                    </a:p>
                  </a:txBody>
                  <a:tcPr anchor="ctr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一个指令 set_velocity(vx, vy, vyaw)，三个数同时生效，决定往哪走、转多快。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100" b="0" a:ea="Microsoft YaHei" a:cs="Microsoft YaHei">
                <a:solidFill>
                  <a:srgbClr val="606A78"/>
                </a:solidFill>
                <a:latin typeface="Microsoft YaHei"/>
              </a:rPr>
              <a:t>6 / 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2788920" cy="43891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第一部分 · 速度指令与坐标系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200" b="1" a:ea="Microsoft YaHei" a:cs="Microsoft YaHei">
                <a:solidFill>
                  <a:srgbClr val="1F2937"/>
                </a:solidFill>
                <a:latin typeface="Microsoft YaHei"/>
              </a:rPr>
              <a:t>三参数动作对照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800" b="0" a:ea="Microsoft YaHei" a:cs="Microsoft YaHei">
                <a:solidFill>
                  <a:srgbClr val="606A78"/>
                </a:solidFill>
                <a:latin typeface="Microsoft YaHei"/>
              </a:rPr>
              <a:t>—— 正数往哪走，负数往哪走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2377440"/>
          <a:ext cx="1051560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3291840"/>
                <a:gridCol w="3017520"/>
              </a:tblGrid>
              <a:tr h="509451">
                <a:tc>
                  <a:txBody>
                    <a:bodyPr/>
                    <a:lstStyle/>
                    <a:p>
                      <a:pPr algn="ctr"/>
                      <a:r>
                        <a:rPr sz="1300" b="1" a:ea="Consolas" a:cs="Consolas">
                          <a:solidFill>
                            <a:srgbClr val="FFFFFF"/>
                          </a:solidFill>
                          <a:latin typeface="Consolas"/>
                        </a:rPr>
                        <a:t>指令</a:t>
                      </a:r>
                    </a:p>
                  </a:txBody>
                  <a:tcPr anchor="ctr" marT="27432" marB="2743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a:ea="Microsoft YaHei" a:cs="Microsoft YaHei">
                          <a:solidFill>
                            <a:srgbClr val="FFFFFF"/>
                          </a:solidFill>
                          <a:latin typeface="Microsoft YaHei"/>
                        </a:rPr>
                        <a:t>动作</a:t>
                      </a:r>
                    </a:p>
                  </a:txBody>
                  <a:tcPr anchor="ctr" marT="27432" marB="2743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a:ea="Microsoft YaHei" a:cs="Microsoft YaHei">
                          <a:solidFill>
                            <a:srgbClr val="FFFFFF"/>
                          </a:solidFill>
                          <a:latin typeface="Microsoft YaHei"/>
                        </a:rPr>
                        <a:t>方向</a:t>
                      </a:r>
                    </a:p>
                  </a:txBody>
                  <a:tcPr anchor="ctr" marT="27432" marB="27432">
                    <a:solidFill>
                      <a:srgbClr val="2563EB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algn="ctr"/>
                      <a:r>
                        <a:rPr sz="1300" b="1" a:ea="Consolas" a:cs="Consolas">
                          <a:solidFill>
                            <a:srgbClr val="1F2937"/>
                          </a:solidFill>
                          <a:latin typeface="Consolas"/>
                        </a:rPr>
                        <a:t>set_velocity(0.5, 0, 0)</a:t>
                      </a:r>
                    </a:p>
                  </a:txBody>
                  <a:tcPr anchor="ctr" marT="27432" marB="27432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前进</a:t>
                      </a:r>
                    </a:p>
                  </a:txBody>
                  <a:tcPr anchor="ctr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机器人正前方</a:t>
                      </a:r>
                    </a:p>
                  </a:txBody>
                  <a:tcPr anchor="ctr" marT="27432" marB="27432"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algn="ctr"/>
                      <a:r>
                        <a:rPr sz="1300" b="1" a:ea="Consolas" a:cs="Consolas">
                          <a:solidFill>
                            <a:srgbClr val="1F2937"/>
                          </a:solidFill>
                          <a:latin typeface="Consolas"/>
                        </a:rPr>
                        <a:t>set_velocity(-0.5, 0, 0)</a:t>
                      </a:r>
                    </a:p>
                  </a:txBody>
                  <a:tcPr anchor="ctr" marT="27432" marB="27432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后退</a:t>
                      </a:r>
                    </a:p>
                  </a:txBody>
                  <a:tcPr anchor="ctr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机器人正后方</a:t>
                      </a:r>
                    </a:p>
                  </a:txBody>
                  <a:tcPr anchor="ctr" marT="27432" marB="27432"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algn="ctr"/>
                      <a:r>
                        <a:rPr sz="1300" b="1" a:ea="Consolas" a:cs="Consolas">
                          <a:solidFill>
                            <a:srgbClr val="1F2937"/>
                          </a:solidFill>
                          <a:latin typeface="Consolas"/>
                        </a:rPr>
                        <a:t>set_velocity(0, 0.3, 0)</a:t>
                      </a:r>
                    </a:p>
                  </a:txBody>
                  <a:tcPr anchor="ctr" marT="27432" marB="27432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左移</a:t>
                      </a:r>
                    </a:p>
                  </a:txBody>
                  <a:tcPr anchor="ctr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机器人正左方</a:t>
                      </a:r>
                    </a:p>
                  </a:txBody>
                  <a:tcPr anchor="ctr" marT="27432" marB="27432"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algn="ctr"/>
                      <a:r>
                        <a:rPr sz="1300" b="1" a:ea="Consolas" a:cs="Consolas">
                          <a:solidFill>
                            <a:srgbClr val="1F2937"/>
                          </a:solidFill>
                          <a:latin typeface="Consolas"/>
                        </a:rPr>
                        <a:t>set_velocity(0, -0.3, 0)</a:t>
                      </a:r>
                    </a:p>
                  </a:txBody>
                  <a:tcPr anchor="ctr" marT="27432" marB="27432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右移</a:t>
                      </a:r>
                    </a:p>
                  </a:txBody>
                  <a:tcPr anchor="ctr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机器人正右方</a:t>
                      </a:r>
                    </a:p>
                  </a:txBody>
                  <a:tcPr anchor="ctr" marT="27432" marB="27432"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algn="ctr"/>
                      <a:r>
                        <a:rPr sz="1300" b="1" a:ea="Consolas" a:cs="Consolas">
                          <a:solidFill>
                            <a:srgbClr val="1F2937"/>
                          </a:solidFill>
                          <a:latin typeface="Consolas"/>
                        </a:rPr>
                        <a:t>set_velocity(0, 0, 0.5)</a:t>
                      </a:r>
                    </a:p>
                  </a:txBody>
                  <a:tcPr anchor="ctr" marT="27432" marB="27432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左转（逆时针）</a:t>
                      </a:r>
                    </a:p>
                  </a:txBody>
                  <a:tcPr anchor="ctr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绕竖直轴向左</a:t>
                      </a:r>
                    </a:p>
                  </a:txBody>
                  <a:tcPr anchor="ctr" marT="27432" marB="27432">
                    <a:solidFill>
                      <a:srgbClr val="FFFFFF"/>
                    </a:solidFill>
                  </a:tcPr>
                </a:tc>
              </a:tr>
              <a:tr h="509454">
                <a:tc>
                  <a:txBody>
                    <a:bodyPr/>
                    <a:lstStyle/>
                    <a:p>
                      <a:pPr algn="ctr"/>
                      <a:r>
                        <a:rPr sz="1300" b="1" a:ea="Consolas" a:cs="Consolas">
                          <a:solidFill>
                            <a:srgbClr val="1F2937"/>
                          </a:solidFill>
                          <a:latin typeface="Consolas"/>
                        </a:rPr>
                        <a:t>set_velocity(0, 0, -0.5)</a:t>
                      </a:r>
                    </a:p>
                  </a:txBody>
                  <a:tcPr anchor="ctr" marT="27432" marB="27432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右转（顺时针）</a:t>
                      </a:r>
                    </a:p>
                  </a:txBody>
                  <a:tcPr anchor="ctr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绕竖直轴向右</a:t>
                      </a:r>
                    </a:p>
                  </a:txBody>
                  <a:tcPr anchor="ctr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822960" y="6035040"/>
            <a:ext cx="105156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正数往哪个方向、负数往哪个方向，一表记牢；三个数可组合（如同时前进 + 左转）。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100" b="0" a:ea="Microsoft YaHei" a:cs="Microsoft YaHei">
                <a:solidFill>
                  <a:srgbClr val="606A78"/>
                </a:solidFill>
                <a:latin typeface="Microsoft YaHei"/>
              </a:rPr>
              <a:t>7 / 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2788920" cy="43891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第一部分 · 速度指令与坐标系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200" b="1" a:ea="Microsoft YaHei" a:cs="Microsoft YaHei">
                <a:solidFill>
                  <a:srgbClr val="1F2937"/>
                </a:solidFill>
                <a:latin typeface="Microsoft YaHei"/>
              </a:rPr>
              <a:t>速度与移动距离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800" b="0" a:ea="Microsoft YaHei" a:cs="Microsoft YaHei">
                <a:solidFill>
                  <a:srgbClr val="606A78"/>
                </a:solidFill>
                <a:latin typeface="Microsoft YaHei"/>
              </a:rPr>
              <a:t>—— 0.5 m/s × 2 s ≈ 1 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5669280" cy="1097280"/>
          </a:xfrm>
          <a:prstGeom prst="roundRect">
            <a:avLst/>
          </a:prstGeom>
          <a:solidFill>
            <a:srgbClr val="E7ECF5"/>
          </a:solidFill>
          <a:ln w="12700">
            <a:solidFill>
              <a:srgbClr val="E7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800" b="1" a:ea="Microsoft YaHei" a:cs="Microsoft YaHei">
                <a:solidFill>
                  <a:srgbClr val="1F2937"/>
                </a:solidFill>
                <a:latin typeface="Microsoft YaHei"/>
              </a:rPr>
              <a:t>移动距离 = 速度 × 时间</a:t>
            </a:r>
          </a:p>
          <a:p>
            <a:pPr algn="ctr">
              <a:lnSpc>
                <a:spcPct val="112000"/>
              </a:lnSpc>
            </a:pPr>
            <a:r>
              <a:rPr sz="1800" b="1" a:ea="Microsoft YaHei" a:cs="Microsoft YaHei">
                <a:solidFill>
                  <a:srgbClr val="1F2937"/>
                </a:solidFill>
                <a:latin typeface="Microsoft YaHei"/>
              </a:rPr>
              <a:t>= 0.5 m/s × 2 s = 1 m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657600"/>
            <a:ext cx="5669280" cy="1828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500" b="0" a:ea="Microsoft YaHei" a:cs="Microsoft YaHei">
                <a:solidFill>
                  <a:srgbClr val="1F2937"/>
                </a:solidFill>
                <a:latin typeface="Microsoft YaHei"/>
              </a:rPr>
              <a:t>• 安全降速：大纲 1 m/s × 2 s，课堂取 0.5 m/s × 2 s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500" b="0" a:ea="Microsoft YaHei" a:cs="Microsoft YaHei">
                <a:solidFill>
                  <a:srgbClr val="1F2937"/>
                </a:solidFill>
                <a:latin typeface="Microsoft YaHei"/>
              </a:rPr>
              <a:t>• 留出反应与急停空间，距离更好控制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500" b="0" a:ea="Microsoft YaHei" a:cs="Microsoft YaHei">
                <a:solidFill>
                  <a:srgbClr val="1F2937"/>
                </a:solidFill>
                <a:latin typeface="Microsoft YaHei"/>
              </a:rPr>
              <a:t>• 转向用角速度 rad/s，约 2 s 转 57°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0" y="2194560"/>
            <a:ext cx="4754880" cy="3108960"/>
          </a:xfrm>
          <a:prstGeom prst="roundRect">
            <a:avLst/>
          </a:prstGeom>
          <a:solidFill>
            <a:srgbClr val="EEF1F5"/>
          </a:solidFill>
          <a:ln w="19050">
            <a:solidFill>
              <a:srgbClr val="B8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【配图占位】</a:t>
            </a:r>
          </a:p>
          <a:p>
            <a:pPr algn="ctr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距离估算示意图（0.5 m/s × 2 s = 1 m）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100" b="0" a:ea="Microsoft YaHei" a:cs="Microsoft YaHei">
                <a:solidFill>
                  <a:srgbClr val="606A78"/>
                </a:solidFill>
                <a:latin typeface="Microsoft YaHei"/>
              </a:rPr>
              <a:t>8 / 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2624328" cy="43891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第二部分 · 开环控制与偏差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200" b="1" a:ea="Microsoft YaHei" a:cs="Microsoft YaHei">
                <a:solidFill>
                  <a:srgbClr val="1F2937"/>
                </a:solidFill>
                <a:latin typeface="Microsoft YaHei"/>
              </a:rPr>
              <a:t>指令发出去，就万事大吉了？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800" b="0" a:ea="Microsoft YaHei" a:cs="Microsoft YaHei">
                <a:solidFill>
                  <a:srgbClr val="606A78"/>
                </a:solidFill>
                <a:latin typeface="Microsoft YaHei"/>
              </a:rPr>
              <a:t>—— 引出“开环”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560320"/>
            <a:ext cx="10332720" cy="1463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000" b="1" a:ea="Microsoft YaHei" a:cs="Microsoft YaHei">
                <a:solidFill>
                  <a:srgbClr val="1F2937"/>
                </a:solidFill>
                <a:latin typeface="Microsoft YaHei"/>
              </a:rPr>
              <a:t>指令发出去，就万事大吉了？</a:t>
            </a:r>
          </a:p>
          <a:p>
            <a:pPr algn="l">
              <a:lnSpc>
                <a:spcPct val="112000"/>
              </a:lnSpc>
            </a:pPr>
            <a:r>
              <a:rPr sz="3000" b="1" a:ea="Microsoft YaHei" a:cs="Microsoft YaHei">
                <a:solidFill>
                  <a:srgbClr val="1F2937"/>
                </a:solidFill>
                <a:latin typeface="Microsoft YaHei"/>
              </a:rPr>
              <a:t>—— 机器人真的走到了预想的位置吗？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097280"/>
            <a:ext cx="3017520" cy="1828800"/>
          </a:xfrm>
          <a:prstGeom prst="roundRect">
            <a:avLst/>
          </a:prstGeom>
          <a:solidFill>
            <a:srgbClr val="EEF1F5"/>
          </a:solidFill>
          <a:ln w="19050">
            <a:solidFill>
              <a:srgbClr val="B8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【配图占位】</a:t>
            </a:r>
          </a:p>
          <a:p>
            <a:pPr algn="ctr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机器人“走歪了”示意</a:t>
            </a:r>
          </a:p>
        </p:txBody>
      </p:sp>
      <p:sp>
        <p:nvSpPr>
          <p:cNvPr id="8" name="Rectangle 7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100" b="0" a:ea="Microsoft YaHei" a:cs="Microsoft YaHei">
                <a:solidFill>
                  <a:srgbClr val="606A78"/>
                </a:solidFill>
                <a:latin typeface="Microsoft YaHei"/>
              </a:rPr>
              <a:t>9 / 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2624328" cy="43891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第二部分 · 开环控制与偏差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200" b="1" a:ea="Microsoft YaHei" a:cs="Microsoft YaHei">
                <a:solidFill>
                  <a:srgbClr val="1F2937"/>
                </a:solidFill>
                <a:latin typeface="Microsoft YaHei"/>
              </a:rPr>
              <a:t>开环控制是什么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800" b="0" a:ea="Microsoft YaHei" a:cs="Microsoft YaHei">
                <a:solidFill>
                  <a:srgbClr val="606A78"/>
                </a:solidFill>
                <a:latin typeface="Microsoft YaHei"/>
              </a:rPr>
              <a:t>—— 发指令，但不测量结果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94560"/>
            <a:ext cx="5669280" cy="23774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>开环控制 = 只发出控制指令，不读取执行结果、不做修正。</a:t>
            </a:r>
          </a:p>
          <a:p>
            <a:pPr algn="l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>本实验发给 K1 速度指令后就结束，不测量它实际走到了哪——</a:t>
            </a:r>
          </a:p>
          <a:p>
            <a:pPr algn="l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>这就是“开环”。优点：简单；缺点：无法应对干扰。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2194560"/>
            <a:ext cx="4754880" cy="2743200"/>
          </a:xfrm>
          <a:prstGeom prst="roundRect">
            <a:avLst/>
          </a:prstGeom>
          <a:solidFill>
            <a:srgbClr val="EEF1F5"/>
          </a:solidFill>
          <a:ln w="19050">
            <a:solidFill>
              <a:srgbClr val="B8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【配图占位】</a:t>
            </a:r>
          </a:p>
          <a:p>
            <a:pPr algn="ctr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开环控制流向（指令 → 执行 → 结束）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8503920" y="5989320"/>
            <a:ext cx="310896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2563EB"/>
                </a:solidFill>
                <a:latin typeface="Microsoft YaHei"/>
              </a:rPr>
              <a:t>核心概念 B09 · 开环</a:t>
            </a:r>
          </a:p>
        </p:txBody>
      </p:sp>
      <p:sp>
        <p:nvSpPr>
          <p:cNvPr id="9" name="Rectangle 8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100" b="0" a:ea="Microsoft YaHei" a:cs="Microsoft YaHei">
                <a:solidFill>
                  <a:srgbClr val="606A78"/>
                </a:solidFill>
                <a:latin typeface="Microsoft YaHei"/>
              </a:rPr>
              <a:t>10 / 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2624328" cy="43891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第二部分 · 开环控制与偏差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200" b="1" a:ea="Microsoft YaHei" a:cs="Microsoft YaHei">
                <a:solidFill>
                  <a:srgbClr val="1F2937"/>
                </a:solidFill>
                <a:latin typeface="Microsoft YaHei"/>
              </a:rPr>
              <a:t>偏差从哪来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800" b="0" a:ea="Microsoft YaHei" a:cs="Microsoft YaHei">
                <a:solidFill>
                  <a:srgbClr val="606A78"/>
                </a:solidFill>
                <a:latin typeface="Microsoft YaHei"/>
              </a:rPr>
              <a:t>—— 实际轨迹，往往不等于预期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94560"/>
            <a:ext cx="5669280" cy="1463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800" b="1" a:ea="Microsoft YaHei" a:cs="Microsoft YaHei">
                <a:solidFill>
                  <a:srgbClr val="1F2937"/>
                </a:solidFill>
                <a:latin typeface="Microsoft YaHei"/>
              </a:rPr>
              <a:t>偏差 = 实际 − 预期（A05）</a:t>
            </a:r>
          </a:p>
          <a:p>
            <a:pPr algn="l">
              <a:lnSpc>
                <a:spcPct val="112000"/>
              </a:lnSpc>
            </a:pPr>
            <a:r>
              <a:rPr sz="1800" b="1" a:ea="Microsoft YaHei" a:cs="Microsoft YaHei">
                <a:solidFill>
                  <a:srgbClr val="1F2937"/>
                </a:solidFill>
                <a:latin typeface="Microsoft YaHei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800" b="1" a:ea="Microsoft YaHei" a:cs="Microsoft YaHei">
                <a:solidFill>
                  <a:srgbClr val="1F2937"/>
                </a:solidFill>
                <a:latin typeface="Microsoft YaHei"/>
              </a:rPr>
              <a:t>机器人走出的轨迹，往往和设想的不一样。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840480"/>
            <a:ext cx="5669280" cy="1645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500" b="0" a:ea="Microsoft YaHei" a:cs="Microsoft YaHei">
                <a:solidFill>
                  <a:srgbClr val="1F2937"/>
                </a:solidFill>
                <a:latin typeface="Microsoft YaHei"/>
              </a:rPr>
              <a:t>• 来源：地面不平整 / 轮子打滑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500" b="0" a:ea="Microsoft YaHei" a:cs="Microsoft YaHei">
                <a:solidFill>
                  <a:srgbClr val="1F2937"/>
                </a:solidFill>
                <a:latin typeface="Microsoft YaHei"/>
              </a:rPr>
              <a:t>• 来源：参数误差 / 惯性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500" b="0" a:ea="Microsoft YaHei" a:cs="Microsoft YaHei">
                <a:solidFill>
                  <a:srgbClr val="1F2937"/>
                </a:solidFill>
                <a:latin typeface="Microsoft YaHei"/>
              </a:rPr>
              <a:t>• 实际轨迹 ≠ 预期直线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0" y="2194560"/>
            <a:ext cx="4754880" cy="2743200"/>
          </a:xfrm>
          <a:prstGeom prst="roundRect">
            <a:avLst/>
          </a:prstGeom>
          <a:solidFill>
            <a:srgbClr val="EEF1F5"/>
          </a:solidFill>
          <a:ln w="19050">
            <a:solidFill>
              <a:srgbClr val="B8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【配图占位】</a:t>
            </a:r>
          </a:p>
          <a:p>
            <a:pPr algn="ctr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预期直线 vs 实际偏斜轨迹对照图</a:t>
            </a:r>
          </a:p>
        </p:txBody>
      </p:sp>
      <p:sp>
        <p:nvSpPr>
          <p:cNvPr id="9" name="Rectangle 8"/>
          <p:cNvSpPr/>
          <p:nvPr/>
        </p:nvSpPr>
        <p:spPr>
          <a:xfrm>
            <a:off x="8503920" y="5989320"/>
            <a:ext cx="310896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2563EB"/>
                </a:solidFill>
                <a:latin typeface="Microsoft YaHei"/>
              </a:rPr>
              <a:t>核心概念 A05 · 偏差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100" b="0" a:ea="Microsoft YaHei" a:cs="Microsoft YaHei">
                <a:solidFill>
                  <a:srgbClr val="606A78"/>
                </a:solidFill>
                <a:latin typeface="Microsoft YaHei"/>
              </a:rPr>
              <a:t>11 / 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2624328" cy="43891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第二部分 · 开环控制与偏差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200" b="1" a:ea="Microsoft YaHei" a:cs="Microsoft YaHei">
                <a:solidFill>
                  <a:srgbClr val="1F2937"/>
                </a:solidFill>
                <a:latin typeface="Microsoft YaHei"/>
              </a:rPr>
              <a:t>开环 vs 闭环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800" b="0" a:ea="Microsoft YaHei" a:cs="Microsoft YaHei">
                <a:solidFill>
                  <a:srgbClr val="606A78"/>
                </a:solidFill>
                <a:latin typeface="Microsoft YaHei"/>
              </a:rPr>
              <a:t>—— 本课只做开环，闭环留待后续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2651760"/>
          <a:ext cx="10515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069080"/>
                <a:gridCol w="4069080"/>
              </a:tblGrid>
              <a:tr h="585216">
                <a:tc>
                  <a:txBody>
                    <a:bodyPr/>
                    <a:lstStyle/>
                    <a:p>
                      <a:pPr algn="ctr"/>
                      <a:r>
                        <a:rPr sz="1400" b="1" a:ea="Microsoft YaHei" a:cs="Microsoft YaHei">
                          <a:solidFill>
                            <a:srgbClr val="FFFFFF"/>
                          </a:solidFill>
                          <a:latin typeface="Microsoft YaHei"/>
                        </a:rPr>
                        <a:t>维度</a:t>
                      </a:r>
                    </a:p>
                  </a:txBody>
                  <a:tcPr anchor="ctr" marT="36576" marB="36576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a:ea="Microsoft YaHei" a:cs="Microsoft YaHei">
                          <a:solidFill>
                            <a:srgbClr val="FFFFFF"/>
                          </a:solidFill>
                          <a:latin typeface="Microsoft YaHei"/>
                        </a:rPr>
                        <a:t>开环（本课）</a:t>
                      </a:r>
                    </a:p>
                  </a:txBody>
                  <a:tcPr anchor="ctr" marT="36576" marB="36576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a:ea="Microsoft YaHei" a:cs="Microsoft YaHei">
                          <a:solidFill>
                            <a:srgbClr val="FFFFFF"/>
                          </a:solidFill>
                          <a:latin typeface="Microsoft YaHei"/>
                        </a:rPr>
                        <a:t>闭环（后续课程）</a:t>
                      </a:r>
                    </a:p>
                  </a:txBody>
                  <a:tcPr anchor="ctr" marT="36576" marB="36576">
                    <a:solidFill>
                      <a:srgbClr val="2563EB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/>
                      <a:r>
                        <a:rPr sz="1400" b="1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是否测结果</a:t>
                      </a:r>
                    </a:p>
                  </a:txBody>
                  <a:tcPr anchor="ctr" marT="36576" marB="36576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否，发完即结束</a:t>
                      </a:r>
                    </a:p>
                  </a:txBody>
                  <a:tcPr anchor="ctr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是，读取实际再修正</a:t>
                      </a:r>
                    </a:p>
                  </a:txBody>
                  <a:tcPr anchor="ctr" marT="36576" marB="36576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/>
                      <a:r>
                        <a:rPr sz="1400" b="1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复杂度</a:t>
                      </a:r>
                    </a:p>
                  </a:txBody>
                  <a:tcPr anchor="ctr" marT="36576" marB="36576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简单</a:t>
                      </a:r>
                    </a:p>
                  </a:txBody>
                  <a:tcPr anchor="ctr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较复杂</a:t>
                      </a:r>
                    </a:p>
                  </a:txBody>
                  <a:tcPr anchor="ctr" marT="36576" marB="36576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/>
                      <a:r>
                        <a:rPr sz="1400" b="1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精度</a:t>
                      </a:r>
                    </a:p>
                  </a:txBody>
                  <a:tcPr anchor="ctr" marT="36576" marB="36576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受干扰大</a:t>
                      </a:r>
                    </a:p>
                  </a:txBody>
                  <a:tcPr anchor="ctr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能抵消干扰</a:t>
                      </a:r>
                    </a:p>
                  </a:txBody>
                  <a:tcPr anchor="ctr" marT="36576" marB="36576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/>
                      <a:r>
                        <a:rPr sz="1400" b="1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本课定位</a:t>
                      </a:r>
                    </a:p>
                  </a:txBody>
                  <a:tcPr anchor="ctr" marT="36576" marB="36576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实操采用</a:t>
                      </a:r>
                    </a:p>
                  </a:txBody>
                  <a:tcPr anchor="ctr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a:ea="Microsoft YaHei" a:cs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暂不引入（留待 U2 / U4）</a:t>
                      </a:r>
                    </a:p>
                  </a:txBody>
                  <a:tcPr anchor="ctr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822960" y="5760720"/>
            <a:ext cx="105156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本课采用开环；闭环“测结果再修正”留待后续课程，是消除偏差的办法。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100" b="0" a:ea="Microsoft YaHei" a:cs="Microsoft YaHei">
                <a:solidFill>
                  <a:srgbClr val="606A78"/>
                </a:solidFill>
                <a:latin typeface="Microsoft YaHei"/>
              </a:rPr>
              <a:t>12 / 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2624328" cy="43891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第二部分 · 开环控制与偏差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200" b="1" a:ea="Microsoft YaHei" a:cs="Microsoft YaHei">
                <a:solidFill>
                  <a:srgbClr val="1F2937"/>
                </a:solidFill>
                <a:latin typeface="Microsoft YaHei"/>
              </a:rPr>
              <a:t>为什么本课要观察偏差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800" b="0" a:ea="Microsoft YaHei" a:cs="Microsoft YaHei">
                <a:solidFill>
                  <a:srgbClr val="606A78"/>
                </a:solidFill>
                <a:latin typeface="Microsoft YaHei"/>
              </a:rPr>
              <a:t>—— 先会测量，才有改进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94560"/>
            <a:ext cx="5669280" cy="23774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>本课目标不是“绝对精准”，而是建立一套习惯：</a:t>
            </a:r>
          </a:p>
          <a:p>
            <a:pPr algn="l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>发指令 → 测偏差 → 做记录。</a:t>
            </a:r>
          </a:p>
          <a:p>
            <a:pPr algn="l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>今天测量到的偏差，正是后续课程引入传感器闭环时的输入。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2194560"/>
            <a:ext cx="4754880" cy="2743200"/>
          </a:xfrm>
          <a:prstGeom prst="roundRect">
            <a:avLst/>
          </a:prstGeom>
          <a:solidFill>
            <a:srgbClr val="EEF1F5"/>
          </a:solidFill>
          <a:ln w="19050">
            <a:solidFill>
              <a:srgbClr val="B8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【配图占位】</a:t>
            </a:r>
          </a:p>
          <a:p>
            <a:pPr algn="ctr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偏差记录 → 后续改进 链路示意</a:t>
            </a:r>
          </a:p>
        </p:txBody>
      </p:sp>
      <p:sp>
        <p:nvSpPr>
          <p:cNvPr id="8" name="Rectangle 7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100" b="0" a:ea="Microsoft YaHei" a:cs="Microsoft YaHei">
                <a:solidFill>
                  <a:srgbClr val="606A78"/>
                </a:solidFill>
                <a:latin typeface="Microsoft YaHei"/>
              </a:rPr>
              <a:t>13 / 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2624328" cy="43891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第三部分 · 运动实验与安全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200" b="1" a:ea="Microsoft YaHei" a:cs="Microsoft YaHei">
                <a:solidFill>
                  <a:srgbClr val="1F2937"/>
                </a:solidFill>
                <a:latin typeface="Microsoft YaHei"/>
              </a:rPr>
              <a:t>动手前，先守规矩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800" b="0" a:ea="Microsoft YaHei" a:cs="Microsoft YaHei">
                <a:solidFill>
                  <a:srgbClr val="606A78"/>
                </a:solidFill>
                <a:latin typeface="Microsoft YaHei"/>
              </a:rPr>
              <a:t>—— 真机移动的安全底线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560320"/>
            <a:ext cx="10332720" cy="1463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000" b="1" a:ea="Microsoft YaHei" a:cs="Microsoft YaHei">
                <a:solidFill>
                  <a:srgbClr val="1F2937"/>
                </a:solidFill>
                <a:latin typeface="Microsoft YaHei"/>
              </a:rPr>
              <a:t>动手前，先守规矩</a:t>
            </a:r>
          </a:p>
          <a:p>
            <a:pPr algn="l">
              <a:lnSpc>
                <a:spcPct val="112000"/>
              </a:lnSpc>
            </a:pPr>
            <a:r>
              <a:rPr sz="3000" b="1" a:ea="Microsoft YaHei" a:cs="Microsoft YaHei">
                <a:solidFill>
                  <a:srgbClr val="1F2937"/>
                </a:solidFill>
                <a:latin typeface="Microsoft YaHei"/>
              </a:rPr>
              <a:t>—— 接下来 K1 会真的动起来，比“原地切换”更需谨慎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097280"/>
            <a:ext cx="3017520" cy="1828800"/>
          </a:xfrm>
          <a:prstGeom prst="roundRect">
            <a:avLst/>
          </a:prstGeom>
          <a:solidFill>
            <a:srgbClr val="EEF1F5"/>
          </a:solidFill>
          <a:ln w="19050">
            <a:solidFill>
              <a:srgbClr val="B8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【配图占位】</a:t>
            </a:r>
          </a:p>
          <a:p>
            <a:pPr algn="ctr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空旷场地 + 监督 场景剪影</a:t>
            </a:r>
          </a:p>
        </p:txBody>
      </p:sp>
      <p:sp>
        <p:nvSpPr>
          <p:cNvPr id="8" name="Rectangle 7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100" b="0" a:ea="Microsoft YaHei" a:cs="Microsoft YaHei">
                <a:solidFill>
                  <a:srgbClr val="606A78"/>
                </a:solidFill>
                <a:latin typeface="Microsoft YaHei"/>
              </a:rPr>
              <a:t>14 / 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2624328" cy="43891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第三部分 · 运动实验与安全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200" b="1" a:ea="Microsoft YaHei" a:cs="Microsoft YaHei">
                <a:solidFill>
                  <a:srgbClr val="1F2937"/>
                </a:solidFill>
                <a:latin typeface="Microsoft YaHei"/>
              </a:rPr>
              <a:t>实验安全规范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800" b="0" a:ea="Microsoft YaHei" a:cs="Microsoft YaHei">
                <a:solidFill>
                  <a:srgbClr val="606A78"/>
                </a:solidFill>
                <a:latin typeface="Microsoft YaHei"/>
              </a:rPr>
              <a:t>—— 空旷 · 在场 · 有预案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94560"/>
            <a:ext cx="10515600" cy="457200"/>
          </a:xfrm>
          <a:prstGeom prst="roundRect">
            <a:avLst/>
          </a:prstGeom>
          <a:solidFill>
            <a:srgbClr val="E5484D"/>
          </a:solidFill>
          <a:ln w="12700">
            <a:solidFill>
              <a:srgbClr val="E548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94560"/>
            <a:ext cx="105156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⚠ 安全提示：真机移动，安全优先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017520"/>
            <a:ext cx="10515600" cy="2743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800" b="0" a:ea="Microsoft YaHei" a:cs="Microsoft YaHei">
                <a:solidFill>
                  <a:srgbClr val="1F2937"/>
                </a:solidFill>
                <a:latin typeface="Microsoft YaHei"/>
              </a:rPr>
              <a:t>• ① 场地空旷、无易撞物，远离台阶与电源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800" b="0" a:ea="Microsoft YaHei" a:cs="Microsoft YaHei">
                <a:solidFill>
                  <a:srgbClr val="1F2937"/>
                </a:solidFill>
                <a:latin typeface="Microsoft YaHei"/>
              </a:rPr>
              <a:t>• ② 教师与同伴在场，保持安全距离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800" b="0" a:ea="Microsoft YaHei" a:cs="Microsoft YaHei">
                <a:solidFill>
                  <a:srgbClr val="1F2937"/>
                </a:solidFill>
                <a:latin typeface="Microsoft YaHei"/>
              </a:rPr>
              <a:t>• ③ 明确急停与收尾手势，人人知晓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800" b="0" a:ea="Microsoft YaHei" a:cs="Microsoft YaHei">
                <a:solidFill>
                  <a:srgbClr val="1F2937"/>
                </a:solidFill>
                <a:latin typeface="Microsoft YaHei"/>
              </a:rPr>
              <a:t>• ④ 发指令前先预判轨迹，确认路径无阻挡</a:t>
            </a:r>
          </a:p>
        </p:txBody>
      </p:sp>
      <p:sp>
        <p:nvSpPr>
          <p:cNvPr id="9" name="Rectangle 8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100" b="0" a:ea="Microsoft YaHei" a:cs="Microsoft YaHei">
                <a:solidFill>
                  <a:srgbClr val="606A78"/>
                </a:solidFill>
                <a:latin typeface="Microsoft YaHei"/>
              </a:rPr>
              <a:t>15 / 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2624328" cy="438912"/>
          </a:xfrm>
          <a:prstGeom prst="roundRect">
            <a:avLst/>
          </a:prstGeom>
          <a:solidFill>
            <a:srgbClr val="0EA5A4"/>
          </a:solidFill>
          <a:ln w="12700">
            <a:solidFill>
              <a:srgbClr val="0EA5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第三部分 · 运动实验与安全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200" b="1" a:ea="Microsoft YaHei" a:cs="Microsoft YaHei">
                <a:solidFill>
                  <a:srgbClr val="1F2937"/>
                </a:solidFill>
                <a:latin typeface="Microsoft YaHei"/>
              </a:rPr>
              <a:t>实验准备：连接与确认模式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800" b="0" a:ea="Microsoft YaHei" a:cs="Microsoft YaHei">
                <a:solidFill>
                  <a:srgbClr val="606A78"/>
                </a:solidFill>
                <a:latin typeface="Microsoft YaHei"/>
              </a:rPr>
              <a:t>—— 先连上，再确认它站好了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377440"/>
            <a:ext cx="10515600" cy="1865376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B8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377440"/>
            <a:ext cx="82296" cy="1865376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816352"/>
            <a:ext cx="10515600" cy="329184"/>
          </a:xfrm>
          <a:prstGeom prst="rect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3145536"/>
            <a:ext cx="10515600" cy="329184"/>
          </a:xfrm>
          <a:prstGeom prst="rect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377440"/>
            <a:ext cx="10515600" cy="18653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</a:pPr>
            <a:r>
              <a:rPr sz="1300" b="0" a:ea="Consolas" a:cs="Consolas">
                <a:solidFill>
                  <a:srgbClr val="1F2937"/>
                </a:solidFill>
                <a:latin typeface="Consolas"/>
              </a:rPr>
              <a:t>from boosteros.robots.booster import BoosterRobot</a:t>
            </a:r>
          </a:p>
          <a:p>
            <a:pPr>
              <a:lnSpc>
                <a:spcPct val="100000"/>
              </a:lnSpc>
            </a:pPr>
            <a:r>
              <a:rPr sz="1300" b="0" a:ea="Consolas" a:cs="Consolas">
                <a:solidFill>
                  <a:srgbClr val="1F2937"/>
                </a:solidFill>
                <a:latin typeface="Consolas"/>
              </a:rPr>
              <a:t>robot = BoosterRobot()              # 建立与 K1 的连接（对应 notebook 2.1，cell-7）</a:t>
            </a:r>
          </a:p>
          <a:p>
            <a:pPr>
              <a:lnSpc>
                <a:spcPct val="100000"/>
              </a:lnSpc>
            </a:pPr>
            <a:r>
              <a:rPr sz="1300" b="0" a:ea="Consolas" a:cs="Consolas">
                <a:solidFill>
                  <a:srgbClr val="1F2937"/>
                </a:solidFill>
                <a:latin typeface="Consolas"/>
              </a:rPr>
              <a:t>mode = robot.get_mode()             # 读取当前运行模式（对应 notebook 2.2，cell-9）</a:t>
            </a:r>
          </a:p>
          <a:p>
            <a:pPr>
              <a:lnSpc>
                <a:spcPct val="100000"/>
              </a:lnSpc>
            </a:pPr>
            <a:r>
              <a:rPr sz="1300" b="0" a:ea="Consolas" a:cs="Consolas">
                <a:solidFill>
                  <a:srgbClr val="1F2937"/>
                </a:solidFill>
                <a:latin typeface="Consolas"/>
              </a:rPr>
              <a:t>print(mode)   # 确认当前为已直立的 'prepare'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5303520"/>
            <a:ext cx="1051560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500" b="0" a:ea="Microsoft YaHei" a:cs="Microsoft YaHei">
                <a:solidFill>
                  <a:srgbClr val="606A78"/>
                </a:solidFill>
                <a:latin typeface="Microsoft YaHei"/>
              </a:rPr>
              <a:t>先连上、再确认它已经站好（prepare），才进入运动指令环节。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100" b="0" a:ea="Microsoft YaHei" a:cs="Microsoft YaHei">
                <a:solidFill>
                  <a:srgbClr val="606A78"/>
                </a:solidFill>
                <a:latin typeface="Microsoft YaHei"/>
              </a:rPr>
              <a:t>16 / 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2624328" cy="438912"/>
          </a:xfrm>
          <a:prstGeom prst="roundRect">
            <a:avLst/>
          </a:prstGeom>
          <a:solidFill>
            <a:srgbClr val="0EA5A4"/>
          </a:solidFill>
          <a:ln w="12700">
            <a:solidFill>
              <a:srgbClr val="0EA5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第三部分 · 运动实验与安全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200" b="1" a:ea="Microsoft YaHei" a:cs="Microsoft YaHei">
                <a:solidFill>
                  <a:srgbClr val="1F2937"/>
                </a:solidFill>
                <a:latin typeface="Microsoft YaHei"/>
              </a:rPr>
              <a:t>进入行走态（多步 + 人工窗口）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800" b="0" a:ea="Microsoft YaHei" a:cs="Microsoft YaHei">
                <a:solidFill>
                  <a:srgbClr val="606A78"/>
                </a:solidFill>
                <a:latin typeface="Microsoft YaHei"/>
              </a:rPr>
              <a:t>—— 确认后才发 walk，不可连点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94560"/>
            <a:ext cx="10515600" cy="457200"/>
          </a:xfrm>
          <a:prstGeom prst="roundRect">
            <a:avLst/>
          </a:prstGeom>
          <a:solidFill>
            <a:srgbClr val="E5484D"/>
          </a:solidFill>
          <a:ln w="12700">
            <a:solidFill>
              <a:srgbClr val="E548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94560"/>
            <a:ext cx="105156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⚠ 人工确认节点不可跳过：直立站稳 · 周围空旷 · 教师监督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26080"/>
            <a:ext cx="1737360" cy="1554480"/>
          </a:xfrm>
          <a:prstGeom prst="roundRect">
            <a:avLst/>
          </a:prstGeom>
          <a:solidFill>
            <a:srgbClr val="E7ECF5"/>
          </a:solidFill>
          <a:ln w="12700">
            <a:solidFill>
              <a:srgbClr val="E7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200" b="0" a:ea="Microsoft YaHei" a:cs="Microsoft YaHei">
                <a:solidFill>
                  <a:srgbClr val="1F2937"/>
                </a:solidFill>
                <a:latin typeface="Microsoft YaHei"/>
              </a:rPr>
              <a:t>① 进入 prepare</a:t>
            </a:r>
          </a:p>
          <a:p>
            <a:pPr algn="ctr">
              <a:lnSpc>
                <a:spcPct val="112000"/>
              </a:lnSpc>
            </a:pPr>
            <a:r>
              <a:rPr sz="1200" b="0" a:ea="Microsoft YaHei" a:cs="Microsoft YaHei">
                <a:solidFill>
                  <a:srgbClr val="1F2937"/>
                </a:solidFill>
                <a:latin typeface="Microsoft YaHei"/>
              </a:rPr>
              <a:t>并手动拉起站稳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68880" y="2926080"/>
            <a:ext cx="1737360" cy="1554480"/>
          </a:xfrm>
          <a:prstGeom prst="roundRect">
            <a:avLst/>
          </a:prstGeom>
          <a:solidFill>
            <a:srgbClr val="E5484D"/>
          </a:solidFill>
          <a:ln w="12700">
            <a:solidFill>
              <a:srgbClr val="E548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200" b="1" a:ea="Microsoft YaHei" a:cs="Microsoft YaHei">
                <a:solidFill>
                  <a:srgbClr val="FFFFFF"/>
                </a:solidFill>
                <a:latin typeface="Microsoft YaHei"/>
              </a:rPr>
              <a:t>② 人工确认</a:t>
            </a:r>
          </a:p>
          <a:p>
            <a:pPr algn="ctr">
              <a:lnSpc>
                <a:spcPct val="112000"/>
              </a:lnSpc>
            </a:pPr>
            <a:r>
              <a:rPr sz="1200" b="1" a:ea="Microsoft YaHei" a:cs="Microsoft YaHei">
                <a:solidFill>
                  <a:srgbClr val="FFFFFF"/>
                </a:solidFill>
                <a:latin typeface="Microsoft YaHei"/>
              </a:rPr>
              <a:t>直立·空旷·教师监督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2926080"/>
            <a:ext cx="1737360" cy="1554480"/>
          </a:xfrm>
          <a:prstGeom prst="roundRect">
            <a:avLst/>
          </a:prstGeom>
          <a:solidFill>
            <a:srgbClr val="E7ECF5"/>
          </a:solidFill>
          <a:ln w="12700">
            <a:solidFill>
              <a:srgbClr val="E7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200" b="0" a:ea="Microsoft YaHei" a:cs="Microsoft YaHei">
                <a:solidFill>
                  <a:srgbClr val="1F2937"/>
                </a:solidFill>
                <a:latin typeface="Microsoft YaHei"/>
              </a:rPr>
              <a:t>③ 进入 walk</a:t>
            </a:r>
          </a:p>
          <a:p>
            <a:pPr algn="ctr">
              <a:lnSpc>
                <a:spcPct val="112000"/>
              </a:lnSpc>
            </a:pPr>
            <a:r>
              <a:rPr sz="1200" b="0" a:ea="Microsoft YaHei" a:cs="Microsoft YaHei">
                <a:solidFill>
                  <a:srgbClr val="1F2937"/>
                </a:solidFill>
                <a:latin typeface="Microsoft YaHei"/>
              </a:rPr>
              <a:t>发速度指令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2926080"/>
            <a:ext cx="1737360" cy="1554480"/>
          </a:xfrm>
          <a:prstGeom prst="roundRect">
            <a:avLst/>
          </a:prstGeom>
          <a:solidFill>
            <a:srgbClr val="E7ECF5"/>
          </a:solidFill>
          <a:ln w="12700">
            <a:solidFill>
              <a:srgbClr val="E7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200" b="0" a:ea="Microsoft YaHei" a:cs="Microsoft YaHei">
                <a:solidFill>
                  <a:srgbClr val="1F2937"/>
                </a:solidFill>
                <a:latin typeface="Microsoft YaHei"/>
              </a:rPr>
              <a:t>④ 安全停止</a:t>
            </a:r>
          </a:p>
          <a:p>
            <a:pPr algn="ctr">
              <a:lnSpc>
                <a:spcPct val="112000"/>
              </a:lnSpc>
            </a:pPr>
            <a:r>
              <a:rPr sz="1200" b="0" a:ea="Microsoft YaHei" a:cs="Microsoft YaHei">
                <a:solidFill>
                  <a:srgbClr val="1F2937"/>
                </a:solidFill>
                <a:latin typeface="Microsoft YaHei"/>
              </a:rPr>
              <a:t>set_velocity 0,0,0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2926080"/>
            <a:ext cx="1737360" cy="1554480"/>
          </a:xfrm>
          <a:prstGeom prst="roundRect">
            <a:avLst/>
          </a:prstGeom>
          <a:solidFill>
            <a:srgbClr val="E7ECF5"/>
          </a:solidFill>
          <a:ln w="12700">
            <a:solidFill>
              <a:srgbClr val="E7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200" b="0" a:ea="Microsoft YaHei" a:cs="Microsoft YaHei">
                <a:solidFill>
                  <a:srgbClr val="1F2937"/>
                </a:solidFill>
                <a:latin typeface="Microsoft YaHei"/>
              </a:rPr>
              <a:t>⑤ 回 prepare</a:t>
            </a:r>
          </a:p>
          <a:p>
            <a:pPr algn="ctr">
              <a:lnSpc>
                <a:spcPct val="112000"/>
              </a:lnSpc>
            </a:pPr>
            <a:r>
              <a:rPr sz="1200" b="0" a:ea="Microsoft YaHei" a:cs="Microsoft YaHei">
                <a:solidFill>
                  <a:srgbClr val="1F2937"/>
                </a:solidFill>
                <a:latin typeface="Microsoft YaHei"/>
              </a:rPr>
              <a:t>站立稳定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784080" y="2926080"/>
            <a:ext cx="1737360" cy="1554480"/>
          </a:xfrm>
          <a:prstGeom prst="roundRect">
            <a:avLst/>
          </a:prstGeom>
          <a:solidFill>
            <a:srgbClr val="E7ECF5"/>
          </a:solidFill>
          <a:ln w="12700">
            <a:solidFill>
              <a:srgbClr val="E7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200" b="0" a:ea="Microsoft YaHei" a:cs="Microsoft YaHei">
                <a:solidFill>
                  <a:srgbClr val="1F2937"/>
                </a:solidFill>
                <a:latin typeface="Microsoft YaHei"/>
              </a:rPr>
              <a:t>⑥ damping</a:t>
            </a:r>
          </a:p>
          <a:p>
            <a:pPr algn="ctr">
              <a:lnSpc>
                <a:spcPct val="112000"/>
              </a:lnSpc>
            </a:pPr>
            <a:r>
              <a:rPr sz="1200" b="0" a:ea="Microsoft YaHei" a:cs="Microsoft YaHei">
                <a:solidFill>
                  <a:srgbClr val="1F2937"/>
                </a:solidFill>
                <a:latin typeface="Microsoft YaHei"/>
              </a:rPr>
              <a:t>软态收尾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377440" y="3474720"/>
            <a:ext cx="274320" cy="365760"/>
          </a:xfrm>
          <a:prstGeom prst="rightArrow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ight Arrow 14"/>
          <p:cNvSpPr/>
          <p:nvPr/>
        </p:nvSpPr>
        <p:spPr>
          <a:xfrm>
            <a:off x="4206240" y="3474720"/>
            <a:ext cx="274320" cy="365760"/>
          </a:xfrm>
          <a:prstGeom prst="rightArrow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Arrow 15"/>
          <p:cNvSpPr/>
          <p:nvPr/>
        </p:nvSpPr>
        <p:spPr>
          <a:xfrm>
            <a:off x="6035040" y="3474720"/>
            <a:ext cx="274320" cy="365760"/>
          </a:xfrm>
          <a:prstGeom prst="rightArrow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Arrow 16"/>
          <p:cNvSpPr/>
          <p:nvPr/>
        </p:nvSpPr>
        <p:spPr>
          <a:xfrm>
            <a:off x="7863840" y="3474720"/>
            <a:ext cx="274320" cy="365760"/>
          </a:xfrm>
          <a:prstGeom prst="rightArrow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Arrow 17"/>
          <p:cNvSpPr/>
          <p:nvPr/>
        </p:nvSpPr>
        <p:spPr>
          <a:xfrm>
            <a:off x="9692639" y="3474720"/>
            <a:ext cx="274320" cy="365760"/>
          </a:xfrm>
          <a:prstGeom prst="rightArrow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" y="5120640"/>
            <a:ext cx="1051560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六步时序，② 人工确认不可连点跳过；必须先站稳、确认环境，才发 walk。对应 notebook 3.2（cell-15 / cell-17）。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100" b="0" a:ea="Microsoft YaHei" a:cs="Microsoft YaHei">
                <a:solidFill>
                  <a:srgbClr val="606A78"/>
                </a:solidFill>
                <a:latin typeface="Microsoft YaHei"/>
              </a:rPr>
              <a:t>17 / 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2624328" cy="438912"/>
          </a:xfrm>
          <a:prstGeom prst="roundRect">
            <a:avLst/>
          </a:prstGeom>
          <a:solidFill>
            <a:srgbClr val="0EA5A4"/>
          </a:solidFill>
          <a:ln w="12700">
            <a:solidFill>
              <a:srgbClr val="0EA5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第三部分 · 运动实验与安全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200" b="1" a:ea="Microsoft YaHei" a:cs="Microsoft YaHei">
                <a:solidFill>
                  <a:srgbClr val="1F2937"/>
                </a:solidFill>
                <a:latin typeface="Microsoft YaHei"/>
              </a:rPr>
              <a:t>代码 · 前进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800" b="0" a:ea="Microsoft YaHei" a:cs="Microsoft YaHei">
                <a:solidFill>
                  <a:srgbClr val="606A78"/>
                </a:solidFill>
                <a:latin typeface="Microsoft YaHei"/>
              </a:rPr>
              <a:t>—— set_velocity(0.5, 0, 0)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377440"/>
            <a:ext cx="10515600" cy="1865376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B8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377440"/>
            <a:ext cx="82296" cy="1865376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816352"/>
            <a:ext cx="10515600" cy="329184"/>
          </a:xfrm>
          <a:prstGeom prst="rect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3474720"/>
            <a:ext cx="10515600" cy="329184"/>
          </a:xfrm>
          <a:prstGeom prst="rect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377440"/>
            <a:ext cx="10515600" cy="18653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</a:pPr>
            <a:r>
              <a:rPr sz="1300" b="0" a:ea="Consolas" a:cs="Consolas">
                <a:solidFill>
                  <a:srgbClr val="1F2937"/>
                </a:solidFill>
                <a:latin typeface="Consolas"/>
              </a:rPr>
              <a:t># 对应 notebook 3.3（cell-19）</a:t>
            </a:r>
          </a:p>
          <a:p>
            <a:pPr>
              <a:lnSpc>
                <a:spcPct val="100000"/>
              </a:lnSpc>
            </a:pPr>
            <a:r>
              <a:rPr sz="1300" b="0" a:ea="Consolas" a:cs="Consolas">
                <a:solidFill>
                  <a:srgbClr val="1F2937"/>
                </a:solidFill>
                <a:latin typeface="Consolas"/>
              </a:rPr>
              <a:t>robot.set_velocity(0.5, 0, 0)   # 前进 0.5 m/s</a:t>
            </a:r>
          </a:p>
          <a:p>
            <a:pPr>
              <a:lnSpc>
                <a:spcPct val="100000"/>
              </a:lnSpc>
            </a:pPr>
            <a:r>
              <a:rPr sz="1300" b="0" a:ea="Consolas" a:cs="Consolas">
                <a:solidFill>
                  <a:srgbClr val="1F2937"/>
                </a:solidFill>
                <a:latin typeface="Consolas"/>
              </a:rPr>
              <a:t># 约 2 秒后</a:t>
            </a:r>
          </a:p>
          <a:p>
            <a:pPr>
              <a:lnSpc>
                <a:spcPct val="100000"/>
              </a:lnSpc>
            </a:pPr>
            <a:r>
              <a:rPr sz="1300" b="0" a:ea="Consolas" a:cs="Consolas">
                <a:solidFill>
                  <a:srgbClr val="1F2937"/>
                </a:solidFill>
                <a:latin typeface="Consolas"/>
              </a:rPr>
              <a:t>robot.set_velocity(0, 0, 0)     # 速度归零，停止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5120640"/>
            <a:ext cx="1051560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500" b="0" a:ea="Microsoft YaHei" a:cs="Microsoft YaHei">
                <a:solidFill>
                  <a:srgbClr val="606A78"/>
                </a:solidFill>
                <a:latin typeface="Microsoft YaHei"/>
              </a:rPr>
              <a:t>人工确认后再运行；vx 取正值即前进。运行约 2 秒后归零停止，测量实际落点。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100" b="0" a:ea="Microsoft YaHei" a:cs="Microsoft YaHei">
                <a:solidFill>
                  <a:srgbClr val="606A78"/>
                </a:solidFill>
                <a:latin typeface="Microsoft YaHei"/>
              </a:rPr>
              <a:t>18 / 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2624328" cy="438912"/>
          </a:xfrm>
          <a:prstGeom prst="roundRect">
            <a:avLst/>
          </a:prstGeom>
          <a:solidFill>
            <a:srgbClr val="0EA5A4"/>
          </a:solidFill>
          <a:ln w="12700">
            <a:solidFill>
              <a:srgbClr val="0EA5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第三部分 · 运动实验与安全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200" b="1" a:ea="Microsoft YaHei" a:cs="Microsoft YaHei">
                <a:solidFill>
                  <a:srgbClr val="1F2937"/>
                </a:solidFill>
                <a:latin typeface="Microsoft YaHei"/>
              </a:rPr>
              <a:t>代码 · 后退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800" b="0" a:ea="Microsoft YaHei" a:cs="Microsoft YaHei">
                <a:solidFill>
                  <a:srgbClr val="606A78"/>
                </a:solidFill>
                <a:latin typeface="Microsoft YaHei"/>
              </a:rPr>
              <a:t>—— set_velocity(-0.5, 0, 0)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377440"/>
            <a:ext cx="10515600" cy="1865376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B8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377440"/>
            <a:ext cx="82296" cy="1865376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816352"/>
            <a:ext cx="10515600" cy="329184"/>
          </a:xfrm>
          <a:prstGeom prst="rect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3474720"/>
            <a:ext cx="10515600" cy="329184"/>
          </a:xfrm>
          <a:prstGeom prst="rect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377440"/>
            <a:ext cx="10515600" cy="18653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</a:pPr>
            <a:r>
              <a:rPr sz="1300" b="0" a:ea="Consolas" a:cs="Consolas">
                <a:solidFill>
                  <a:srgbClr val="1F2937"/>
                </a:solidFill>
                <a:latin typeface="Consolas"/>
              </a:rPr>
              <a:t># 对应 notebook 3.4（cell-21）</a:t>
            </a:r>
          </a:p>
          <a:p>
            <a:pPr>
              <a:lnSpc>
                <a:spcPct val="100000"/>
              </a:lnSpc>
            </a:pPr>
            <a:r>
              <a:rPr sz="1300" b="0" a:ea="Consolas" a:cs="Consolas">
                <a:solidFill>
                  <a:srgbClr val="1F2937"/>
                </a:solidFill>
                <a:latin typeface="Consolas"/>
              </a:rPr>
              <a:t>robot.set_velocity(-0.5, 0, 0)  # 后退 0.5 m/s</a:t>
            </a:r>
          </a:p>
          <a:p>
            <a:pPr>
              <a:lnSpc>
                <a:spcPct val="100000"/>
              </a:lnSpc>
            </a:pPr>
            <a:r>
              <a:rPr sz="1300" b="0" a:ea="Consolas" a:cs="Consolas">
                <a:solidFill>
                  <a:srgbClr val="1F2937"/>
                </a:solidFill>
                <a:latin typeface="Consolas"/>
              </a:rPr>
              <a:t># 约 2 秒后</a:t>
            </a:r>
          </a:p>
          <a:p>
            <a:pPr>
              <a:lnSpc>
                <a:spcPct val="100000"/>
              </a:lnSpc>
            </a:pPr>
            <a:r>
              <a:rPr sz="1300" b="0" a:ea="Consolas" a:cs="Consolas">
                <a:solidFill>
                  <a:srgbClr val="1F2937"/>
                </a:solidFill>
                <a:latin typeface="Consolas"/>
              </a:rPr>
              <a:t>robot.set_velocity(0, 0, 0)     # 停止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5120640"/>
            <a:ext cx="1051560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500" b="0" a:ea="Microsoft YaHei" a:cs="Microsoft YaHei">
                <a:solidFill>
                  <a:srgbClr val="606A78"/>
                </a:solidFill>
                <a:latin typeface="Microsoft YaHei"/>
              </a:rPr>
              <a:t>vx 取负值即后退；后退前务必确认后方空旷，再运行本 cell。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100" b="0" a:ea="Microsoft YaHei" a:cs="Microsoft YaHei">
                <a:solidFill>
                  <a:srgbClr val="606A78"/>
                </a:solidFill>
                <a:latin typeface="Microsoft YaHei"/>
              </a:rPr>
              <a:t>19 / 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2624328" cy="438912"/>
          </a:xfrm>
          <a:prstGeom prst="roundRect">
            <a:avLst/>
          </a:prstGeom>
          <a:solidFill>
            <a:srgbClr val="0EA5A4"/>
          </a:solidFill>
          <a:ln w="12700">
            <a:solidFill>
              <a:srgbClr val="0EA5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第三部分 · 运动实验与安全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200" b="1" a:ea="Microsoft YaHei" a:cs="Microsoft YaHei">
                <a:solidFill>
                  <a:srgbClr val="1F2937"/>
                </a:solidFill>
                <a:latin typeface="Microsoft YaHei"/>
              </a:rPr>
              <a:t>代码 · 左转与右转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800" b="0" a:ea="Microsoft YaHei" a:cs="Microsoft YaHei">
                <a:solidFill>
                  <a:srgbClr val="606A78"/>
                </a:solidFill>
                <a:latin typeface="Microsoft YaHei"/>
              </a:rPr>
              <a:t>—— set_velocity(0, 0, ±0.5)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377440"/>
            <a:ext cx="10515600" cy="219456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B8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377440"/>
            <a:ext cx="82296" cy="2194560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816352"/>
            <a:ext cx="10515600" cy="329184"/>
          </a:xfrm>
          <a:prstGeom prst="rect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3474720"/>
            <a:ext cx="10515600" cy="329184"/>
          </a:xfrm>
          <a:prstGeom prst="rect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377440"/>
            <a:ext cx="10515600" cy="2194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</a:pPr>
            <a:r>
              <a:rPr sz="1300" b="0" a:ea="Consolas" a:cs="Consolas">
                <a:solidFill>
                  <a:srgbClr val="1F2937"/>
                </a:solidFill>
                <a:latin typeface="Consolas"/>
              </a:rPr>
              <a:t># 对应 notebook 3.5（cell-23 / cell-24）</a:t>
            </a:r>
          </a:p>
          <a:p>
            <a:pPr>
              <a:lnSpc>
                <a:spcPct val="100000"/>
              </a:lnSpc>
            </a:pPr>
            <a:r>
              <a:rPr sz="1300" b="0" a:ea="Consolas" a:cs="Consolas">
                <a:solidFill>
                  <a:srgbClr val="1F2937"/>
                </a:solidFill>
                <a:latin typeface="Consolas"/>
              </a:rPr>
              <a:t>robot.set_velocity(0, 0, 0.5)   # 向左转（逆时针）0.5 rad/s</a:t>
            </a:r>
          </a:p>
          <a:p>
            <a:pPr>
              <a:lnSpc>
                <a:spcPct val="100000"/>
              </a:lnSpc>
            </a:pPr>
            <a:r>
              <a:rPr sz="1300" b="0" a:ea="Consolas" a:cs="Consolas">
                <a:solidFill>
                  <a:srgbClr val="1F2937"/>
                </a:solidFill>
                <a:latin typeface="Consolas"/>
              </a:rPr>
              <a:t>robot.set_velocity(0, 0, 0)     # 停止</a:t>
            </a:r>
          </a:p>
          <a:p>
            <a:pPr>
              <a:lnSpc>
                <a:spcPct val="100000"/>
              </a:lnSpc>
            </a:pPr>
            <a:r>
              <a:rPr sz="1300" b="0" a:ea="Consolas" a:cs="Consolas">
                <a:solidFill>
                  <a:srgbClr val="1F2937"/>
                </a:solidFill>
                <a:latin typeface="Consolas"/>
              </a:rPr>
              <a:t>robot.set_velocity(0, 0, -0.5)  # 向右转（顺时针）0.5 rad/s</a:t>
            </a:r>
          </a:p>
          <a:p>
            <a:pPr>
              <a:lnSpc>
                <a:spcPct val="100000"/>
              </a:lnSpc>
            </a:pPr>
            <a:r>
              <a:rPr sz="1300" b="0" a:ea="Consolas" a:cs="Consolas">
                <a:solidFill>
                  <a:srgbClr val="1F2937"/>
                </a:solidFill>
                <a:latin typeface="Consolas"/>
              </a:rPr>
              <a:t>robot.set_velocity(0, 0, 0)     # 停止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5303520"/>
            <a:ext cx="1051560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500" b="0" a:ea="Microsoft YaHei" a:cs="Microsoft YaHei">
                <a:solidFill>
                  <a:srgbClr val="606A78"/>
                </a:solidFill>
                <a:latin typeface="Microsoft YaHei"/>
              </a:rPr>
              <a:t>vyaw 正数左转（逆时针）、负数右转（顺时针）；转约 90° 后归零，测量实际转角。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100" b="0" a:ea="Microsoft YaHei" a:cs="Microsoft YaHei">
                <a:solidFill>
                  <a:srgbClr val="606A78"/>
                </a:solidFill>
                <a:latin typeface="Microsoft YaHei"/>
              </a:rPr>
              <a:t>20 / 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2624328" cy="438912"/>
          </a:xfrm>
          <a:prstGeom prst="roundRect">
            <a:avLst/>
          </a:prstGeom>
          <a:solidFill>
            <a:srgbClr val="0EA5A4"/>
          </a:solidFill>
          <a:ln w="12700">
            <a:solidFill>
              <a:srgbClr val="0EA5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第三部分 · 运动实验与安全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200" b="1" a:ea="Microsoft YaHei" a:cs="Microsoft YaHei">
                <a:solidFill>
                  <a:srgbClr val="1F2937"/>
                </a:solidFill>
                <a:latin typeface="Microsoft YaHei"/>
              </a:rPr>
              <a:t>代码 · 停止与安全收尾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800" b="0" a:ea="Microsoft YaHei" a:cs="Microsoft YaHei">
                <a:solidFill>
                  <a:srgbClr val="606A78"/>
                </a:solidFill>
                <a:latin typeface="Microsoft YaHei"/>
              </a:rPr>
              <a:t>—— 先停，再回 prepare，最后 damping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94560"/>
            <a:ext cx="10515600" cy="457200"/>
          </a:xfrm>
          <a:prstGeom prst="roundRect">
            <a:avLst/>
          </a:prstGeom>
          <a:solidFill>
            <a:srgbClr val="E5484D"/>
          </a:solidFill>
          <a:ln w="12700">
            <a:solidFill>
              <a:srgbClr val="E548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94560"/>
            <a:ext cx="105156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⚠ 先停，再回 prepare，最后 damping 收尾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880360"/>
            <a:ext cx="10515600" cy="219456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B8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2880360"/>
            <a:ext cx="82296" cy="2194560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3319272"/>
            <a:ext cx="10515600" cy="329184"/>
          </a:xfrm>
          <a:prstGeom prst="rect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3648456"/>
            <a:ext cx="10515600" cy="329184"/>
          </a:xfrm>
          <a:prstGeom prst="rect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4306824"/>
            <a:ext cx="10515600" cy="329184"/>
          </a:xfrm>
          <a:prstGeom prst="rect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2880360"/>
            <a:ext cx="10515600" cy="2194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</a:pPr>
            <a:r>
              <a:rPr sz="1300" b="0" a:ea="Consolas" a:cs="Consolas">
                <a:solidFill>
                  <a:srgbClr val="1F2937"/>
                </a:solidFill>
                <a:latin typeface="Consolas"/>
              </a:rPr>
              <a:t># 对应 notebook 3.6（cell-26 / cell-28）</a:t>
            </a:r>
          </a:p>
          <a:p>
            <a:pPr>
              <a:lnSpc>
                <a:spcPct val="100000"/>
              </a:lnSpc>
            </a:pPr>
            <a:r>
              <a:rPr sz="1300" b="0" a:ea="Consolas" a:cs="Consolas">
                <a:solidFill>
                  <a:srgbClr val="1F2937"/>
                </a:solidFill>
                <a:latin typeface="Consolas"/>
              </a:rPr>
              <a:t>robot.set_velocity(0, 0, 0)     # 速度归零，停止行走</a:t>
            </a:r>
          </a:p>
          <a:p>
            <a:pPr>
              <a:lnSpc>
                <a:spcPct val="100000"/>
              </a:lnSpc>
            </a:pPr>
            <a:r>
              <a:rPr sz="1300" b="0" a:ea="Consolas" a:cs="Consolas">
                <a:solidFill>
                  <a:srgbClr val="1F2937"/>
                </a:solidFill>
                <a:latin typeface="Consolas"/>
              </a:rPr>
              <a:t>robot.set_mode("prepare")       # 安全停止，回到站立稳定</a:t>
            </a:r>
          </a:p>
          <a:p>
            <a:pPr>
              <a:lnSpc>
                <a:spcPct val="100000"/>
              </a:lnSpc>
            </a:pPr>
            <a:r>
              <a:rPr sz="1300" b="0" a:ea="Consolas" a:cs="Consolas">
                <a:solidFill>
                  <a:srgbClr val="1F2937"/>
                </a:solidFill>
                <a:latin typeface="Consolas"/>
              </a:rPr>
              <a:t># 确认已坐下 / 趴好后</a:t>
            </a:r>
          </a:p>
          <a:p>
            <a:pPr>
              <a:lnSpc>
                <a:spcPct val="100000"/>
              </a:lnSpc>
            </a:pPr>
            <a:r>
              <a:rPr sz="1300" b="0" a:ea="Consolas" a:cs="Consolas">
                <a:solidFill>
                  <a:srgbClr val="1F2937"/>
                </a:solidFill>
                <a:latin typeface="Consolas"/>
              </a:rPr>
              <a:t>robot.set_mode("damping")       # 软态收尾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5394960"/>
            <a:ext cx="1051560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500" b="1" a:ea="Microsoft YaHei" a:cs="Microsoft YaHei">
                <a:solidFill>
                  <a:srgbClr val="E5484D"/>
                </a:solidFill>
                <a:latin typeface="Microsoft YaHei"/>
              </a:rPr>
              <a:t>停止行走必须先回 prepare；确认已坐下/趴好，才切 damping 收尾，杜绝 walk→damping。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100" b="0" a:ea="Microsoft YaHei" a:cs="Microsoft YaHei">
                <a:solidFill>
                  <a:srgbClr val="606A78"/>
                </a:solidFill>
                <a:latin typeface="Microsoft YaHei"/>
              </a:rPr>
              <a:t>21 / 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2624328" cy="438912"/>
          </a:xfrm>
          <a:prstGeom prst="roundRect">
            <a:avLst/>
          </a:prstGeom>
          <a:solidFill>
            <a:srgbClr val="0EA5A4"/>
          </a:solidFill>
          <a:ln w="12700">
            <a:solidFill>
              <a:srgbClr val="0EA5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第三部分 · 运动实验与安全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200" b="1" a:ea="Microsoft YaHei" a:cs="Microsoft YaHei">
                <a:solidFill>
                  <a:srgbClr val="1F2937"/>
                </a:solidFill>
                <a:latin typeface="Microsoft YaHei"/>
              </a:rPr>
              <a:t>观察记录任务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800" b="0" a:ea="Microsoft YaHei" a:cs="Microsoft YaHei">
                <a:solidFill>
                  <a:srgbClr val="606A78"/>
                </a:solidFill>
                <a:latin typeface="Microsoft YaHei"/>
              </a:rPr>
              <a:t>—— 把“预期”和“实际”的差记下来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94560"/>
            <a:ext cx="10515600" cy="12801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700" b="1" a:ea="Microsoft YaHei" a:cs="Microsoft YaHei">
                <a:solidFill>
                  <a:srgbClr val="1F2937"/>
                </a:solidFill>
                <a:latin typeface="Microsoft YaHei"/>
              </a:rPr>
              <a:t>不写代码：每组按指令移动后，测量实际落点，填入实训手册 §四 偏差表（预期位置 / 实际位置 / 偏差方向与大小）。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657600"/>
            <a:ext cx="10515600" cy="2194560"/>
          </a:xfrm>
          <a:prstGeom prst="roundRect">
            <a:avLst/>
          </a:prstGeom>
          <a:solidFill>
            <a:srgbClr val="F0F4FC"/>
          </a:solidFill>
          <a:ln w="12700">
            <a:solidFill>
              <a:srgbClr val="0EA5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3657600"/>
            <a:ext cx="91440" cy="2194560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51560" y="3712464"/>
            <a:ext cx="1014984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400" b="1" a:ea="Microsoft YaHei" a:cs="Microsoft YaHei">
                <a:solidFill>
                  <a:srgbClr val="0EA5A4"/>
                </a:solidFill>
                <a:latin typeface="Microsoft YaHei"/>
              </a:rPr>
              <a:t>【动手试试】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51560" y="4078224"/>
            <a:ext cx="10104120" cy="17190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300" b="0" a:ea="Microsoft YaHei" a:cs="Microsoft YaHei">
                <a:solidFill>
                  <a:srgbClr val="1F2937"/>
                </a:solidFill>
                <a:latin typeface="Microsoft YaHei"/>
              </a:rPr>
              <a:t>观察记录要点：</a:t>
            </a:r>
          </a:p>
          <a:p>
            <a:pPr algn="l">
              <a:lnSpc>
                <a:spcPct val="112000"/>
              </a:lnSpc>
            </a:pPr>
            <a:r>
              <a:rPr sz="1300" b="0" a:ea="Microsoft YaHei" a:cs="Microsoft YaHei">
                <a:solidFill>
                  <a:srgbClr val="1F2937"/>
                </a:solidFill>
                <a:latin typeface="Microsoft YaHei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300" b="0" a:ea="Microsoft YaHei" a:cs="Microsoft YaHei">
                <a:solidFill>
                  <a:srgbClr val="1F2937"/>
                </a:solidFill>
                <a:latin typeface="Microsoft YaHei"/>
              </a:rPr>
              <a:t>· 每个方向测一次：前进 / 后退 / 左转 / 右转</a:t>
            </a:r>
          </a:p>
          <a:p>
            <a:pPr algn="l">
              <a:lnSpc>
                <a:spcPct val="112000"/>
              </a:lnSpc>
            </a:pPr>
            <a:r>
              <a:rPr sz="1300" b="0" a:ea="Microsoft YaHei" a:cs="Microsoft YaHei">
                <a:solidFill>
                  <a:srgbClr val="1F2937"/>
                </a:solidFill>
                <a:latin typeface="Microsoft YaHei"/>
              </a:rPr>
              <a:t>· 直线是否偏向一侧？停止时有没有多走一点？转向后位置有没有平移？</a:t>
            </a:r>
          </a:p>
          <a:p>
            <a:pPr algn="l">
              <a:lnSpc>
                <a:spcPct val="112000"/>
              </a:lnSpc>
            </a:pPr>
            <a:r>
              <a:rPr sz="1300" b="0" a:ea="Microsoft YaHei" a:cs="Microsoft YaHei">
                <a:solidFill>
                  <a:srgbClr val="1F2937"/>
                </a:solidFill>
                <a:latin typeface="Microsoft YaHei"/>
              </a:rPr>
              <a:t>· 把偏差写成具体数字，同桌交叉核对后签字。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100" b="0" a:ea="Microsoft YaHei" a:cs="Microsoft YaHei">
                <a:solidFill>
                  <a:srgbClr val="606A78"/>
                </a:solidFill>
                <a:latin typeface="Microsoft YaHei"/>
              </a:rPr>
              <a:t>22 / 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2295144" cy="438912"/>
          </a:xfrm>
          <a:prstGeom prst="roundRect">
            <a:avLst/>
          </a:prstGeom>
          <a:solidFill>
            <a:srgbClr val="0EA5A4"/>
          </a:solidFill>
          <a:ln w="12700">
            <a:solidFill>
              <a:srgbClr val="0EA5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第四部分 · 拓展与评价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200" b="1" a:ea="Microsoft YaHei" a:cs="Microsoft YaHei">
                <a:solidFill>
                  <a:srgbClr val="1F2937"/>
                </a:solidFill>
                <a:latin typeface="Microsoft YaHei"/>
              </a:rPr>
              <a:t>拓展：场地布置与测量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800" b="0" a:ea="Microsoft YaHei" a:cs="Microsoft YaHei">
                <a:solidFill>
                  <a:srgbClr val="606A78"/>
                </a:solidFill>
                <a:latin typeface="Microsoft YaHei"/>
              </a:rPr>
              <a:t>—— 见附件《K1 运动实验场地布置与测量图示》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94560"/>
            <a:ext cx="5669280" cy="2926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500" b="0" a:ea="Microsoft YaHei" a:cs="Microsoft YaHei">
                <a:solidFill>
                  <a:srgbClr val="1F2937"/>
                </a:solidFill>
                <a:latin typeface="Microsoft YaHei"/>
              </a:rPr>
              <a:t>要让偏差测得准，场地和测量方法本身就要规范：</a:t>
            </a:r>
          </a:p>
          <a:p>
            <a:pPr algn="l">
              <a:lnSpc>
                <a:spcPct val="112000"/>
              </a:lnSpc>
            </a:pPr>
            <a:r>
              <a:rPr sz="1500" b="0" a:ea="Microsoft YaHei" a:cs="Microsoft YaHei">
                <a:solidFill>
                  <a:srgbClr val="1F2937"/>
                </a:solidFill>
                <a:latin typeface="Microsoft YaHei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500" b="0" a:ea="Microsoft YaHei" a:cs="Microsoft YaHei">
                <a:solidFill>
                  <a:srgbClr val="1F2937"/>
                </a:solidFill>
                <a:latin typeface="Microsoft YaHei"/>
              </a:rPr>
              <a:t>· 长边 ≥ 5 米、宽边 ≥ 4 米，地面平整</a:t>
            </a:r>
          </a:p>
          <a:p>
            <a:pPr algn="l">
              <a:lnSpc>
                <a:spcPct val="112000"/>
              </a:lnSpc>
            </a:pPr>
            <a:r>
              <a:rPr sz="1500" b="0" a:ea="Microsoft YaHei" a:cs="Microsoft YaHei">
                <a:solidFill>
                  <a:srgbClr val="1F2937"/>
                </a:solidFill>
                <a:latin typeface="Microsoft YaHei"/>
              </a:rPr>
              <a:t>· 贴起点线、每 0.5 米刻度线、安全边界线</a:t>
            </a:r>
          </a:p>
          <a:p>
            <a:pPr algn="l">
              <a:lnSpc>
                <a:spcPct val="112000"/>
              </a:lnSpc>
            </a:pPr>
            <a:r>
              <a:rPr sz="1500" b="0" a:ea="Microsoft YaHei" a:cs="Microsoft YaHei">
                <a:solidFill>
                  <a:srgbClr val="1F2937"/>
                </a:solidFill>
                <a:latin typeface="Microsoft YaHei"/>
              </a:rPr>
              <a:t>· 贴 30° / 60° / 90° 角度参照线</a:t>
            </a:r>
          </a:p>
          <a:p>
            <a:pPr algn="l">
              <a:lnSpc>
                <a:spcPct val="112000"/>
              </a:lnSpc>
            </a:pPr>
            <a:r>
              <a:rPr sz="1500" b="0" a:ea="Microsoft YaHei" a:cs="Microsoft YaHei">
                <a:solidFill>
                  <a:srgbClr val="1F2937"/>
                </a:solidFill>
                <a:latin typeface="Microsoft YaHei"/>
              </a:rPr>
              <a:t>· 每次实验前拍照、实验后复位标记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2194560"/>
            <a:ext cx="4754880" cy="2926080"/>
          </a:xfrm>
          <a:prstGeom prst="roundRect">
            <a:avLst/>
          </a:prstGeom>
          <a:solidFill>
            <a:srgbClr val="EEF1F5"/>
          </a:solidFill>
          <a:ln w="19050">
            <a:solidFill>
              <a:srgbClr val="B8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【配图占位】</a:t>
            </a:r>
          </a:p>
          <a:p>
            <a:pPr algn="ctr">
              <a:lnSpc>
                <a:spcPct val="112000"/>
              </a:lnSpc>
            </a:pPr>
            <a:r>
              <a:rPr sz="1400" b="0" a:ea="Microsoft YaHei" a:cs="Microsoft YaHei">
                <a:solidFill>
                  <a:srgbClr val="606A78"/>
                </a:solidFill>
                <a:latin typeface="Microsoft YaHei"/>
              </a:rPr>
              <a:t>场地布置示意图（起点/刻度/边界/角度线）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6766560" y="5303520"/>
            <a:ext cx="475488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2563EB"/>
                </a:solidFill>
                <a:latin typeface="Microsoft YaHei"/>
              </a:rPr>
              <a:t>详细图示见附件《K1 运动实验场地布置与测量图示》</a:t>
            </a:r>
          </a:p>
        </p:txBody>
      </p:sp>
      <p:sp>
        <p:nvSpPr>
          <p:cNvPr id="9" name="Rectangle 8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100" b="0" a:ea="Microsoft YaHei" a:cs="Microsoft YaHei">
                <a:solidFill>
                  <a:srgbClr val="606A78"/>
                </a:solidFill>
                <a:latin typeface="Microsoft YaHei"/>
              </a:rPr>
              <a:t>23 / 26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2295144" cy="438912"/>
          </a:xfrm>
          <a:prstGeom prst="roundRect">
            <a:avLst/>
          </a:prstGeom>
          <a:solidFill>
            <a:srgbClr val="0EA5A4"/>
          </a:solidFill>
          <a:ln w="12700">
            <a:solidFill>
              <a:srgbClr val="0EA5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第四部分 · 拓展与评价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200" b="1" a:ea="Microsoft YaHei" a:cs="Microsoft YaHei">
                <a:solidFill>
                  <a:srgbClr val="1F2937"/>
                </a:solidFill>
                <a:latin typeface="Microsoft YaHei"/>
              </a:rPr>
              <a:t>分组实操任务卡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800" b="0" a:ea="Microsoft YaHei" a:cs="Microsoft YaHei">
                <a:solidFill>
                  <a:srgbClr val="606A78"/>
                </a:solidFill>
                <a:latin typeface="Microsoft YaHei"/>
              </a:rPr>
              <a:t>—— 在监督下完成一次完整移动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10515600" cy="3474720"/>
          </a:xfrm>
          <a:prstGeom prst="roundRect">
            <a:avLst/>
          </a:prstGeom>
          <a:solidFill>
            <a:srgbClr val="F0F4FC"/>
          </a:solidFill>
          <a:ln w="12700">
            <a:solidFill>
              <a:srgbClr val="0EA5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286000"/>
            <a:ext cx="91440" cy="3474720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51560" y="2340864"/>
            <a:ext cx="1014984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400" b="1" a:ea="Microsoft YaHei" a:cs="Microsoft YaHei">
                <a:solidFill>
                  <a:srgbClr val="0EA5A4"/>
                </a:solidFill>
                <a:latin typeface="Microsoft YaHei"/>
              </a:rPr>
              <a:t>【动手试试】</a:t>
            </a:r>
          </a:p>
        </p:txBody>
      </p:sp>
      <p:sp>
        <p:nvSpPr>
          <p:cNvPr id="9" name="Rectangle 8"/>
          <p:cNvSpPr/>
          <p:nvPr/>
        </p:nvSpPr>
        <p:spPr>
          <a:xfrm>
            <a:off x="1051560" y="2706624"/>
            <a:ext cx="10104120" cy="29992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300" b="0" a:ea="Microsoft YaHei" a:cs="Microsoft YaHei">
                <a:solidFill>
                  <a:srgbClr val="1F2937"/>
                </a:solidFill>
                <a:latin typeface="Microsoft YaHei"/>
              </a:rPr>
              <a:t>分组轮换，在监督下完成一次完整移动：</a:t>
            </a:r>
          </a:p>
          <a:p>
            <a:pPr algn="l">
              <a:lnSpc>
                <a:spcPct val="112000"/>
              </a:lnSpc>
            </a:pPr>
            <a:r>
              <a:rPr sz="1300" b="0" a:ea="Microsoft YaHei" a:cs="Microsoft YaHei">
                <a:solidFill>
                  <a:srgbClr val="1F2937"/>
                </a:solidFill>
                <a:latin typeface="Microsoft YaHei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300" b="0" a:ea="Microsoft YaHei" a:cs="Microsoft YaHei">
                <a:solidFill>
                  <a:srgbClr val="1F2937"/>
                </a:solidFill>
                <a:latin typeface="Microsoft YaHei"/>
              </a:rPr>
              <a:t>· 每组：prepare → 确认 → 前进 → 后退 → 左转 → 右转 → 停止收尾</a:t>
            </a:r>
          </a:p>
          <a:p>
            <a:pPr algn="l">
              <a:lnSpc>
                <a:spcPct val="112000"/>
              </a:lnSpc>
            </a:pPr>
            <a:r>
              <a:rPr sz="1300" b="0" a:ea="Microsoft YaHei" a:cs="Microsoft YaHei">
                <a:solidFill>
                  <a:srgbClr val="1F2937"/>
                </a:solidFill>
                <a:latin typeface="Microsoft YaHei"/>
              </a:rPr>
              <a:t>· 每组指定 1 名安全员，全程盯守</a:t>
            </a:r>
          </a:p>
          <a:p>
            <a:pPr algn="l">
              <a:lnSpc>
                <a:spcPct val="112000"/>
              </a:lnSpc>
            </a:pPr>
            <a:r>
              <a:rPr sz="1300" b="0" a:ea="Microsoft YaHei" a:cs="Microsoft YaHei">
                <a:solidFill>
                  <a:srgbClr val="1F2937"/>
                </a:solidFill>
                <a:latin typeface="Microsoft YaHei"/>
              </a:rPr>
              <a:t>· 教师先完整示范一遍，再放手让学生操作</a:t>
            </a:r>
          </a:p>
          <a:p>
            <a:pPr algn="l">
              <a:lnSpc>
                <a:spcPct val="112000"/>
              </a:lnSpc>
            </a:pPr>
            <a:r>
              <a:rPr sz="1300" b="0" a:ea="Microsoft YaHei" a:cs="Microsoft YaHei">
                <a:solidFill>
                  <a:srgbClr val="1F2937"/>
                </a:solidFill>
                <a:latin typeface="Microsoft YaHei"/>
              </a:rPr>
              <a:t>· 每个方向运行约 2 秒后归零；操作前确认周围空旷、站位安全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100" b="0" a:ea="Microsoft YaHei" a:cs="Microsoft YaHei">
                <a:solidFill>
                  <a:srgbClr val="606A78"/>
                </a:solidFill>
                <a:latin typeface="Microsoft YaHei"/>
              </a:rPr>
              <a:t>24 / 26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2295144" cy="43891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第四部分 · 拓展与评价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200" b="1" a:ea="Microsoft YaHei" a:cs="Microsoft YaHei">
                <a:solidFill>
                  <a:srgbClr val="1F2937"/>
                </a:solidFill>
                <a:latin typeface="Microsoft YaHei"/>
              </a:rPr>
              <a:t>本课小结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800" b="0" a:ea="Microsoft YaHei" a:cs="Microsoft YaHei">
                <a:solidFill>
                  <a:srgbClr val="606A78"/>
                </a:solidFill>
                <a:latin typeface="Microsoft YaHei"/>
              </a:rPr>
              <a:t>—— 带走三件东西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560320"/>
            <a:ext cx="3291840" cy="2743200"/>
          </a:xfrm>
          <a:prstGeom prst="roundRect">
            <a:avLst/>
          </a:prstGeom>
          <a:solidFill>
            <a:srgbClr val="F0F4FC"/>
          </a:solidFill>
          <a:ln w="12700">
            <a:solidFill>
              <a:srgbClr val="F0F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>① 自身坐标系</a:t>
            </a:r>
          </a:p>
          <a:p>
            <a:pPr algn="ctr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/>
            </a:r>
          </a:p>
          <a:p>
            <a:pPr algn="ctr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>x 前 · y 左 · yaw 左转</a:t>
            </a:r>
          </a:p>
          <a:p>
            <a:pPr algn="ctr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/>
            </a:r>
          </a:p>
          <a:p>
            <a:pPr algn="ctr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>机器人朝向变了，</a:t>
            </a:r>
          </a:p>
          <a:p>
            <a:pPr algn="ctr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>“前”也跟着变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2560320"/>
            <a:ext cx="3291840" cy="2743200"/>
          </a:xfrm>
          <a:prstGeom prst="roundRect">
            <a:avLst/>
          </a:prstGeom>
          <a:solidFill>
            <a:srgbClr val="F0F4FC"/>
          </a:solidFill>
          <a:ln w="12700">
            <a:solidFill>
              <a:srgbClr val="F0F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>② set_velocity 三参数</a:t>
            </a:r>
          </a:p>
          <a:p>
            <a:pPr algn="ctr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/>
            </a:r>
          </a:p>
          <a:p>
            <a:pPr algn="ctr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>vx 前后 · vy 左右</a:t>
            </a:r>
          </a:p>
          <a:p>
            <a:pPr algn="ctr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>vyaw 转向</a:t>
            </a:r>
          </a:p>
          <a:p>
            <a:pPr algn="ctr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/>
            </a:r>
          </a:p>
          <a:p>
            <a:pPr algn="ctr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>正方向约定要记牢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560320"/>
            <a:ext cx="3291840" cy="2743200"/>
          </a:xfrm>
          <a:prstGeom prst="roundRect">
            <a:avLst/>
          </a:prstGeom>
          <a:solidFill>
            <a:srgbClr val="F0F4FC"/>
          </a:solidFill>
          <a:ln w="12700">
            <a:solidFill>
              <a:srgbClr val="F0F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>③ 开环与偏差</a:t>
            </a:r>
          </a:p>
          <a:p>
            <a:pPr algn="ctr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/>
            </a:r>
          </a:p>
          <a:p>
            <a:pPr algn="ctr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>发指令、测偏差、做记录</a:t>
            </a:r>
          </a:p>
          <a:p>
            <a:pPr algn="ctr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/>
            </a:r>
          </a:p>
          <a:p>
            <a:pPr algn="ctr">
              <a:lnSpc>
                <a:spcPct val="112000"/>
              </a:lnSpc>
            </a:pPr>
            <a:r>
              <a:rPr sz="1600" b="0" a:ea="Microsoft YaHei" a:cs="Microsoft YaHei">
                <a:solidFill>
                  <a:srgbClr val="1F2937"/>
                </a:solidFill>
                <a:latin typeface="Microsoft YaHei"/>
              </a:rPr>
              <a:t>偏差 = 实际 − 预期（A05）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100" b="0" a:ea="Microsoft YaHei" a:cs="Microsoft YaHei">
                <a:solidFill>
                  <a:srgbClr val="606A78"/>
                </a:solidFill>
                <a:latin typeface="Microsoft YaHei"/>
              </a:rPr>
              <a:t>25 / 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2295144" cy="43891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300" b="1" a:ea="Microsoft YaHei" a:cs="Microsoft YaHei">
                <a:solidFill>
                  <a:srgbClr val="FFFFFF"/>
                </a:solidFill>
                <a:latin typeface="Microsoft YaHei"/>
              </a:rPr>
              <a:t>第四部分 · 拓展与评价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3200" b="1" a:ea="Microsoft YaHei" a:cs="Microsoft YaHei">
                <a:solidFill>
                  <a:srgbClr val="1F2937"/>
                </a:solidFill>
                <a:latin typeface="Microsoft YaHei"/>
              </a:rPr>
              <a:t>学习评价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800" b="0" a:ea="Microsoft YaHei" a:cs="Microsoft YaHei">
                <a:solidFill>
                  <a:srgbClr val="606A78"/>
                </a:solidFill>
                <a:latin typeface="Microsoft YaHei"/>
              </a:rPr>
              <a:t>—— 测一测，带得走多少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105156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12000"/>
              </a:lnSpc>
            </a:pPr>
            <a:r>
              <a:rPr sz="1600" b="1" a:ea="Microsoft YaHei" a:cs="Microsoft YaHei">
                <a:solidFill>
                  <a:srgbClr val="1F2937"/>
                </a:solidFill>
                <a:latin typeface="Microsoft YaHei"/>
              </a:rPr>
              <a:t>带走三件东西：① 自身坐标系　② 三参数与方向　③ 开环与偏差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834640"/>
            <a:ext cx="10515600" cy="54864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</a:pPr>
            <a:r>
              <a:rPr sz="1500" b="1" a:ea="Microsoft YaHei" a:cs="Microsoft YaHei">
                <a:solidFill>
                  <a:srgbClr val="FFFFFF"/>
                </a:solidFill>
                <a:latin typeface="Microsoft YaHei"/>
              </a:rPr>
              <a:t>学习评价（与实训手册一致）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611880"/>
            <a:ext cx="10332720" cy="2743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300" b="0" a:ea="Microsoft YaHei" a:cs="Microsoft YaHei">
                <a:solidFill>
                  <a:srgbClr val="1F2937"/>
                </a:solidFill>
                <a:latin typeface="Microsoft YaHei"/>
              </a:rPr>
              <a:t>• 判断：发送速度指令前，必须先让 K1 进入 walk 模式，且在 prepare 下已 STAND 直立站稳。（　）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0" a:ea="Microsoft YaHei" a:cs="Microsoft YaHei">
                <a:solidFill>
                  <a:srgbClr val="1F2937"/>
                </a:solidFill>
                <a:latin typeface="Microsoft YaHei"/>
              </a:rPr>
              <a:t>• 填空：set_velocity(vx, vy, vyaw) 中，vx 取正值表示 ______，vyaw 取正值表示 ______。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0" a:ea="Microsoft YaHei" a:cs="Microsoft YaHei">
                <a:solidFill>
                  <a:srgbClr val="1F2937"/>
                </a:solidFill>
                <a:latin typeface="Microsoft YaHei"/>
              </a:rPr>
              <a:t>• 选择：本实验属于开环控制，下列对“开环”的描述正确的是（　）。A. 发出指令后持续读取实际位置并自动修正误差　B. 发出指令后不读取实际结果，也不自动纠正偏差　C. 必须保持电路闭合才能运动　D. 机器人只能走直线，不能转向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0" a:ea="Microsoft YaHei" a:cs="Microsoft YaHei">
                <a:solidFill>
                  <a:srgbClr val="1F2937"/>
                </a:solidFill>
                <a:latin typeface="Microsoft YaHei"/>
              </a:rPr>
              <a:t>• 选择：停止运动并收尾时，下列顺序安全且正确的是（　）。A. walk 直接切 damping　B. 直接关闭电源　C. set_velocity(0,0,0) → prepare → 坐下/趴好 → damping　D. 先切 damping，再把速度归零</a:t>
            </a:r>
          </a:p>
        </p:txBody>
      </p:sp>
      <p:sp>
        <p:nvSpPr>
          <p:cNvPr id="9" name="Rectangle 8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r">
              <a:lnSpc>
                <a:spcPct val="112000"/>
              </a:lnSpc>
            </a:pPr>
            <a:r>
              <a:rPr sz="1100" b="0" a:ea="Microsoft YaHei" a:cs="Microsoft YaHei">
                <a:solidFill>
                  <a:srgbClr val="606A78"/>
                </a:solidFill>
                <a:latin typeface="Microsoft YaHei"/>
              </a:rPr>
              <a:t>26 / 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