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图像来源：知识库基础课程 L1_图像源文件/k1-摄像头.png；原素材台账记为公司自有 K1 局部图。公开分发授权范围待核；仅等比缩放。</a:t>
            </a:r>
          </a:p>
          <a:p>
            <a:r>
              <a:t>内容定位：U3-L1_机器人的眼睛_PPT内容大纲.md 第1页；Notebook：U3-L1_机器人的眼睛.ipynb。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第2页。</a:t>
            </a:r>
          </a:p>
          <a:p>
            <a:r>
              <a:t>内容定位：U3-L1_机器人的眼睛_PPT内容大纲.md 第2页；Notebook：U3-L1_机器人的眼睛.ipynb。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第3页；图形为原生可编辑示意，不代表实测或真机画面。</a:t>
            </a:r>
          </a:p>
          <a:p>
            <a:r>
              <a:t>内容定位：U3-L1_机器人的眼睛_PPT内容大纲.md 第3页；Notebook：U3-L1_机器人的眼睛.ipynb。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第4页；图形为原生可编辑示意，不代表实测或真机画面。</a:t>
            </a:r>
          </a:p>
          <a:p>
            <a:r>
              <a:t>内容定位：U3-L1_机器人的眼睛_PPT内容大纲.md 第4页；Notebook：U3-L1_机器人的眼睛.ipynb。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第5页；图形为原生可编辑示意，不代表实测或真机画面。</a:t>
            </a:r>
          </a:p>
          <a:p>
            <a:r>
              <a:t>内容定位：U3-L1_机器人的眼睛_PPT内容大纲.md 第5页；Notebook：U3-L1_机器人的眼睛.ipynb。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第6页；图形为原生可编辑示意，不代表实测或真机画面。</a:t>
            </a:r>
          </a:p>
          <a:p>
            <a:r>
              <a:t>内容定位：U3-L1_机器人的眼睛_PPT内容大纲.md 第6页；Notebook：U3-L1_机器人的眼睛.ipynb。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第7页；图形为原生可编辑示意，不代表实测或真机画面。</a:t>
            </a:r>
          </a:p>
          <a:p>
            <a:r>
              <a:t>内容定位：U3-L1_机器人的眼睛_PPT内容大纲.md 第7页；Notebook：U3-L1_机器人的眼睛.ipynb。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第8页；图形为原生可编辑示意，不代表实测或真机画面。</a:t>
            </a:r>
          </a:p>
          <a:p>
            <a:r>
              <a:t>内容定位：U3-L1_机器人的眼睛_PPT内容大纲.md 第8页；Notebook：U3-L1_机器人的眼睛.ipynb。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第9页；代码逐行摘自 Notebook 对应单元。当前页未展示运行输出。</a:t>
            </a:r>
          </a:p>
          <a:p>
            <a:r>
              <a:t>内容定位：U3-L1_机器人的眼睛_PPT内容大纲.md 第9页；Notebook：U3-L1_机器人的眼睛.ipynb。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第10页；代码逐行摘自 Notebook 对应单元。当前页未展示运行输出。</a:t>
            </a:r>
          </a:p>
          <a:p>
            <a:r>
              <a:t>内容定位：U3-L1_机器人的眼睛_PPT内容大纲.md 第10页；Notebook：U3-L1_机器人的眼睛.ipynb。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第11页；图形为原生可编辑示意，不代表实测或真机画面。</a:t>
            </a:r>
          </a:p>
          <a:p>
            <a:r>
              <a:t>内容定位：U3-L1_机器人的眼睛_PPT内容大纲.md 第11页；Notebook：U3-L1_机器人的眼睛.ipynb。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第12页；代码逐行摘自 Notebook 对应单元。当前页未展示运行输出。</a:t>
            </a:r>
          </a:p>
          <a:p>
            <a:r>
              <a:t>内容定位：U3-L1_机器人的眼睛_PPT内容大纲.md 第12页；Notebook：U3-L1_机器人的眼睛.ipynb。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第13页；图中公式与调用用于说明代码关系。Notebook 原文摘录：</a:t>
            </a:r>
          </a:p>
          <a:p>
            <a:r>
              <a:t>arr = img.to_numpy()</a:t>
            </a:r>
          </a:p>
          <a:p>
            <a:r>
              <a:t>print("数组形状（高, 宽, 通道）：", arr.shape)</a:t>
            </a:r>
          </a:p>
          <a:p>
            <a:r>
              <a:t>print("数据类型：", arr.dtype)</a:t>
            </a:r>
          </a:p>
          <a:p>
            <a:r>
              <a:t>...</a:t>
            </a:r>
          </a:p>
          <a:p>
            <a:r>
              <a:t>h, w = arr.shape[0], arr.shape[1]</a:t>
            </a:r>
          </a:p>
          <a:p>
            <a:r>
              <a:t>cy, cx = h // 2, w // 2</a:t>
            </a:r>
          </a:p>
          <a:p>
            <a:r>
              <a:t>print("画面中心的像素值：", arr[cy, cx])</a:t>
            </a:r>
          </a:p>
          <a:p>
            <a:r>
              <a:t>内容定位：U3-L1_机器人的眼睛_PPT内容大纲.md 第13页；Notebook：U3-L1_机器人的眼睛.ipynb。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第14页；图形为原生可编辑示意，不代表实测或真机画面。</a:t>
            </a:r>
          </a:p>
          <a:p>
            <a:r>
              <a:t>内容定位：U3-L1_机器人的眼睛_PPT内容大纲.md 第14页；Notebook：U3-L1_机器人的眼睛.ipynb。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第15页。</a:t>
            </a:r>
          </a:p>
          <a:p>
            <a:r>
              <a:t>内容定位：U3-L1_机器人的眼睛_PPT内容大纲.md 第15页；Notebook：U3-L1_机器人的眼睛.ipynb。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第16页；图形为原生可编辑示意，不代表实测或真机画面。</a:t>
            </a:r>
          </a:p>
          <a:p>
            <a:r>
              <a:t>内容定位：U3-L1_机器人的眼睛_PPT内容大纲.md 第16页；Notebook：U3-L1_机器人的眼睛.ipynb。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第17页；代码逐行摘自 Notebook 对应单元。当前页未展示运行输出。</a:t>
            </a:r>
          </a:p>
          <a:p>
            <a:r>
              <a:t>内容定位：U3-L1_机器人的眼睛_PPT内容大纲.md 第17页；Notebook：U3-L1_机器人的眼睛.ipynb。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第18页；代码逐行摘自 Notebook 对应单元。当前页未展示运行输出。</a:t>
            </a:r>
          </a:p>
          <a:p>
            <a:r>
              <a:t>内容定位：U3-L1_机器人的眼睛_PPT内容大纲.md 第18页；Notebook：U3-L1_机器人的眼睛.ipynb。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第19页；图形为原生可编辑示意，不代表实测或真机画面。</a:t>
            </a:r>
          </a:p>
          <a:p>
            <a:r>
              <a:t>内容定位：U3-L1_机器人的眼睛_PPT内容大纲.md 第19页；Notebook：U3-L1_机器人的眼睛.ipynb。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第20页；代码逐行摘自 Notebook 对应单元。当前页未展示运行输出。</a:t>
            </a:r>
          </a:p>
          <a:p>
            <a:r>
              <a:t>内容定位：U3-L1_机器人的眼睛_PPT内容大纲.md 第20页；Notebook：U3-L1_机器人的眼睛.ipynb。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第21页；图形为原生可编辑示意，不代表实测或真机画面。</a:t>
            </a:r>
          </a:p>
          <a:p>
            <a:r>
              <a:t>内容定位：U3-L1_机器人的眼睛_PPT内容大纲.md 第21页；Notebook：U3-L1_机器人的眼睛.ipynb。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第22页；代码逐行摘自 Notebook 对应单元。当前页未展示运行输出。</a:t>
            </a:r>
          </a:p>
          <a:p>
            <a:r>
              <a:t>内容定位：U3-L1_机器人的眼睛_PPT内容大纲.md 第22页；Notebook：U3-L1_机器人的眼睛.ipynb。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第23页；代码逐行摘自 Notebook 对应单元。当前页未展示运行输出。</a:t>
            </a:r>
          </a:p>
          <a:p>
            <a:r>
              <a:t>内容定位：U3-L1_机器人的眼睛_PPT内容大纲.md 第23页；Notebook：U3-L1_机器人的眼睛.ipynb。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U3-L1_机器人的眼睛_PPT内容大纲.md 第24页；代码逐行摘自 Notebook 对应单元。当前页未展示运行输出。</a:t>
            </a:r>
          </a:p>
          <a:p>
            <a:r>
              <a:t>内容定位：U3-L1_机器人的眼睛_PPT内容大纲.md 第24页；Notebook：U3-L1_机器人的眼睛.ipynb。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第25页。 现场输出/实测素材待补，当前为审查版。</a:t>
            </a:r>
          </a:p>
          <a:p>
            <a:r>
              <a:t>内容定位：U3-L1_机器人的眼睛_PPT内容大纲.md 第25页；Notebook：U3-L1_机器人的眼睛.ipynb。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第26页。</a:t>
            </a:r>
          </a:p>
          <a:p>
            <a:r>
              <a:t>内容定位：U3-L1_机器人的眼睛_PPT内容大纲.md 第26页；Notebook：U3-L1_机器人的眼睛.ipynb。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内容定位：U3-L1_机器人的眼睛_PPT内容大纲.md 第27页；Notebook：U3-L1_机器人的眼睛.ipynb。</a:t>
            </a:r>
          </a:p>
          <a:p>
            <a:r>
              <a:t>参考答案（教师留存，导出学生 PDF 时移除）：</a:t>
            </a:r>
          </a:p>
          <a:p>
            <a:r>
              <a:t>&gt; 1. √。2. ×，格式转换不能恢复已丢失的色彩细节。3. 以本机实测为准，课程设备此前为 544；448；`nv12`；`bgr8`；N/T。4.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内容定位：U3-L1_机器人的眼睛_PPT内容大纲.md 第28页；Notebook：U3-L1_机器人的眼睛.ipynb。</a:t>
            </a:r>
          </a:p>
          <a:p>
            <a:r>
              <a:t>参考答案（教师留存，导出学生 PDF 时移除）：</a:t>
            </a:r>
          </a:p>
          <a:p>
            <a:r>
              <a:t>&gt; 1. √。2. ×，格式转换不能恢复已丢失的色彩细节。3. 以本机实测为准，课程设备此前为 544；448；`nv12`；`bgr8`；N/T。4.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P4: U3-L1_机器人的眼睛_PPT内容大纲.md · 第29页。</a:t>
            </a:r>
          </a:p>
          <a:p>
            <a:r>
              <a:t>内容定位：U3-L1_机器人的眼睛_PPT内容大纲.md 第29页；Notebook：U3-L1_机器人的眼睛.ipynb。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40080"/>
            <a:ext cx="2011680" cy="4206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04088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U3 · 机器视觉与目标识别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7406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</a:rPr>
              <a:t>机器人的眼睛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7498079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50" b="0">
                <a:solidFill>
                  <a:srgbClr val="6B7785"/>
                </a:solidFill>
                <a:latin typeface="Microsoft YaHei"/>
                <a:ea typeface="Microsoft YaHei"/>
              </a:rPr>
              <a:t>—— 从图像编码读到像素与深度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6309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U3 · 机器视觉与目标识别</a:t>
            </a:r>
          </a:p>
        </p:txBody>
      </p:sp>
      <p:pic>
        <p:nvPicPr>
          <p:cNvPr id="7" name="Picture 6" descr="k1-摄像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71600"/>
            <a:ext cx="2743200" cy="1959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340156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K1 头部相机位置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5672" y="4041648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98863" y="4041648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92055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85248" y="4041648"/>
            <a:ext cx="301752" cy="3017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78440" y="4041648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5672" y="4434840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8863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92055" y="4434840"/>
            <a:ext cx="301752" cy="30175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85248" y="4434840"/>
            <a:ext cx="30175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78440" y="4434840"/>
            <a:ext cx="301752" cy="30175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983480"/>
            <a:ext cx="292608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像素网格 · 概念示意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14173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本课任务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图像里记录了什么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解释表示方法，并用本机数据核对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图像由一组按行、列排列的数据组成。相机接收光线并形成电信号，经过数字化和图像处理后，得到可供程序读取的像素数据。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本课将比较位深、颜色通道和常见编码，并从机器人读取彩色图与深度图。实验记录以当前设备输出为准。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光线怎样形成图像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镜头、感光单元与图像处理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3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光线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镜头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1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3246120"/>
            <a:ext cx="14173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3337560"/>
            <a:ext cx="11978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感光单元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685031"/>
            <a:ext cx="11978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7212B"/>
                </a:solidFill>
                <a:latin typeface="Microsoft YaHei"/>
                <a:ea typeface="Microsoft YaHei"/>
              </a:rPr>
              <a:t>测量光变化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电信号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111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246120"/>
            <a:ext cx="1234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数字化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246120"/>
            <a:ext cx="14173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3337560"/>
            <a:ext cx="11978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图像处理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5751" y="3675887"/>
            <a:ext cx="237744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246120"/>
            <a:ext cx="123444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7" y="3337560"/>
            <a:ext cx="10149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0EA5A4"/>
                </a:solidFill>
                <a:latin typeface="Microsoft YaHei"/>
                <a:ea typeface="Microsoft YaHei"/>
              </a:rPr>
              <a:t>数字图像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09160"/>
            <a:ext cx="9875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硬件感光单元经过读出与处理，才形成数字图像中的像素。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像素是图像中的位置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像素值记录该位置的数据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数字图像网格（示意）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78892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78892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39" y="278892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39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78892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82549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33756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33756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39" y="3337560"/>
            <a:ext cx="525780" cy="5257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39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333756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337413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388620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88620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39" y="388620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39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79" y="388620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392277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443484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443484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39" y="4434840"/>
            <a:ext cx="5257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39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79" y="4434840"/>
            <a:ext cx="5257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4471416"/>
            <a:ext cx="51206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074920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宽 W = 4 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822191"/>
            <a:ext cx="256032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高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H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=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6B778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788920"/>
            <a:ext cx="28346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95928" y="2880360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像素位置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3227832"/>
            <a:ext cx="261518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第 2 行、第 3 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788920"/>
            <a:ext cx="342900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888" y="2880360"/>
            <a:ext cx="32095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0EA5A4"/>
                </a:solidFill>
                <a:latin typeface="Microsoft YaHei"/>
                <a:ea typeface="Microsoft YaHei"/>
              </a:rPr>
              <a:t>该位置像素值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3227832"/>
            <a:ext cx="320954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示意值 210；数值不是实测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160520"/>
            <a:ext cx="6217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感光单元属于成像硬件；像素是数字图像中的位置。处理、重采样后，两者不一一对应。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位深决定可表示的等级数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从两种状态到 256 级灰度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5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1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 种状态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8 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2⁸ = 256 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无符号灰度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0～255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1 byte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8 bit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154680"/>
            <a:ext cx="18288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24612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8 位灰度像素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593592"/>
            <a:ext cx="160934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1 byte / pixel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9601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等级数 = 2ⁿ；位深描述可编码的整数等级，不单独给出传感器精度。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彩色像素记录三个通道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RGB8 与 BGR8 都是每像素 3 字节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  <a:ea typeface="Microsoft YaHei"/>
              </a:rPr>
              <a:t>RGB8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063240"/>
            <a:ext cx="1143000" cy="77724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R=24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63240"/>
            <a:ext cx="1143000" cy="777240"/>
          </a:xfrm>
          <a:prstGeom prst="rect">
            <a:avLst/>
          </a:prstGeom>
          <a:solidFill>
            <a:srgbClr val="22A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G=132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063240"/>
            <a:ext cx="1143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B=210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7212B"/>
                </a:solidFill>
                <a:latin typeface="Microsoft YaHei"/>
                <a:ea typeface="Microsoft YaHei"/>
              </a:rPr>
              <a:t>R → G →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2628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3 × 8 bit = 3 byte /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60320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0EA5A4"/>
                </a:solidFill>
                <a:latin typeface="Microsoft YaHei"/>
                <a:ea typeface="Microsoft YaHei"/>
              </a:rPr>
              <a:t>BGR8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63240"/>
            <a:ext cx="1143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B=210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063240"/>
            <a:ext cx="1143000" cy="777240"/>
          </a:xfrm>
          <a:prstGeom prst="rect">
            <a:avLst/>
          </a:prstGeom>
          <a:solidFill>
            <a:srgbClr val="22A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G=132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3063240"/>
            <a:ext cx="1143000" cy="77724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273552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R=24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06908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7212B"/>
                </a:solidFill>
                <a:latin typeface="Microsoft YaHei"/>
                <a:ea typeface="Microsoft YaHei"/>
              </a:rPr>
              <a:t>B → G →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2628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3 × 8 bit = 3 byte / pixel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9601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通道顺序不同；通道数不等于硬件感光单元数。示例数值为示意。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连续图像需要多少数据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按尺寸、每像素字节数与帧率估算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7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51760"/>
            <a:ext cx="1014984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43200"/>
            <a:ext cx="98572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EA5A4"/>
                </a:solidFill>
                <a:latin typeface="Microsoft YaHei"/>
                <a:ea typeface="Microsoft YaHei"/>
              </a:rPr>
              <a:t>544 × 448 × 3 = 731,136 byte ≈ 0.73 MB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794760"/>
            <a:ext cx="1014984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886200"/>
            <a:ext cx="98572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EA5A4"/>
                </a:solidFill>
                <a:latin typeface="Microsoft YaHei"/>
                <a:ea typeface="Microsoft YaHei"/>
              </a:rPr>
              <a:t>0.731 MB/frame × 20 frame/s ≈ 14.6 MB/s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仅计像素数据；MB 按 10⁶ byte 计算，未计传输协议与其他负载。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NV12 减少色度采样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2×2 区域共用一组 U、V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NV12：2×2 亮度采样格（示意）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9260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29260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31089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8404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3840480"/>
            <a:ext cx="9144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402336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926080"/>
            <a:ext cx="12801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3017520"/>
            <a:ext cx="1060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0EA5A4"/>
                </a:solidFill>
                <a:latin typeface="Microsoft YaHei"/>
                <a:ea typeface="Microsoft YaHei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3364992"/>
            <a:ext cx="1060704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共享色度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926080"/>
            <a:ext cx="12801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3017520"/>
            <a:ext cx="1060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0EA5A4"/>
                </a:solidFill>
                <a:latin typeface="Microsoft YaHei"/>
                <a:ea typeface="Microsoft YaHe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364992"/>
            <a:ext cx="1060704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共享色度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526280"/>
            <a:ext cx="3657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4617720"/>
            <a:ext cx="3364992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4Y + 1U + 1V = 6 byte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6 byte / (2×2)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= 1.5 byte/pixel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96128"/>
            <a:ext cx="3657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色度采样减少会损失颜色细节；与 JPEG 编码不同。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331720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148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第一部分 · 光与数字图像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查本机相机话题的编码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用命令读取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9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574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336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!ros2 topic echo --once --field encoding /boostercamera/head/rgb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336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409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执行彩色话题查询并记录实际输出。安全提示：机器人安全支撑，只读数据。历史设备为 nv12，以本机为准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 SDK 取一帧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连接后读取图像编码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527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from boosteros.robots.booster import BoosterRobot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robot = BoosterRobot()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img = robot.get_image()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print("像素编码：", img.encoding)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288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361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BoosterRobot()→get_image()→.encoding；与话题通路对照。两次读取不保证同一时刻同一帧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转成 BGR8 后发生了什么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表示改变，抽样细节无法恢复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0116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话题图像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本机曾读到 NV12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43200"/>
            <a:ext cx="20116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0EA5A4"/>
                </a:solidFill>
                <a:latin typeface="Microsoft YaHei"/>
                <a:ea typeface="Microsoft YaHei"/>
              </a:rPr>
              <a:t>格式转换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NV12 → BGR8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0116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SDK 图像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本机曾读到 BGR8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172968"/>
            <a:ext cx="731520" cy="228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3172968"/>
            <a:ext cx="731520" cy="228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9875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7212B"/>
                </a:solidFill>
                <a:latin typeface="Microsoft YaHei"/>
                <a:ea typeface="Microsoft YaHei"/>
              </a:rPr>
              <a:t>示意依据：历史设备记录；本机编码仍须现场读取。转换改变通道表示和占用，不会恢复已丢失的色彩细节。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图像对象带有尺寸和时间戳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重新取图，再比较属性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955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717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img = robot.get_image()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print("画面尺寸：", img.width, "×", img.height)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print("时间戳：", round(img.header.timestamp, 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717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790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width、height、encoding、header.timestamp；重新运行取图格比较时间戳。只打印旧对象不会更新图像；时间戳变化不足以证明无延迟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数组先行后列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坐标 (x,y)，索引 [y,x]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6576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shape = (H, W, 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880360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3936" y="2880360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3936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880360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880360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916936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419856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3936" y="3419856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3419856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210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419856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8" y="3456432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3959352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936" y="3959352"/>
            <a:ext cx="516635" cy="51663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3936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959352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3432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52928" y="3959352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2928" y="3995928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4498848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3936" y="4498848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73936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498848"/>
            <a:ext cx="516635" cy="516635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3432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498848"/>
            <a:ext cx="516635" cy="516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2928" y="4535424"/>
            <a:ext cx="50291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网格为示意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(x,y)=(1,2) → arr[2,1]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2468880"/>
            <a:ext cx="690372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9392" y="2633472"/>
            <a:ext cx="6565392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arr = img.to_numpy()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print("数组形状（高, 宽, 通道）：", arr.shape)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print("数据类型：", arr.dtype)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h, w = arr.shape[0], arr.shape[1]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cy, cx = h // 2, w // 2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print("画面中心的像素值：", arr[cy, cx])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257800"/>
            <a:ext cx="6766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</a:rPr>
              <a:t>中心按实际尺寸计算；类型与像素值以本机为准。BGR 数值按蓝、绿、红解释。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常见编码怎样比较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表示方式、占用与用途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149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编码 / 通道或位深 / 平均 byte·pixel⁻¹ / 常见用途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71800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2666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nv12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02666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Y + 共享 UV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026664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026664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相机/视频输出与传输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456432"/>
            <a:ext cx="10149840" cy="411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112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bgr8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11296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B、G、R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11296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511296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OpenCV 彩色数组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941064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959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rgb8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9592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R、G、B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995928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9592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PIL / Matplotlib 显示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425696"/>
            <a:ext cx="10149840" cy="411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59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mono8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80559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单通道 8 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80559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59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256 级灰度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910328"/>
            <a:ext cx="10149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6519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mono16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965192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单通道 16 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965192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965192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深度等单通道数值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32120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仅按像素负载估算；实际消息还含步长、对齐等开销。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798064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第二部分 · SDK 图像与数组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使用图像前核对颜色顺序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编码与接收工具要匹配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显示图像前要核对编码与显示工具的通道约定。把 BGR 数据按 RGB 解释，画面中的红、蓝可能互换；记录时同时写明编码和数组类型。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mono16 有 65536 个整数等级，但实际距离精度和有效范围还取决于传感器、噪声、标定及数值缩放。彩色图记录表填写：图像尺寸、encoding、dtype、像素坐标、像素值及通道解释。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深度图记录距离相关数值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单通道也可以表示距离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同一构造场景：彩色表示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411480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3060" y="3346704"/>
            <a:ext cx="1028700" cy="96560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3728923"/>
            <a:ext cx="946404" cy="583387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3060" y="2964484"/>
            <a:ext cx="10287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46704"/>
            <a:ext cx="946404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2803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构造示意；非统一测试图或模型输出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77440"/>
            <a:ext cx="4572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EA5A4"/>
                </a:solidFill>
                <a:latin typeface="Microsoft YaHei"/>
                <a:ea typeface="Microsoft YaHei"/>
              </a:rPr>
              <a:t>同一构造场景：深度显示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743200"/>
            <a:ext cx="4114800" cy="2011680"/>
          </a:xfrm>
          <a:prstGeom prst="rect">
            <a:avLst/>
          </a:prstGeom>
          <a:solidFill>
            <a:srgbClr val="303030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6540" y="3346704"/>
            <a:ext cx="1028700" cy="96560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3728923"/>
            <a:ext cx="946403" cy="583387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482803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灰度映射示意：近亮、远暗；非测量值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285232"/>
            <a:ext cx="731520" cy="228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59" y="5285232"/>
            <a:ext cx="731520" cy="2286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5285232"/>
            <a:ext cx="731520" cy="2286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285232"/>
            <a:ext cx="731520" cy="2286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55955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近 ← 本图显示约定 → 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2062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彩色记录颜色；深度为单通道数值。显示映射可变，此图不表示已配准的相机帧。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查看本机深度图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分别读取话题与 SDK 的编码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336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098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!ros2 topic echo --once --field encoding /boostercamera/head/depth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depth = robot.get_image(img_type="depth")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print("深度图尺寸：", depth.width, "×", depth.height)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print("深度图编码：", depth.encoding)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098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171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查询深度话题，get_image(img_type="depth") 打印尺寸与编码；历史两处均为 mono16。编码相同不证明 SDK 没有其他处理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按深度数组尺寸取中心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核对形状、类型和中心值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527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d_arr = depth.to_numpy()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print("数组形状：", d_arr.shape, "数据类型：", d_arr.dtype)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dh, dw = d_arr.shape[0], d_arr.shape[1]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dcy, dcx = dh // 2, dw // 2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print("画面中心点的深度值：", d_arr[dcy, dcx])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288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361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深度数组可能是 (H,W) 或 (H,W,1)；打印实际形状和类型，再取中心。彩色图与深度图尺寸分别核对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取点前确认目标对应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未确认配准时使用深度图中心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19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1609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相机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82112"/>
            <a:ext cx="160934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固定支撑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43200"/>
            <a:ext cx="20116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834640"/>
            <a:ext cx="17922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0EA5A4"/>
                </a:solidFill>
                <a:latin typeface="Microsoft YaHei"/>
                <a:ea typeface="Microsoft YaHei"/>
              </a:rPr>
              <a:t>目标平面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182112"/>
            <a:ext cx="179222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</a:rPr>
              <a:t>中央覆盖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80360"/>
            <a:ext cx="1143000" cy="822960"/>
          </a:xfrm>
          <a:prstGeom prst="rect">
            <a:avLst/>
          </a:prstGeom>
          <a:noFill/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深度图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5432" y="3246120"/>
            <a:ext cx="146304" cy="14630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17212B"/>
                </a:solidFill>
                <a:latin typeface="Microsoft YaHei"/>
                <a:ea typeface="Microsoft YaHei"/>
              </a:rPr>
              <a:t>中心点： (W//2, H//2)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01568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彩色坐标未确认配准时不可套用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617720"/>
            <a:ext cx="4572000" cy="228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0EA5A4"/>
                </a:solidFill>
                <a:latin typeface="Microsoft YaHei"/>
                <a:ea typeface="Microsoft YaHei"/>
              </a:rPr>
              <a:t>卷尺：相机到目标面；数值由学生现场填写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6B7785"/>
                </a:solidFill>
                <a:latin typeface="Microsoft YaHei"/>
                <a:ea typeface="Microsoft YaHei"/>
              </a:rPr>
              <a:t>点位示意；非真机画面或实测结果。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每换一个距离都重新取图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至少记录两组有效深度与卷尺值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20985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860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depth = robot.get_image(img_type="depth")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d_arr = depth.to_numpy()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dh, dw = d_arr.shape[:2]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target_x, target_y = dw // 2, dh // 2  # 默认读深度图中心；核对后可改为其他指定点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if 0 &lt;= target_x &lt; dw and 0 &lt;= target_y &lt; dh: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point = d_arr[target_y, target_x].item()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print("指定坐标：", (target_x, target_y), "深度值：", point)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else: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print("坐标超出深度图范围，请按实际宽高修改")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8600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9331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新深度帧→按实际宽高定点→边界检查→取值；同步填写坐标、深度、实测米数。0、明显跳变或背景读数先排查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487168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第三部分 · 深度与实测距离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用实测数据核对单位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比值用于推测，再查设备说明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组次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深度值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4336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卷尺距离（m）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4304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比值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272" y="2743200"/>
            <a:ext cx="187451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单位判断依据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4368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04304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337560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44368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04304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3941063"/>
            <a:ext cx="187451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7212B"/>
                </a:solidFill>
                <a:latin typeface="Microsoft YaHei"/>
                <a:ea typeface="Microsoft YaHei"/>
              </a:rPr>
              <a:t>用同次有效测量计算 深度值 ÷ 实测米数。比值接近 1000 可作为毫米单位的线索，仍须核对设备说明。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持续收图使用回调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内存暂存，短时观察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9080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670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saved = []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def on_image(image):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saved.append(image)          # 每来一帧，存进列表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if len(saved) % 30 == 0: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        print(f"已收到 {len(saved)} 帧")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sub = robot.subscribe_image(on_image)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669536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742688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saved=[]、回调追加、subscribe_image()；与单次 get_image() 比较。接下来连续完成计时和退订；暂停前先退订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接收速率由测量窗口计算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帧数差除以实际耗时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23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1717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14798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start_count = len(saved)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start_time = time.perf_counter()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time.sleep(3)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elapsed = time.perf_counter() - start_time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received = len(saved) - start_count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...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print("平均接收速率：", round(received / elapsed, 1), "帧/秒")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479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552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起止计数差 received；perf_counter() 实测 elapsed；received/elapsed。sleep(3) 不是精确三秒保证，手动切格时间不计入窗口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第四部分 · 订阅与计数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测量后立即退订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释放暂存图像，保留记录值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60320"/>
            <a:ext cx="10378440" cy="955547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9966960" cy="7178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sub.unsubscribe()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saved.clear()  # 释放本实验暂存的图像；received 中仍保留窗口帧数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Consolas"/>
                <a:ea typeface="Microsoft YaHei"/>
              </a:rPr>
              <a:t>print("已退订并清理暂存图像")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717035"/>
            <a:ext cx="10287000" cy="60350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790187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</a:rPr>
              <a:t>sub.unsubscribe()、saved.clear()；保留 received、elapsed 填表。接收速率受处理与转换影响，未必等于话题发布频率；没有生成图片文件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记录与解释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用记录检查实验是否完成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核对编码、坐标、深度和计数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10104120" cy="1060704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953719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逐项核对：①记录话题与 SDK 的彩色图编码，说明本机格式转换的作用及信息限制；②读取 width、height、encoding，重新取图后比较时间戳；③核对数组形状和类型，按 [y,x] 读取中心像素值。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593591"/>
            <a:ext cx="101041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5" y="3794759"/>
            <a:ext cx="10972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49039"/>
            <a:ext cx="953719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④记录深度编码与形状，区分中心点和另选的指定点；⑤至少两组有效深度与卷尺距离对照，结合设备说明核对单位，并区分位深、量程和精度；⑥记录订阅窗口实际时长、收到帧数及接收速率，完成退订和暂存清理。缺项标记待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17627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993391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记录与解释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怎样让图像数据成为可用信息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目标、距离与处理速度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10104120" cy="1060704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9537192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思考并结合本组记录回答：①彩色图与深度图分别提供什么信息？要把目标颜色与距离联系起来，还需确认哪些坐标对应关系？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593591"/>
            <a:ext cx="101041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5" y="3794759"/>
            <a:ext cx="109728" cy="9692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49039"/>
            <a:ext cx="953719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②NV12 转成 BGR8 后，通道数和数据量如何变化？哪些细节无法通过转换恢复？③输入为 20 帧/秒、程序串行处理每帧需 1 秒时，处理速度与输入速度有什么差距？队列可能怎样变化，系统可能怎样处理积压？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020824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学习评价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编码与距离数据怎样解释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独立完成判断与实测填空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267712"/>
            <a:ext cx="10287000" cy="886968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992124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1. 本机深度图用 mono16 表示，像素数据记录距离相关数值，单通道不等于灰度明暗。（    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282696"/>
            <a:ext cx="10287000" cy="886968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392424"/>
            <a:ext cx="992124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2. 仅把 NV12 转为 BGR8，就能恢复色度抽样前的全部颜色细节。（    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297679"/>
            <a:ext cx="10287000" cy="1170431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07407"/>
            <a:ext cx="9921240" cy="9875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3. 本机彩色图实测尺寸是 ______ × ______，话题编码是 ______，SDK 编码是 ______。订阅测量窗口内收到 N 帧，实测耗时 T 秒，平均接收速率为 ______ 帧/秒。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2020824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第五部分 · 学习评价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位深能说明什么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在相同单位与缩放下比较范围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267712"/>
            <a:ext cx="10287000" cy="2020824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9921240" cy="18379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4. 关于 mono16 与 mono8，正确的是（    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A. 在相同单位与缩放规则下，16 位无符号整数可表示的数值范围更大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B. 16 位传感器的物理测量精度一定是 8 位的 256 倍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C. 8 位数值无论采用什么单位都不能表示十米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</a:rPr>
              <a:t>   D. 单通道图像只能记录明暗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65760"/>
            <a:ext cx="141732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课后可选阅读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</a:rPr>
              <a:t>视觉应用与图像转换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</a:rPr>
              <a:t>—— 用 Notebook 两篇阅读补充调试认识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825" b="0">
                <a:solidFill>
                  <a:srgbClr val="6B7785"/>
                </a:solidFill>
                <a:latin typeface="Microsoft YaHei"/>
                <a:ea typeface="Microsoft YaHei"/>
              </a:rPr>
              <a:t>29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5" y="2532888"/>
            <a:ext cx="10972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7212B"/>
                </a:solidFill>
                <a:latin typeface="Microsoft YaHei"/>
                <a:ea typeface="Microsoft YaHei"/>
              </a:rPr>
              <a:t>阅读入口：本课 Notebook“十、扩展阅读一：视觉能力在机器人里的用法”和“十一、扩展阅读二：图像格式转换的代价”。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2331720"/>
            <a:ext cx="4892040" cy="1682496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532888"/>
            <a:ext cx="10972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325112" cy="1426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>
                <a:solidFill>
                  <a:srgbClr val="17212B"/>
                </a:solidFill>
                <a:latin typeface="Microsoft YaHei"/>
                <a:ea typeface="Microsoft YaHei"/>
              </a:rPr>
              <a:t>阅读后回答：视觉应用集成与现场运维分别检查什么？硬件输出、ROS 消息与算法输入怎样衔接？OpenCV 和 cv_bridge 各有什么作用，哪些转换会增加处理时间或改变数据表示？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U3-L1_机器人的眼睛</dc:title>
  <dc:subject>P5审查版；页面内容依据已确认的P4大纲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