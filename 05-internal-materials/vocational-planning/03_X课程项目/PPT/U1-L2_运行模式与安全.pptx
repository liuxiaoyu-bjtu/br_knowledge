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12928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第二堂人形机器人课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4600" b="1" a:ea="Microsoft YaHei" a:cs="Microsoft YaHei">
                <a:solidFill>
                  <a:srgbClr val="1F2937"/>
                </a:solidFill>
                <a:latin typeface="Microsoft YaHei"/>
              </a:rPr>
              <a:t>运行模式与安全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200" b="0" a:ea="Microsoft YaHei" a:cs="Microsoft YaHei">
                <a:solidFill>
                  <a:srgbClr val="606A78"/>
                </a:solidFill>
                <a:latin typeface="Microsoft YaHei"/>
              </a:rPr>
              <a:t>—— 让 K1 安全地站起来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10515600" cy="15544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课程主视觉 / K1 四种姿态拼图 或 安全操作场景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课时 L2 · 主讲人：__________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9319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导学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一节课我们要带走什么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认识四种运行模式的物理含义与安全要点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用 SDK 查看并切换运行模式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掌握模式间的安全切换顺序，养成规范操作习惯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从“连上”到“动起来”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控制方式一样吗？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趴姿/站姿/行走 三态拼图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66928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回顾：上节课我们连上了 K1，读到了它的基本参数。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5669280" cy="16459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91440" cy="1645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712464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2563EB"/>
                </a:solidFill>
                <a:latin typeface="Microsoft YaHei"/>
              </a:rPr>
              <a:t>【想一想】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078224"/>
            <a:ext cx="5257800" cy="1170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机器人从趴着，到站起来、准备走——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底层的控制方式一样吗？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先猜一下，下面揭晓。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什么是运行模式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不同工作状态，不同控制策略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560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运行模式 = 机器人在某种工作状态下采用的整套控制策略。</a:t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趴着、站着、走着，关节的控制目标完全不同——这决定了它能不能动、怎么动、安不安全。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三种姿态对照（趴 / 站 / 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K1 的四种运行模式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damping / prepare / walk / custom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2103120"/>
                <a:gridCol w="201168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模式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能否运动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安全要点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damping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阻尼/软态，关节有阻尼但不支撑站立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开机默认状态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prepare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准备模式，维持站立就绪姿态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否（仅就绪）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行走前必须先到达此模式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walk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行走模式，靠动态平衡维持站立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是（需配合速度）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只能由已直立的 prepare 进入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custom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进阶自定义，需单独编程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取决于编程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未编程前比 damping 更软，本课不实操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四种模式含义、能否运动、安全要点一表总览；下面 4 页逐一展开。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模式一 · damping 阻尼软态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开机默认，关节软、不支撑站立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000" b="1" a:ea="Microsoft YaHei" a:cs="Microsoft YaHei">
                <a:solidFill>
                  <a:srgbClr val="2563EB"/>
                </a:solidFill>
                <a:latin typeface="Microsoft YaHei"/>
              </a:rPr>
              <a:t>damping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关节有阻尼但整体“软”，无法维持站立。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能否运动：否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5669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安全要点：开机默认状态；也是关机前的收尾状态。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趴姿实拍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模式二 · prepare 准备就绪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行走之前的必经状态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000" b="1" a:ea="Microsoft YaHei" a:cs="Microsoft YaHei">
                <a:solidFill>
                  <a:srgbClr val="2563EB"/>
                </a:solidFill>
                <a:latin typeface="Microsoft YaHei"/>
              </a:rPr>
              <a:t>prepare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维持站立就绪姿态，关节变硬但不主动运动。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能否运动：否（仅就绪）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5669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安全要点：进入 walk 前必须先到达此模式且已直立站稳。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直立站姿实拍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模式三 · walk 行走模式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靠动态平衡维持站立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000" b="1" a:ea="Microsoft YaHei" a:cs="Microsoft YaHei">
                <a:solidFill>
                  <a:srgbClr val="2563EB"/>
                </a:solidFill>
                <a:latin typeface="Microsoft YaHei"/>
              </a:rPr>
              <a:t>walk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机器人持续微调关节维持平衡，可配合速度指令行走。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能否运动：是（需配合速度）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5669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安全要点：只能由已直立的 prepare 进入。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行走中实拍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模式四 · custom 自定义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进阶模式，本课不实操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000" b="1" a:ea="Microsoft YaHei" a:cs="Microsoft YaHei">
                <a:solidFill>
                  <a:srgbClr val="2563EB"/>
                </a:solidFill>
                <a:latin typeface="Microsoft YaHei"/>
              </a:rPr>
              <a:t>custom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需自行编程实现控制逻辑；未编程前比 damping 更软。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能否运动：取决于编程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5669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安全要点：属进阶内容，本课时只作认识。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进阶编程示意图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机器人现在是什么模式？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从手动按钮到程序控制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机器人现在是什么模式？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从手动按钮到程序控制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手 / 代码 对比意象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手动切换 vs 程序切换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即时操作与流程自动化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6517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51960"/>
                <a:gridCol w="4251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手动切换（按钮/手柄）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程序切换（SDK）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适用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人在现场即时操作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按流程自动执行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特点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直观、响应快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可复现、可批量、可组合成任务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局限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每次都要人动手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需提前写好并验证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按钮/手柄适合人即时操作；程序适合按流程自动执行、可复现、可批量——这就是学机器人编程的意义。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用代码连接 K1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第一行：建立连接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from boosteros.robots.booster import BoosterRobot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 = BoosterRobot()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建立与 K1 的连接（对应 notebook 2.1）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第一行就建立连接：robot 即这台 K1，之后所有读/写都通过它。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读取当前运行模式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get_mode() 读出状态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87168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mode = robot.get_mode()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print(mode)   # 如 'damping' / 'prepare' / 'walk'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读出的字符串应和机器人实际姿态一致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get_mode() 读出当前模式字符串；对照机器人实际姿态验证。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观察记录任务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把“模式—姿态”对应记下来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1" a:ea="Microsoft YaHei" a:cs="Microsoft YaHei">
                <a:solidFill>
                  <a:srgbClr val="1F2937"/>
                </a:solidFill>
                <a:latin typeface="Microsoft YaHei"/>
              </a:rPr>
              <a:t>不写代码：观察 damping / prepare / walk 三种模式下的姿态、能否运动，填入实训手册 2.3 表格。同桌交叉核对后签字。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15600" cy="201168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91440" cy="2011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89534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2563EB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261104"/>
            <a:ext cx="1010412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观察记录要点：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三种模式下 K1 的姿态分别什么样？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哪些能运动、哪些不能？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把“模式—姿态”对应关系真正记牢，再进入下一步实操。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趴姿下切换模式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damping ↔ prepare 练手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趴姿最安全：即使切换失败也不会摔倒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   # 关节变硬，进入准备就绪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robot.set_mode("damping")   # 回到软态收尾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体会两种模式下关节硬度的不同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set_mode() 切换模式；趴姿下练，最安全，先建立“模式—姿态”的直观体感。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能切换了，是不是就能随便切？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模式之间有安全顺序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能切换了，是不是就能随便切？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模式之间有安全顺序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状态机剪影 虚化背景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运行模式状态机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哪些能切，哪些不能切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651760" cy="12801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damping</a:t>
            </a:r>
          </a:p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阻尼软态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743200"/>
            <a:ext cx="2651760" cy="12801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prepare</a:t>
            </a:r>
          </a:p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准备就绪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743200"/>
            <a:ext cx="2651760" cy="12801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walk</a:t>
            </a:r>
          </a:p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行走模式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063240"/>
            <a:ext cx="1371600" cy="6400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↔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可互切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063240"/>
            <a:ext cx="1371600" cy="6400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→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直立后进入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069080"/>
            <a:ext cx="1371600" cy="6400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←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安全停止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4069080"/>
            <a:ext cx="1371600" cy="6400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↓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坐下收尾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572000"/>
            <a:ext cx="3108960" cy="1005840"/>
          </a:xfrm>
          <a:prstGeom prst="roundRect">
            <a:avLst/>
          </a:prstGeom>
          <a:solidFill>
            <a:srgbClr val="FDE7E7"/>
          </a:solidFill>
          <a:ln w="1905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4617720"/>
            <a:ext cx="31089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E5484D"/>
                </a:solidFill>
                <a:latin typeface="Microsoft YaHei"/>
              </a:rPr>
              <a:t>✕ 严禁 walk → damping</a:t>
            </a:r>
          </a:p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E5484D"/>
                </a:solidFill>
                <a:latin typeface="Microsoft YaHei"/>
              </a:rPr>
              <a:t>站立动态平衡态直接切软态会瘫倒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允许路径：damping↔prepare、prepare→walk、walk→prepare；prepare→damping 收尾。严禁 walk→damping。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安全红线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严禁 walk → damping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67665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400" b="1" a:ea="Microsoft YaHei" a:cs="Microsoft YaHei">
                <a:solidFill>
                  <a:srgbClr val="E5484D"/>
                </a:solidFill>
                <a:latin typeface="Microsoft YaHei"/>
              </a:rPr>
              <a:t>严禁  walk  →  damping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676656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• 机器人瞬间瘫倒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• 可能伤及邻近人员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• 损坏物品与机器人本体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67665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E5484D"/>
                </a:solidFill>
                <a:latin typeface="Microsoft YaHei"/>
              </a:rPr>
              <a:t>正确做法：停止行走必须先回 prepare，确认坐下/趴好后再 damping。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103120"/>
            <a:ext cx="3657600" cy="36576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瘫倒后果警示示意（警示红点缀）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行走安全路径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四步时序，每步之间留人工窗口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① 进入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并手动拉起站稳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② 人工确认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直立·空旷·教师监督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③ 进入 walk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本实验不发速度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④ 安全停止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回 prepare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⑤ 坐下/趴好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后 damping 收尾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374904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937760" y="374904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223760" y="374904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509759" y="374904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274320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E5484D"/>
                </a:solidFill>
                <a:latin typeface="Microsoft YaHei"/>
              </a:rPr>
              <a:t>人工窗口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五步时序，每步之间留“人工窗口”：必须人工确认、人工操作，不可连续一键跑完。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步骤 1 · 进入准备模式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先站稳，再谈行走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步骤 1：进入准备模式（对应 notebook 4.2）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随后手动把机器人拉起到 STAND 直立站稳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先站稳，再谈行走：必须人工把机器人拉起、确认直立站稳，才能进入下一步。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步骤 2 · 确认后进入行走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人工确认窗口，不可跳过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人工确认后方可运行：直立站稳 · 周围空旷 · 教师监督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0515600" cy="12070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82296" cy="1207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80360"/>
            <a:ext cx="10515600" cy="12070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步骤 2：确认后进入行走（对应 notebook 4.2）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robot.set_mode("walk")   # 本实验不发速度，机器人原地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E5484D"/>
                </a:solidFill>
                <a:latin typeface="Microsoft YaHei"/>
              </a:rPr>
              <a:t>只有确认已直立站稳、周围空旷、教师在场，才运行此 cell；本实验不发速度。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步骤 3–4 · 安全停止与收尾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先回 prepare，再软态收尾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先回 prepare 安全停止，再软态收尾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82296" cy="18653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977640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8036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步骤 3：安全停止，回到准备模式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步骤 4：确认已坐下/趴好后，软态收尾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robot.set_mode("damping")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E5484D"/>
                </a:solidFill>
                <a:latin typeface="Microsoft YaHei"/>
              </a:rPr>
              <a:t>停止行走必须先回 prepare；确认已坐下/趴好，才切 damping 收尾，杜绝 walk→damping。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手柄手动遥控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不写代码，也能让它动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换控制方式，不换安全原则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不写代码，也能让它动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换控制方式，不换安全原则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手柄剪影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手柄手动遥控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用手柄操控 K1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按键布局与操作流程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操作目标：用手柄直接遥控 K1 完成准备 / 行走 / 停止。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前置：手柄与机器人配对、K1 已开机、站位在安全区。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关键步骤：先 prepare 直立 → 推摇杆行走 → 回 prepare 停止。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安全要点：安全顺序与程序控制完全一致，禁止 walk→damping。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手柄按键标注（左摇杆/右摇杆/模式键/急停）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5303520"/>
            <a:ext cx="47548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详细图示见附件《K1 手柄遥控操作图示》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手柄手动遥控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分组实操任务卡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在监督下完成一次完整操控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329184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91440" cy="3291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3408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2563EB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706624"/>
            <a:ext cx="10104120" cy="2816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分组轮换，在监督下完成一次完整操控：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每组：prepare → 直立站稳 → walk → 回 prepare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每组指定 1 名安全员，全程盯守，禁止 walk → damping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教师先完整示范一遍，再放手让学生操作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操作前确认周围空旷、站位安全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第五部分 · 小结与评价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本课小结与学习评价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带走三件东西，测一测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带走三件东西：① 四种模式　② 程序切换　③ 安全切换顺序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5486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学习评价（与实训手册一致）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66160"/>
            <a:ext cx="1033272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判断：walk 模式可以由 damping 直接切换进入。（　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填空：停止行走时，必须先回到 ________ 模式，再收尾到 damping。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选择：进入 walk 前，机器人必须处于（　）A. damping 软态　B. prepare 且已直立站稳　C. custom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