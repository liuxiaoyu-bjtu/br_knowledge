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36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知识库：05-internal-materials/vocational-planning/03_X课程项目/PPT内容设计/U1-L1_具身智能概览与连接K1_PPT内容大纲.md</a:t>
            </a:r>
          </a:p>
          <a:p>
            <a:r>
              <a:t>- 知识库：01-booster-kb/07-tech-platform/_tech-overview.md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知识库：05-internal-materials/vocational-planning/03_X课程项目/PPT内容设计/U1-L1_具身智能概览与连接K1_PPT内容大纲.md</a:t>
            </a:r>
          </a:p>
          <a:p>
            <a:r>
              <a:t>- 知识库：05-internal-materials/vocational-planning/03_X课程项目/教学设计/U1-L1_具身智能概览与连接K1_教学设计.md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知识库：05-internal-materials/vocational-planning/03_X课程项目/PPT内容设计/U1-L1_具身智能概览与连接K1_PPT内容大纲.md</a:t>
            </a:r>
          </a:p>
          <a:p>
            <a:r>
              <a:t>- 知识库：03-cross-reference/theory-to-product.md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知识库：05-internal-materials/vocational-planning/03_X课程项目/PPT内容设计/U1-L1_具身智能概览与连接K1_PPT内容大纲.md</a:t>
            </a:r>
          </a:p>
          <a:p>
            <a:r>
              <a:t>- 知识库：02-embodied-ai-edu/01-theory/what-is-embodied-ai-edu.md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知识库：05-internal-materials/vocational-planning/03_X课程项目/PPT内容设计/U1-L1_具身智能概览与连接K1_PPT内容大纲.md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知识库：05-internal-materials/vocational-planning/03_X课程项目/PPT内容设计/U1-L1_具身智能概览与连接K1_PPT内容大纲.md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知识库：05-internal-materials/vocational-planning/03_X课程项目/PPT内容设计/U1-L1_具身智能概览与连接K1_PPT内容大纲.md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知识库：05-internal-materials/vocational-planning/03_X课程项目/PPT内容设计/U1-L1_具身智能概览与连接K1_PPT内容大纲.md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知识库：05-internal-materials/vocational-planning/03_X课程项目/PPT内容设计/U1-L1_具身智能概览与连接K1_PPT内容大纲.md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知识库：05-internal-materials/vocational-planning/03_X课程项目/教学设计/U1-L1_具身智能概览与连接K1_教学设计.md</a:t>
            </a:r>
          </a:p>
          <a:p>
            <a:r>
              <a:t>- 知识库：05-internal-materials/vocational-planning/03_X课程项目/PPT内容设计/U1-L1_具身智能概览与连接K1_PPT内容大纲.md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知识库：05-internal-materials/vocational-planning/03_X课程项目/PPT内容设计/U1-L1_具身智能概览与连接K1_PPT内容大纲.md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知识库：05-internal-materials/vocational-planning/03_X课程项目/PPT内容设计/U1-L1_具身智能概览与连接K1_PPT内容大纲.md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知识库：05-internal-materials/vocational-planning/03_X课程项目/PPT内容设计/U1-L1_具身智能概览与连接K1_PPT内容大纲.md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知识库：05-internal-materials/vocational-planning/03_X课程项目/PPT内容设计/U1-L1_具身智能概览与连接K1_PPT内容大纲.md</a:t>
            </a:r>
          </a:p>
          <a:p>
            <a:r>
              <a:t>- 知识库：03-cross-reference/theory-to-product.md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知识库：05-internal-materials/vocational-planning/03_X课程项目/PPT内容设计/U1-L1_具身智能概览与连接K1_PPT内容大纲.md</a:t>
            </a:r>
          </a:p>
          <a:p>
            <a:r>
              <a:t>- 知识库：03-cross-reference/theory-to-product.md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知识库：05-internal-materials/vocational-planning/03_X课程项目/PPT内容设计/U1-L1_具身智能概览与连接K1_PPT内容大纲.md</a:t>
            </a:r>
          </a:p>
          <a:p>
            <a:r>
              <a:t>- 知识库：03-cross-reference/theory-to-product.md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知识库：05-internal-materials/vocational-planning/03_X课程项目/PPT内容设计/U1-L1_具身智能概览与连接K1_PPT内容大纲.md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知识库：05-internal-materials/vocational-planning/03_X课程项目/PPT内容设计/U1-L1_具身智能概览与连接K1_PPT内容大纲.md</a:t>
            </a:r>
          </a:p>
          <a:p>
            <a:r>
              <a:t>- 知识库：01-booster-kb/02-products/booster-k1.md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知识库：01-booster-kb/02-products/booster-k1.md</a:t>
            </a:r>
          </a:p>
          <a:p>
            <a:r>
              <a:t>- 知识库：05-internal-materials/vocational-planning/03_X课程项目/PPT内容设计/U1-L1_具身智能概览与连接K1_PPT内容大纲.md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知识库：05-internal-materials/vocational-planning/03_X课程项目/PPT内容设计/U1-L1_具身智能概览与连接K1_PPT内容大纲.md</a:t>
            </a:r>
          </a:p>
          <a:p>
            <a:r>
              <a:t>- 知识库：05-internal-materials/vocational-planning/03_X课程项目/notebooks/U1-L1_具身智能概览与连接K1.ipynb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知识库：01-booster-kb/07-tech-platform/booster-sdk.md</a:t>
            </a:r>
          </a:p>
          <a:p>
            <a:r>
              <a:t>- 知识库：05-internal-materials/vocational-planning/03_X课程项目/PPT内容设计/U1-L1_具身智能概览与连接K1_PPT内容大纲.md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知识库：01-booster-kb/07-tech-platform/booster-sdk.md</a:t>
            </a:r>
          </a:p>
          <a:p>
            <a:r>
              <a:t>- 知识库：05-internal-materials/vocational-planning/03_X课程项目/PPT内容设计/U1-L1_具身智能概览与连接K1_PPT内容大纲.md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知识库：05-internal-materials/vocational-planning/02_共创规则与上下文/notebook开发规则.md</a:t>
            </a:r>
          </a:p>
          <a:p>
            <a:r>
              <a:t>- 知识库：01-booster-kb/07-tech-platform/booster-studio.md</a:t>
            </a:r>
          </a:p>
          <a:p>
            <a:r>
              <a:t>- 知识库：05-internal-materials/vocational-planning/03_X课程项目/PPT内容设计/U1-L1_具身智能概览与连接K1_PPT内容大纲.md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知识库：01-booster-kb/07-tech-platform/booster-studio.md</a:t>
            </a:r>
          </a:p>
          <a:p>
            <a:r>
              <a:t>- 知识库：05-internal-materials/vocational-planning/03_X课程项目/PPT内容设计/U1-L1_具身智能概览与连接K1_PPT内容大纲.md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知识库：05-internal-materials/vocational-planning/03_X课程项目/教学设计/U1-L1_具身智能概览与连接K1_教学设计.md</a:t>
            </a:r>
          </a:p>
          <a:p>
            <a:r>
              <a:t>- 知识库：05-internal-materials/vocational-planning/03_X课程项目/PPT内容设计/U1-L1_具身智能概览与连接K1_PPT内容大纲.md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知识库：01-booster-kb/07-tech-platform/booster-sdk.md</a:t>
            </a:r>
          </a:p>
          <a:p>
            <a:r>
              <a:t>- 知识库：05-internal-materials/vocational-planning/03_X课程项目/notebooks/U1-L1_具身智能概览与连接K1.ipynb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知识库：01-booster-kb/07-tech-platform/booster-sdk.md</a:t>
            </a:r>
          </a:p>
          <a:p>
            <a:r>
              <a:t>- 知识库：05-internal-materials/vocational-planning/03_X课程项目/notebooks/U1-L1_具身智能概览与连接K1.ipynb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知识库：01-booster-kb/07-tech-platform/booster-sdk.md</a:t>
            </a:r>
          </a:p>
          <a:p>
            <a:r>
              <a:t>- 知识库：05-internal-materials/vocational-planning/03_X课程项目/notebooks/U1-L1_具身智能概览与连接K1.ipynb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知识库：01-booster-kb/07-tech-platform/booster-sdk.md</a:t>
            </a:r>
          </a:p>
          <a:p>
            <a:r>
              <a:t>- 知识库：05-internal-materials/vocational-planning/03_X课程项目/notebooks/U1-L1_具身智能概览与连接K1.ipynb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知识库：05-internal-materials/vocational-planning/03_X课程项目/PPT内容设计/U1-L1_具身智能概览与连接K1_PPT内容大纲.md</a:t>
            </a:r>
          </a:p>
          <a:p>
            <a:r>
              <a:t>- 知识库：05-internal-materials/vocational-planning/03_X课程项目/教学设计/U1-L1_具身智能概览与连接K1_教学设计.md</a:t>
            </a:r>
          </a:p>
          <a:p>
            <a:r>
              <a:t>- 知识库：05-internal-materials/vocational-planning/03_X课程项目/notebooks/U1-L1_具身智能概览与连接K1.ipynb</a:t>
            </a:r>
          </a:p>
          <a:p>
            <a:r>
              <a:t>- 答案：1. √；2. serial_number；3. B. id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44E0CE83-7CD3-4084-9B67-598DB841A728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809750" cy="3048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第一堂人形机器人课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EC08369-4D1E-4391-83EE-F86F64271A93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723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450" b="1">
                <a:solidFill>
                  <a:srgbClr val="17212B"/>
                </a:solidFill>
              </a:defRPr>
            </a:pPr>
            <a:r>
              <a:rPr sz="3450" b="1">
                <a:solidFill>
                  <a:srgbClr val="17212B"/>
                </a:solidFill>
              </a:rPr>
              <a:t>具身智能概览与连接 K1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C13FC55-ED1E-4239-9CE1-8CF1F1C8B589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647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6B7785"/>
                </a:solidFill>
              </a:defRPr>
            </a:pPr>
            <a:r>
              <a:rPr sz="1650" b="0">
                <a:solidFill>
                  <a:srgbClr val="6B7785"/>
                </a:solidFill>
              </a:rPr>
              <a:t>—— 从数字大脑到会动的身体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CFC5710-8F16-4BD5-9B10-FD99D39C06A2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104775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81BEC4-783B-455C-99F2-753BB0235D1C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B7785"/>
                </a:solidFill>
              </a:defRPr>
            </a:pPr>
            <a:r>
              <a:rPr sz="1200" b="0">
                <a:solidFill>
                  <a:srgbClr val="6B7785"/>
                </a:solidFill>
              </a:rPr>
              <a:t>单元 U1 · 人形机器人初探与运动控制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863B6B0-955D-462E-8E1F-9762AC390DDA}"/>
              </a:ext>
            </a:extLst>
          </p:cNvPr>
          <p:cNvSpPr>
            <a:spLocks noGrp="1"/>
          </p:cNvSpPr>
          <p:nvPr/>
        </p:nvSpPr>
        <p:spPr>
          <a:xfrm>
            <a:off x="685800" y="61150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6B7785"/>
                </a:solidFill>
              </a:defRPr>
            </a:pPr>
            <a:r>
              <a:rPr sz="1125" b="0">
                <a:solidFill>
                  <a:srgbClr val="6B7785"/>
                </a:solidFill>
              </a:rPr>
              <a:t>课时 L1 · 主讲人：__________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546F7C2-2559-4803-A3A6-3D4277238E3D}"/>
              </a:ext>
            </a:extLst>
          </p:cNvPr>
          <p:cNvSpPr>
            <a:spLocks noGrp="1"/>
          </p:cNvSpPr>
          <p:nvPr/>
        </p:nvSpPr>
        <p:spPr>
          <a:xfrm>
            <a:off x="8743950" y="1847850"/>
            <a:ext cx="1428750" cy="742950"/>
          </a:xfrm>
          <a:prstGeom prst="roundRect">
            <a:avLst>
              <a:gd name="adj" fmla="val 10256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K1</a:t>
            </a:r>
          </a:p>
        </p:txBody>
      </p:sp>
      <p:sp>
        <p:nvSpPr>
          <p:cNvPr id="8" name="直接连接符 7">
            <a:extLst>
              <a:ext uri="{FF2B5EF4-FFF2-40B4-BE49-F238E27FC236}">
                <a16:creationId xmlns:a16="http://schemas.microsoft.com/office/drawing/2014/main" id="{10C169B1-CADE-4EF5-B2E4-8D2D54176000}"/>
              </a:ext>
            </a:extLst>
          </p:cNvPr>
          <p:cNvSpPr>
            <a:spLocks noGrp="1"/>
          </p:cNvSpPr>
          <p:nvPr/>
        </p:nvSpPr>
        <p:spPr>
          <a:xfrm>
            <a:off x="9458325" y="2600325"/>
            <a:ext cx="9525" cy="409575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5BDA4FB-7111-4FA8-860D-A3448E64FC32}"/>
              </a:ext>
            </a:extLst>
          </p:cNvPr>
          <p:cNvSpPr>
            <a:spLocks noGrp="1"/>
          </p:cNvSpPr>
          <p:nvPr/>
        </p:nvSpPr>
        <p:spPr>
          <a:xfrm>
            <a:off x="8191500" y="3048000"/>
            <a:ext cx="1143000" cy="495300"/>
          </a:xfrm>
          <a:prstGeom prst="roundRect">
            <a:avLst>
              <a:gd name="adj" fmla="val 15385"/>
            </a:avLst>
          </a:prstGeom>
          <a:solidFill>
            <a:srgbClr val="CCFBF1"/>
          </a:solidFill>
          <a:ln w="9525">
            <a:solidFill>
              <a:srgbClr val="0EA5A4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0EA5A4"/>
                </a:solidFill>
              </a:defRPr>
            </a:pPr>
            <a:r>
              <a:rPr sz="1200" b="1">
                <a:solidFill>
                  <a:srgbClr val="0EA5A4"/>
                </a:solidFill>
              </a:rPr>
              <a:t>感知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1446D9D-E8D2-4C14-A357-0D6769A22A20}"/>
              </a:ext>
            </a:extLst>
          </p:cNvPr>
          <p:cNvSpPr>
            <a:spLocks noGrp="1"/>
          </p:cNvSpPr>
          <p:nvPr/>
        </p:nvSpPr>
        <p:spPr>
          <a:xfrm>
            <a:off x="9572625" y="3048000"/>
            <a:ext cx="1143000" cy="495300"/>
          </a:xfrm>
          <a:prstGeom prst="roundRect">
            <a:avLst>
              <a:gd name="adj" fmla="val 15385"/>
            </a:avLst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计算</a:t>
            </a: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ED624A78-2A2D-4F55-9ACE-E71A67740442}"/>
              </a:ext>
            </a:extLst>
          </p:cNvPr>
          <p:cNvSpPr>
            <a:spLocks noGrp="1"/>
          </p:cNvSpPr>
          <p:nvPr/>
        </p:nvSpPr>
        <p:spPr>
          <a:xfrm>
            <a:off x="8763000" y="3543300"/>
            <a:ext cx="9525" cy="457200"/>
          </a:xfrm>
          <a:prstGeom prst="line">
            <a:avLst/>
          </a:prstGeom>
          <a:noFill/>
          <a:ln w="38100">
            <a:solidFill>
              <a:srgbClr val="D8E0E8"/>
            </a:solidFill>
            <a:prstDash val="solid"/>
          </a:ln>
        </p:spPr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F6A3668C-E6E4-4007-B818-15B9B8D17D72}"/>
              </a:ext>
            </a:extLst>
          </p:cNvPr>
          <p:cNvSpPr>
            <a:spLocks noGrp="1"/>
          </p:cNvSpPr>
          <p:nvPr/>
        </p:nvSpPr>
        <p:spPr>
          <a:xfrm>
            <a:off x="10144125" y="3543300"/>
            <a:ext cx="9525" cy="457200"/>
          </a:xfrm>
          <a:prstGeom prst="line">
            <a:avLst/>
          </a:prstGeom>
          <a:noFill/>
          <a:ln w="38100">
            <a:solidFill>
              <a:srgbClr val="D8E0E8"/>
            </a:solidFill>
            <a:prstDash val="solid"/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70EBD05-E962-429F-BBD1-86CE489C8A4F}"/>
              </a:ext>
            </a:extLst>
          </p:cNvPr>
          <p:cNvSpPr>
            <a:spLocks noGrp="1"/>
          </p:cNvSpPr>
          <p:nvPr/>
        </p:nvSpPr>
        <p:spPr>
          <a:xfrm>
            <a:off x="8191500" y="4048125"/>
            <a:ext cx="1143000" cy="495300"/>
          </a:xfrm>
          <a:prstGeom prst="roundRect">
            <a:avLst>
              <a:gd name="adj" fmla="val 15385"/>
            </a:avLst>
          </a:prstGeom>
          <a:solidFill>
            <a:srgbClr val="FFF7E6"/>
          </a:solidFill>
          <a:ln w="9525">
            <a:solidFill>
              <a:srgbClr val="F59E0B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运动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8DE5D43-DB9A-4C64-97B7-257ED3726451}"/>
              </a:ext>
            </a:extLst>
          </p:cNvPr>
          <p:cNvSpPr>
            <a:spLocks noGrp="1"/>
          </p:cNvSpPr>
          <p:nvPr/>
        </p:nvSpPr>
        <p:spPr>
          <a:xfrm>
            <a:off x="9572625" y="4048125"/>
            <a:ext cx="1143000" cy="495300"/>
          </a:xfrm>
          <a:prstGeom prst="roundRect">
            <a:avLst>
              <a:gd name="adj" fmla="val 15385"/>
            </a:avLst>
          </a:prstGeom>
          <a:solidFill>
            <a:srgbClr val="FFF1F2"/>
          </a:solidFill>
          <a:ln w="9525">
            <a:solidFill>
              <a:srgbClr val="E5484D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E5484D"/>
                </a:solidFill>
              </a:defRPr>
            </a:pPr>
            <a:r>
              <a:rPr sz="1200" b="1">
                <a:solidFill>
                  <a:srgbClr val="E5484D"/>
                </a:solidFill>
              </a:rPr>
              <a:t>电源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E15FCB2-9DAF-4B14-8BC1-058392D187E8}"/>
              </a:ext>
            </a:extLst>
          </p:cNvPr>
          <p:cNvSpPr>
            <a:spLocks noGrp="1"/>
          </p:cNvSpPr>
          <p:nvPr/>
        </p:nvSpPr>
        <p:spPr>
          <a:xfrm>
            <a:off x="8477250" y="4810125"/>
            <a:ext cx="1952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 b="0">
                <a:solidFill>
                  <a:srgbClr val="6B7785"/>
                </a:solidFill>
              </a:defRPr>
            </a:pPr>
            <a:r>
              <a:rPr sz="975" b="0">
                <a:solidFill>
                  <a:srgbClr val="6B7785"/>
                </a:solidFill>
              </a:rPr>
              <a:t>可编辑结构示意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03319EB-CA5A-439A-AAF1-F208106176FC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781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1 / 30</a:t>
            </a:r>
          </a:p>
        </p:txBody>
      </p:sp>
    </p:spTree>
    <p:extLst>
      <p:ext uri="{BB962C8B-B14F-4D97-AF65-F5344CB8AC3E}">
        <p14:creationId xmlns:p14="http://schemas.microsoft.com/office/powerpoint/2010/main" val="1105576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6E37743E-4D8A-4C7C-A3D1-A1976EE8D458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514350" cy="3048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导学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E387E85-C0C2-4890-A8B3-5171E4FD4342}"/>
              </a:ext>
            </a:extLst>
          </p:cNvPr>
          <p:cNvSpPr>
            <a:spLocks noGrp="1"/>
          </p:cNvSpPr>
          <p:nvPr/>
        </p:nvSpPr>
        <p:spPr>
          <a:xfrm>
            <a:off x="647700" y="781050"/>
            <a:ext cx="1085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本课目标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9B390B-FC35-4D5F-B63B-FD26FCB7E98F}"/>
              </a:ext>
            </a:extLst>
          </p:cNvPr>
          <p:cNvSpPr>
            <a:spLocks noGrp="1"/>
          </p:cNvSpPr>
          <p:nvPr/>
        </p:nvSpPr>
        <p:spPr>
          <a:xfrm>
            <a:off x="647700" y="1257300"/>
            <a:ext cx="1085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一节课我们要带走什么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F21BFA85-562D-445B-A8EA-75C93A60BCAF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10896600" cy="9525"/>
          </a:xfrm>
          <a:prstGeom prst="line">
            <a:avLst/>
          </a:prstGeom>
          <a:noFill/>
          <a:ln w="9525">
            <a:solidFill>
              <a:srgbClr val="D8E0E8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5B9515C-A101-4B0E-9ABC-CDFAA20C90B9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781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2 / 30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73E3A9E-3A7C-4C13-AF80-F78B7FED6CE5}"/>
              </a:ext>
            </a:extLst>
          </p:cNvPr>
          <p:cNvSpPr>
            <a:spLocks noGrp="1"/>
          </p:cNvSpPr>
          <p:nvPr/>
        </p:nvSpPr>
        <p:spPr>
          <a:xfrm>
            <a:off x="1143000" y="2381250"/>
            <a:ext cx="514350" cy="5143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E7970C9-9BC1-4D81-8B85-A576A7EF470F}"/>
              </a:ext>
            </a:extLst>
          </p:cNvPr>
          <p:cNvSpPr>
            <a:spLocks noGrp="1"/>
          </p:cNvSpPr>
          <p:nvPr/>
        </p:nvSpPr>
        <p:spPr>
          <a:xfrm>
            <a:off x="2000250" y="234315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认识具身智能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299BA6-F88C-4CC1-8BF3-44CEFAAC4563}"/>
              </a:ext>
            </a:extLst>
          </p:cNvPr>
          <p:cNvSpPr>
            <a:spLocks noGrp="1"/>
          </p:cNvSpPr>
          <p:nvPr/>
        </p:nvSpPr>
        <p:spPr>
          <a:xfrm>
            <a:off x="2000250" y="2705100"/>
            <a:ext cx="781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344454"/>
                </a:solidFill>
              </a:defRPr>
            </a:pPr>
            <a:r>
              <a:rPr sz="1275" b="0">
                <a:solidFill>
                  <a:srgbClr val="344454"/>
                </a:solidFill>
              </a:rPr>
              <a:t>说清楚“数字大脑”和“有身体的智能”有什么不同。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CF96F52F-9842-4C16-8B5A-BDBF2298F8DB}"/>
              </a:ext>
            </a:extLst>
          </p:cNvPr>
          <p:cNvSpPr>
            <a:spLocks noGrp="1"/>
          </p:cNvSpPr>
          <p:nvPr/>
        </p:nvSpPr>
        <p:spPr>
          <a:xfrm>
            <a:off x="1143000" y="3333750"/>
            <a:ext cx="514350" cy="5143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A0B0F77-4DA4-4F2F-A4AD-9571390B0308}"/>
              </a:ext>
            </a:extLst>
          </p:cNvPr>
          <p:cNvSpPr>
            <a:spLocks noGrp="1"/>
          </p:cNvSpPr>
          <p:nvPr/>
        </p:nvSpPr>
        <p:spPr>
          <a:xfrm>
            <a:off x="2000250" y="329565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连接一台 K1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8E50452-5B89-48C9-9D14-5AB5E9900B9B}"/>
              </a:ext>
            </a:extLst>
          </p:cNvPr>
          <p:cNvSpPr>
            <a:spLocks noGrp="1"/>
          </p:cNvSpPr>
          <p:nvPr/>
        </p:nvSpPr>
        <p:spPr>
          <a:xfrm>
            <a:off x="2000250" y="3657600"/>
            <a:ext cx="781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344454"/>
                </a:solidFill>
              </a:defRPr>
            </a:pPr>
            <a:r>
              <a:rPr sz="1275" b="0">
                <a:solidFill>
                  <a:srgbClr val="344454"/>
                </a:solidFill>
              </a:rPr>
              <a:t>用 BoosterOS SDK 读取身份、关节、动作和状态信息。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0F58191-AC05-414E-8374-C04D8DE1E064}"/>
              </a:ext>
            </a:extLst>
          </p:cNvPr>
          <p:cNvSpPr>
            <a:spLocks noGrp="1"/>
          </p:cNvSpPr>
          <p:nvPr/>
        </p:nvSpPr>
        <p:spPr>
          <a:xfrm>
            <a:off x="1143000" y="4286250"/>
            <a:ext cx="514350" cy="5143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EA40157-5AA7-4722-AC04-0CC8B4A9DA16}"/>
              </a:ext>
            </a:extLst>
          </p:cNvPr>
          <p:cNvSpPr>
            <a:spLocks noGrp="1"/>
          </p:cNvSpPr>
          <p:nvPr/>
        </p:nvSpPr>
        <p:spPr>
          <a:xfrm>
            <a:off x="2000250" y="424815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建立开发范式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B148B3F-AA66-4323-8D3A-07B608A1F66C}"/>
              </a:ext>
            </a:extLst>
          </p:cNvPr>
          <p:cNvSpPr>
            <a:spLocks noGrp="1"/>
          </p:cNvSpPr>
          <p:nvPr/>
        </p:nvSpPr>
        <p:spPr>
          <a:xfrm>
            <a:off x="2000250" y="4610100"/>
            <a:ext cx="781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344454"/>
                </a:solidFill>
              </a:defRPr>
            </a:pPr>
            <a:r>
              <a:rPr sz="1275" b="0">
                <a:solidFill>
                  <a:srgbClr val="344454"/>
                </a:solidFill>
              </a:rPr>
              <a:t>理解：电脑经网络连接实体机器人，SDK 提供程序接口。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D913CA7-B67A-466D-8C53-BD8CAFC4B3E2}"/>
              </a:ext>
            </a:extLst>
          </p:cNvPr>
          <p:cNvSpPr>
            <a:spLocks noGrp="1"/>
          </p:cNvSpPr>
          <p:nvPr/>
        </p:nvSpPr>
        <p:spPr>
          <a:xfrm>
            <a:off x="1143000" y="5143500"/>
            <a:ext cx="9715500" cy="9525"/>
          </a:xfrm>
          <a:prstGeom prst="rect">
            <a:avLst/>
          </a:prstGeom>
          <a:solidFill>
            <a:srgbClr val="D8E0E8"/>
          </a:solidFill>
          <a:ln w="0">
            <a:solidFill>
              <a:srgbClr val="D8E0E8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85F8822-1DF0-4925-8717-4B43757C74A7}"/>
              </a:ext>
            </a:extLst>
          </p:cNvPr>
          <p:cNvSpPr>
            <a:spLocks noGrp="1"/>
          </p:cNvSpPr>
          <p:nvPr/>
        </p:nvSpPr>
        <p:spPr>
          <a:xfrm>
            <a:off x="1143000" y="5429250"/>
            <a:ext cx="971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今天先读懂、连上、看清楚；暂不下发运动指令。</a:t>
            </a:r>
          </a:p>
        </p:txBody>
      </p:sp>
    </p:spTree>
    <p:extLst>
      <p:ext uri="{BB962C8B-B14F-4D97-AF65-F5344CB8AC3E}">
        <p14:creationId xmlns:p14="http://schemas.microsoft.com/office/powerpoint/2010/main" val="1811062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180101A-3D0E-4894-A158-9F1A9620AA7E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2085975" cy="3048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第一部分 · 初识具身智能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A0BE17E-DA02-4436-8D8B-FB22314A90FE}"/>
              </a:ext>
            </a:extLst>
          </p:cNvPr>
          <p:cNvSpPr>
            <a:spLocks noGrp="1"/>
          </p:cNvSpPr>
          <p:nvPr/>
        </p:nvSpPr>
        <p:spPr>
          <a:xfrm>
            <a:off x="647700" y="781050"/>
            <a:ext cx="1085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机器人的“智能”在哪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B36A4D1-230C-457F-B62E-FC783DAE41B9}"/>
              </a:ext>
            </a:extLst>
          </p:cNvPr>
          <p:cNvSpPr>
            <a:spLocks noGrp="1"/>
          </p:cNvSpPr>
          <p:nvPr/>
        </p:nvSpPr>
        <p:spPr>
          <a:xfrm>
            <a:off x="647700" y="1257300"/>
            <a:ext cx="1085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会算，还是会动？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86CEF9D4-0AF7-445A-ADD3-AB5A7E6D7684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10896600" cy="9525"/>
          </a:xfrm>
          <a:prstGeom prst="line">
            <a:avLst/>
          </a:prstGeom>
          <a:noFill/>
          <a:ln w="9525">
            <a:solidFill>
              <a:srgbClr val="D8E0E8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C9098C0-468F-4457-9284-AD4D6939275B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781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3 / 30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1996040-D387-44F1-B280-C083B787F42F}"/>
              </a:ext>
            </a:extLst>
          </p:cNvPr>
          <p:cNvSpPr>
            <a:spLocks noGrp="1"/>
          </p:cNvSpPr>
          <p:nvPr/>
        </p:nvSpPr>
        <p:spPr>
          <a:xfrm>
            <a:off x="6953250" y="2143125"/>
            <a:ext cx="4191000" cy="2857500"/>
          </a:xfrm>
          <a:prstGeom prst="roundRect">
            <a:avLst>
              <a:gd name="adj" fmla="val 2667"/>
            </a:avLst>
          </a:prstGeom>
          <a:solidFill>
            <a:srgbClr val="EFF6FF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A9614F9-1D40-48E2-9545-A867280923B9}"/>
              </a:ext>
            </a:extLst>
          </p:cNvPr>
          <p:cNvSpPr>
            <a:spLocks noGrp="1"/>
          </p:cNvSpPr>
          <p:nvPr/>
        </p:nvSpPr>
        <p:spPr>
          <a:xfrm>
            <a:off x="6953250" y="4924425"/>
            <a:ext cx="4191000" cy="76200"/>
          </a:xfrm>
          <a:prstGeom prst="rect">
            <a:avLst/>
          </a:prstGeom>
          <a:solidFill>
            <a:srgbClr val="0EA5A4"/>
          </a:solidFill>
          <a:ln w="0">
            <a:solidFill>
              <a:srgbClr val="0EA5A4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1BE167C-35CC-46D7-B885-3C8FF26FF46E}"/>
              </a:ext>
            </a:extLst>
          </p:cNvPr>
          <p:cNvSpPr>
            <a:spLocks noGrp="1"/>
          </p:cNvSpPr>
          <p:nvPr/>
        </p:nvSpPr>
        <p:spPr>
          <a:xfrm>
            <a:off x="7181850" y="3209925"/>
            <a:ext cx="37338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23A7A"/>
                </a:solidFill>
              </a:defRPr>
            </a:pPr>
            <a:r>
              <a:rPr sz="1350" b="1">
                <a:solidFill>
                  <a:srgbClr val="123A7A"/>
                </a:solidFill>
              </a:rPr>
              <a:t>短片画面</a:t>
            </a:r>
          </a:p>
          <a:p>
            <a:pPr algn="ctr">
              <a:defRPr sz="1350" b="1">
                <a:solidFill>
                  <a:srgbClr val="123A7A"/>
                </a:solidFill>
              </a:defRPr>
            </a:pPr>
            <a:r>
              <a:rPr sz="1350" b="1">
                <a:solidFill>
                  <a:srgbClr val="123A7A"/>
                </a:solidFill>
              </a:rPr>
              <a:t>展厅 · 足球 · 搬运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09778E1-E44F-415A-AB84-16D95EB9BFEC}"/>
              </a:ext>
            </a:extLst>
          </p:cNvPr>
          <p:cNvSpPr>
            <a:spLocks noGrp="1"/>
          </p:cNvSpPr>
          <p:nvPr/>
        </p:nvSpPr>
        <p:spPr>
          <a:xfrm>
            <a:off x="952500" y="2381250"/>
            <a:ext cx="5143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17212B"/>
                </a:solidFill>
              </a:defRPr>
            </a:pPr>
            <a:r>
              <a:rPr sz="1875" b="1">
                <a:solidFill>
                  <a:srgbClr val="17212B"/>
                </a:solidFill>
              </a:rPr>
              <a:t>先看一个任务：</a:t>
            </a:r>
          </a:p>
          <a:p>
            <a:pPr algn="l">
              <a:defRPr sz="1875" b="1">
                <a:solidFill>
                  <a:srgbClr val="17212B"/>
                </a:solidFill>
              </a:defRPr>
            </a:pPr>
            <a:r>
              <a:rPr sz="1875" b="1">
                <a:solidFill>
                  <a:srgbClr val="17212B"/>
                </a:solidFill>
              </a:rPr>
              <a:t>机器人把杯子稳稳送到指定位置。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6551712-0537-4F53-861B-4DAB9D498533}"/>
              </a:ext>
            </a:extLst>
          </p:cNvPr>
          <p:cNvSpPr>
            <a:spLocks noGrp="1"/>
          </p:cNvSpPr>
          <p:nvPr/>
        </p:nvSpPr>
        <p:spPr>
          <a:xfrm>
            <a:off x="952500" y="4000500"/>
            <a:ext cx="5143500" cy="1333500"/>
          </a:xfrm>
          <a:prstGeom prst="roundRect">
            <a:avLst>
              <a:gd name="adj" fmla="val 5714"/>
            </a:avLst>
          </a:prstGeom>
          <a:solidFill>
            <a:srgbClr val="FFF7E6"/>
          </a:solidFill>
          <a:ln w="9525">
            <a:solidFill>
              <a:srgbClr val="F59E0B"/>
            </a:solidFill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344454"/>
                </a:solidFill>
              </a:defRPr>
            </a:pPr>
            <a:r>
              <a:rPr sz="1425" b="1">
                <a:solidFill>
                  <a:srgbClr val="344454"/>
                </a:solidFill>
              </a:rPr>
              <a:t>【想一想】</a:t>
            </a:r>
          </a:p>
          <a:p>
            <a:pPr algn="l">
              <a:defRPr sz="1425" b="1">
                <a:solidFill>
                  <a:srgbClr val="344454"/>
                </a:solidFill>
              </a:defRPr>
            </a:pPr>
            <a:r>
              <a:rPr sz="1425" b="1">
                <a:solidFill>
                  <a:srgbClr val="344454"/>
                </a:solidFill>
              </a:rPr>
              <a:t>它需要哪些能力？</a:t>
            </a:r>
          </a:p>
          <a:p>
            <a:pPr algn="l">
              <a:defRPr sz="1425" b="1">
                <a:solidFill>
                  <a:srgbClr val="344454"/>
                </a:solidFill>
              </a:defRPr>
            </a:pPr>
            <a:r>
              <a:rPr sz="1425" b="1">
                <a:solidFill>
                  <a:srgbClr val="344454"/>
                </a:solidFill>
              </a:rPr>
              <a:t>只会生成答案，够不够？</a:t>
            </a:r>
          </a:p>
        </p:txBody>
      </p:sp>
    </p:spTree>
    <p:extLst>
      <p:ext uri="{BB962C8B-B14F-4D97-AF65-F5344CB8AC3E}">
        <p14:creationId xmlns:p14="http://schemas.microsoft.com/office/powerpoint/2010/main" val="605836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C3A76B9-FD36-4FB9-8A80-EA2B011B05B2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2085975" cy="3048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第一部分 · 初识具身智能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7F1A8A3-6B5C-4FED-9BEB-16555286843F}"/>
              </a:ext>
            </a:extLst>
          </p:cNvPr>
          <p:cNvSpPr>
            <a:spLocks noGrp="1"/>
          </p:cNvSpPr>
          <p:nvPr/>
        </p:nvSpPr>
        <p:spPr>
          <a:xfrm>
            <a:off x="647700" y="781050"/>
            <a:ext cx="1085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什么是具身智能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8C7DB7E-E02C-4C53-8A50-4489818967B8}"/>
              </a:ext>
            </a:extLst>
          </p:cNvPr>
          <p:cNvSpPr>
            <a:spLocks noGrp="1"/>
          </p:cNvSpPr>
          <p:nvPr/>
        </p:nvSpPr>
        <p:spPr>
          <a:xfrm>
            <a:off x="647700" y="1257300"/>
            <a:ext cx="1085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从数字大脑到会动的身体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93253BC2-5E0F-4A34-8F5E-98F606F0A8CD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10896600" cy="9525"/>
          </a:xfrm>
          <a:prstGeom prst="line">
            <a:avLst/>
          </a:prstGeom>
          <a:noFill/>
          <a:ln w="9525">
            <a:solidFill>
              <a:srgbClr val="D8E0E8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F303E4C-8103-467A-8C23-70EF326B486E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781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4 / 30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87B523-23F1-40C2-87C0-D7B9E26EE30B}"/>
              </a:ext>
            </a:extLst>
          </p:cNvPr>
          <p:cNvSpPr>
            <a:spLocks noGrp="1"/>
          </p:cNvSpPr>
          <p:nvPr/>
        </p:nvSpPr>
        <p:spPr>
          <a:xfrm>
            <a:off x="952500" y="209550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75" b="1">
                <a:solidFill>
                  <a:srgbClr val="17212B"/>
                </a:solidFill>
              </a:defRPr>
            </a:pPr>
            <a:r>
              <a:rPr sz="1875" b="1">
                <a:solidFill>
                  <a:srgbClr val="17212B"/>
                </a:solidFill>
              </a:rPr>
              <a:t>智能不只存在于模型里，也存在于身体与环境的真实交互中。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C4FFB93-EA51-4330-8E18-2BEEA90EFA91}"/>
              </a:ext>
            </a:extLst>
          </p:cNvPr>
          <p:cNvSpPr>
            <a:spLocks noGrp="1"/>
          </p:cNvSpPr>
          <p:nvPr/>
        </p:nvSpPr>
        <p:spPr>
          <a:xfrm>
            <a:off x="952500" y="3000375"/>
            <a:ext cx="2667000" cy="457200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E0E8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离身智能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BA9A505-C151-4641-9779-7D6E9C46CA67}"/>
              </a:ext>
            </a:extLst>
          </p:cNvPr>
          <p:cNvSpPr>
            <a:spLocks noGrp="1"/>
          </p:cNvSpPr>
          <p:nvPr/>
        </p:nvSpPr>
        <p:spPr>
          <a:xfrm>
            <a:off x="4524375" y="3000375"/>
            <a:ext cx="2667000" cy="45720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具身智能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A0142FBD-3B79-4FE5-8512-4A56024EADE8}"/>
              </a:ext>
            </a:extLst>
          </p:cNvPr>
          <p:cNvSpPr>
            <a:spLocks noGrp="1"/>
          </p:cNvSpPr>
          <p:nvPr/>
        </p:nvSpPr>
        <p:spPr>
          <a:xfrm>
            <a:off x="8096250" y="3000375"/>
            <a:ext cx="2667000" cy="457200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9525">
            <a:solidFill>
              <a:srgbClr val="D8E0E8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课堂中的 K1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FDE6DF9-43B9-410F-BA3D-AE63CBE9112F}"/>
              </a:ext>
            </a:extLst>
          </p:cNvPr>
          <p:cNvSpPr>
            <a:spLocks noGrp="1"/>
          </p:cNvSpPr>
          <p:nvPr/>
        </p:nvSpPr>
        <p:spPr>
          <a:xfrm>
            <a:off x="952500" y="3714750"/>
            <a:ext cx="2667000" cy="114300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9525">
            <a:solidFill>
              <a:srgbClr val="D8E0E8"/>
            </a:solidFill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344454"/>
                </a:solidFill>
              </a:defRPr>
            </a:pPr>
            <a:r>
              <a:rPr sz="1350" b="0">
                <a:solidFill>
                  <a:srgbClr val="344454"/>
                </a:solidFill>
              </a:rPr>
              <a:t>屏幕中的模型</a:t>
            </a:r>
          </a:p>
          <a:p>
            <a:pPr algn="ctr">
              <a:defRPr sz="1350" b="0">
                <a:solidFill>
                  <a:srgbClr val="344454"/>
                </a:solidFill>
              </a:defRPr>
            </a:pPr>
            <a:r>
              <a:rPr sz="1350" b="0">
                <a:solidFill>
                  <a:srgbClr val="344454"/>
                </a:solidFill>
              </a:rPr>
              <a:t>擅长计算、生成、推理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7E32FCC-7F91-41B8-8378-2C30CBA5B9B4}"/>
              </a:ext>
            </a:extLst>
          </p:cNvPr>
          <p:cNvSpPr>
            <a:spLocks noGrp="1"/>
          </p:cNvSpPr>
          <p:nvPr/>
        </p:nvSpPr>
        <p:spPr>
          <a:xfrm>
            <a:off x="4524375" y="3714750"/>
            <a:ext cx="2667000" cy="114300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23A7A"/>
                </a:solidFill>
              </a:defRPr>
            </a:pPr>
            <a:r>
              <a:rPr sz="1350" b="1">
                <a:solidFill>
                  <a:srgbClr val="123A7A"/>
                </a:solidFill>
              </a:rPr>
              <a:t>身体 + 感知 + 行动</a:t>
            </a:r>
          </a:p>
          <a:p>
            <a:pPr algn="ctr">
              <a:defRPr sz="1350" b="1">
                <a:solidFill>
                  <a:srgbClr val="123A7A"/>
                </a:solidFill>
              </a:defRPr>
            </a:pPr>
            <a:r>
              <a:rPr sz="1350" b="1">
                <a:solidFill>
                  <a:srgbClr val="123A7A"/>
                </a:solidFill>
              </a:rPr>
              <a:t>在环境中完成任务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2E0689F-9857-48C5-9018-B419588E129B}"/>
              </a:ext>
            </a:extLst>
          </p:cNvPr>
          <p:cNvSpPr>
            <a:spLocks noGrp="1"/>
          </p:cNvSpPr>
          <p:nvPr/>
        </p:nvSpPr>
        <p:spPr>
          <a:xfrm>
            <a:off x="8096250" y="3714750"/>
            <a:ext cx="2667000" cy="1143000"/>
          </a:xfrm>
          <a:prstGeom prst="roundRect">
            <a:avLst>
              <a:gd name="adj" fmla="val 6667"/>
            </a:avLst>
          </a:prstGeom>
          <a:solidFill>
            <a:srgbClr val="CCFBF1"/>
          </a:solidFill>
          <a:ln w="9525">
            <a:solidFill>
              <a:srgbClr val="0EA5A4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0EA5A4"/>
                </a:solidFill>
              </a:defRPr>
            </a:pPr>
            <a:r>
              <a:rPr sz="1350" b="1">
                <a:solidFill>
                  <a:srgbClr val="0EA5A4"/>
                </a:solidFill>
              </a:rPr>
              <a:t>K1</a:t>
            </a:r>
          </a:p>
          <a:p>
            <a:pPr algn="ctr">
              <a:defRPr sz="1350" b="1">
                <a:solidFill>
                  <a:srgbClr val="0EA5A4"/>
                </a:solidFill>
              </a:defRPr>
            </a:pPr>
            <a:r>
              <a:rPr sz="1350" b="1">
                <a:solidFill>
                  <a:srgbClr val="0EA5A4"/>
                </a:solidFill>
              </a:rPr>
              <a:t>有芯片、有系统、能被编程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D85CA2C-FF35-4C2B-B79A-9CA45FE4A510}"/>
              </a:ext>
            </a:extLst>
          </p:cNvPr>
          <p:cNvSpPr>
            <a:spLocks noGrp="1"/>
          </p:cNvSpPr>
          <p:nvPr/>
        </p:nvSpPr>
        <p:spPr>
          <a:xfrm>
            <a:off x="952500" y="542925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关键区别：能否通过身体感知世界，并用行动改变世界。</a:t>
            </a:r>
          </a:p>
        </p:txBody>
      </p:sp>
    </p:spTree>
    <p:extLst>
      <p:ext uri="{BB962C8B-B14F-4D97-AF65-F5344CB8AC3E}">
        <p14:creationId xmlns:p14="http://schemas.microsoft.com/office/powerpoint/2010/main" val="484349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B140383-DE0E-4A7F-8E32-8B4E0602E081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2085975" cy="3048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第一部分 · 初识具身智能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75CB877-5E97-4073-948C-DC38C0CA7B2D}"/>
              </a:ext>
            </a:extLst>
          </p:cNvPr>
          <p:cNvSpPr>
            <a:spLocks noGrp="1"/>
          </p:cNvSpPr>
          <p:nvPr/>
        </p:nvSpPr>
        <p:spPr>
          <a:xfrm>
            <a:off x="647700" y="781050"/>
            <a:ext cx="1085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智能是怎么一步步“长”出来的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EC955D3-6C7B-4772-BC5F-34A66AE84CD7}"/>
              </a:ext>
            </a:extLst>
          </p:cNvPr>
          <p:cNvSpPr>
            <a:spLocks noGrp="1"/>
          </p:cNvSpPr>
          <p:nvPr/>
        </p:nvSpPr>
        <p:spPr>
          <a:xfrm>
            <a:off x="647700" y="1257300"/>
            <a:ext cx="1085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四段发展脉络一览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03A3D188-E859-4B52-82D4-891651760FDE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10896600" cy="9525"/>
          </a:xfrm>
          <a:prstGeom prst="line">
            <a:avLst/>
          </a:prstGeom>
          <a:noFill/>
          <a:ln w="9525">
            <a:solidFill>
              <a:srgbClr val="D8E0E8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9C5306D-420A-430A-95F3-2F780AA284E3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781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5 / 30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EA551049-5CBC-4A5D-8BF9-FDBB1CE03FDB}"/>
              </a:ext>
            </a:extLst>
          </p:cNvPr>
          <p:cNvSpPr>
            <a:spLocks noGrp="1"/>
          </p:cNvSpPr>
          <p:nvPr/>
        </p:nvSpPr>
        <p:spPr>
          <a:xfrm>
            <a:off x="3048000" y="3286125"/>
            <a:ext cx="342900" cy="266700"/>
          </a:xfrm>
          <a:prstGeom prst="rightArrow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5D80832-C90F-49A9-AFFF-F6B6523CFF3B}"/>
              </a:ext>
            </a:extLst>
          </p:cNvPr>
          <p:cNvSpPr>
            <a:spLocks noGrp="1"/>
          </p:cNvSpPr>
          <p:nvPr/>
        </p:nvSpPr>
        <p:spPr>
          <a:xfrm>
            <a:off x="857250" y="2762250"/>
            <a:ext cx="2095500" cy="152400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9525">
            <a:solidFill>
              <a:srgbClr val="D8E0E8"/>
            </a:solidFill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符号智能</a:t>
            </a:r>
          </a:p>
          <a:p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1950s–1980s</a:t>
            </a:r>
          </a:p>
          <a:p>
            <a:endParaRPr sz="1275" b="0">
              <a:solidFill>
                <a:srgbClr val="17212B"/>
              </a:solidFill>
            </a:endParaRPr>
          </a:p>
          <a:p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智能 = 符号推理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C2869CE8-9539-4A5C-BB44-44753FF39461}"/>
              </a:ext>
            </a:extLst>
          </p:cNvPr>
          <p:cNvSpPr>
            <a:spLocks noGrp="1"/>
          </p:cNvSpPr>
          <p:nvPr/>
        </p:nvSpPr>
        <p:spPr>
          <a:xfrm>
            <a:off x="5715000" y="3286125"/>
            <a:ext cx="342900" cy="266700"/>
          </a:xfrm>
          <a:prstGeom prst="rightArrow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F93050C-1979-4E32-B629-CB1C32E65B27}"/>
              </a:ext>
            </a:extLst>
          </p:cNvPr>
          <p:cNvSpPr>
            <a:spLocks noGrp="1"/>
          </p:cNvSpPr>
          <p:nvPr/>
        </p:nvSpPr>
        <p:spPr>
          <a:xfrm>
            <a:off x="3524250" y="2762250"/>
            <a:ext cx="2095500" cy="152400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9525">
            <a:solidFill>
              <a:srgbClr val="D8E0E8"/>
            </a:solidFill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行为主义与机器人学</a:t>
            </a:r>
          </a:p>
          <a:p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1980s–2000s</a:t>
            </a:r>
          </a:p>
          <a:p>
            <a:endParaRPr sz="1275" b="0">
              <a:solidFill>
                <a:srgbClr val="17212B"/>
              </a:solidFill>
            </a:endParaRPr>
          </a:p>
          <a:p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感知—行动闭环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89B73304-B4B4-4B54-AFC7-54317E8DD11F}"/>
              </a:ext>
            </a:extLst>
          </p:cNvPr>
          <p:cNvSpPr>
            <a:spLocks noGrp="1"/>
          </p:cNvSpPr>
          <p:nvPr/>
        </p:nvSpPr>
        <p:spPr>
          <a:xfrm>
            <a:off x="8382000" y="3286125"/>
            <a:ext cx="342900" cy="266700"/>
          </a:xfrm>
          <a:prstGeom prst="rightArrow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7817EFF-5316-4407-89D7-BFD39F5C78C5}"/>
              </a:ext>
            </a:extLst>
          </p:cNvPr>
          <p:cNvSpPr>
            <a:spLocks noGrp="1"/>
          </p:cNvSpPr>
          <p:nvPr/>
        </p:nvSpPr>
        <p:spPr>
          <a:xfrm>
            <a:off x="6191250" y="2762250"/>
            <a:ext cx="2095500" cy="152400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9525">
            <a:solidFill>
              <a:srgbClr val="D8E0E8"/>
            </a:solidFill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深度学习赋能感知</a:t>
            </a:r>
          </a:p>
          <a:p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2010s</a:t>
            </a:r>
          </a:p>
          <a:p>
            <a:endParaRPr sz="1275" b="0">
              <a:solidFill>
                <a:srgbClr val="17212B"/>
              </a:solidFill>
            </a:endParaRPr>
          </a:p>
          <a:p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看得清、听得懂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E0CBDE4-3F6B-4F61-8E73-D96D4EE42721}"/>
              </a:ext>
            </a:extLst>
          </p:cNvPr>
          <p:cNvSpPr>
            <a:spLocks noGrp="1"/>
          </p:cNvSpPr>
          <p:nvPr/>
        </p:nvSpPr>
        <p:spPr>
          <a:xfrm>
            <a:off x="8858250" y="2762250"/>
            <a:ext cx="2095500" cy="15240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大模型与 VLA</a:t>
            </a:r>
          </a:p>
          <a:p>
            <a:pPr algn="ctr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2020s 至今</a:t>
            </a:r>
          </a:p>
          <a:p>
            <a:endParaRPr sz="1275" b="1">
              <a:solidFill>
                <a:srgbClr val="17212B"/>
              </a:solidFill>
            </a:endParaRPr>
          </a:p>
          <a:p>
            <a:pPr algn="ctr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看—想—动一体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86DF886-4666-4292-B363-4E14A5FBE21C}"/>
              </a:ext>
            </a:extLst>
          </p:cNvPr>
          <p:cNvSpPr>
            <a:spLocks noGrp="1"/>
          </p:cNvSpPr>
          <p:nvPr/>
        </p:nvSpPr>
        <p:spPr>
          <a:xfrm>
            <a:off x="857250" y="49530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每一次进步，都让机器人更接近“理解环境并采取行动”。</a:t>
            </a:r>
          </a:p>
        </p:txBody>
      </p:sp>
    </p:spTree>
    <p:extLst>
      <p:ext uri="{BB962C8B-B14F-4D97-AF65-F5344CB8AC3E}">
        <p14:creationId xmlns:p14="http://schemas.microsoft.com/office/powerpoint/2010/main" val="1607679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3AFA229-B155-40F0-9578-5A8AAEF646DE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2085975" cy="3048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第一部分 · 初识具身智能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F9B3D04-9B6D-4782-B02D-A6793817DDA2}"/>
              </a:ext>
            </a:extLst>
          </p:cNvPr>
          <p:cNvSpPr>
            <a:spLocks noGrp="1"/>
          </p:cNvSpPr>
          <p:nvPr/>
        </p:nvSpPr>
        <p:spPr>
          <a:xfrm>
            <a:off x="647700" y="781050"/>
            <a:ext cx="1085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发展一 · 符号智能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7FFC0AA-F249-442A-9226-1FF37F7C03A0}"/>
              </a:ext>
            </a:extLst>
          </p:cNvPr>
          <p:cNvSpPr>
            <a:spLocks noGrp="1"/>
          </p:cNvSpPr>
          <p:nvPr/>
        </p:nvSpPr>
        <p:spPr>
          <a:xfrm>
            <a:off x="647700" y="1257300"/>
            <a:ext cx="1085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把智能当作“推理”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1A7D72B6-C880-4A20-9E8F-D7DE4D8BFE8F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10896600" cy="9525"/>
          </a:xfrm>
          <a:prstGeom prst="line">
            <a:avLst/>
          </a:prstGeom>
          <a:noFill/>
          <a:ln w="9525">
            <a:solidFill>
              <a:srgbClr val="D8E0E8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C2A567E-7DC0-40D6-831E-EF78C6BB1E9A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781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6 / 30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9FBCD37-48D1-4862-A903-9CAB9B992690}"/>
              </a:ext>
            </a:extLst>
          </p:cNvPr>
          <p:cNvSpPr>
            <a:spLocks noGrp="1"/>
          </p:cNvSpPr>
          <p:nvPr/>
        </p:nvSpPr>
        <p:spPr>
          <a:xfrm>
            <a:off x="904875" y="2190750"/>
            <a:ext cx="1619250" cy="266700"/>
          </a:xfrm>
          <a:prstGeom prst="roundRect">
            <a:avLst>
              <a:gd name="adj" fmla="val 28571"/>
            </a:avLst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1950s–1980s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6D0218E-A008-408A-9FFE-F12A7B90635F}"/>
              </a:ext>
            </a:extLst>
          </p:cNvPr>
          <p:cNvSpPr>
            <a:spLocks noGrp="1"/>
          </p:cNvSpPr>
          <p:nvPr/>
        </p:nvSpPr>
        <p:spPr>
          <a:xfrm>
            <a:off x="904875" y="2762250"/>
            <a:ext cx="5048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17212B"/>
                </a:solidFill>
              </a:defRPr>
            </a:pPr>
            <a:r>
              <a:rPr sz="1875" b="1">
                <a:solidFill>
                  <a:srgbClr val="17212B"/>
                </a:solidFill>
              </a:rPr>
              <a:t>早期人工智能把智能理解为符号推理。</a:t>
            </a:r>
          </a:p>
          <a:p>
            <a:pPr algn="l">
              <a:defRPr sz="1875" b="1">
                <a:solidFill>
                  <a:srgbClr val="17212B"/>
                </a:solidFill>
              </a:defRPr>
            </a:pPr>
            <a:r>
              <a:rPr sz="1875" b="1">
                <a:solidFill>
                  <a:srgbClr val="17212B"/>
                </a:solidFill>
              </a:rPr>
              <a:t>机器人按固定程序执行任务，尚不具备自主学习能力。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04FA403-42CF-4FAB-87D7-987F0DA2C656}"/>
              </a:ext>
            </a:extLst>
          </p:cNvPr>
          <p:cNvSpPr>
            <a:spLocks noGrp="1"/>
          </p:cNvSpPr>
          <p:nvPr/>
        </p:nvSpPr>
        <p:spPr>
          <a:xfrm>
            <a:off x="904875" y="4476750"/>
            <a:ext cx="504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344454"/>
                </a:solidFill>
              </a:defRPr>
            </a:pPr>
            <a:r>
              <a:rPr sz="1350" b="0">
                <a:solidFill>
                  <a:srgbClr val="344454"/>
                </a:solidFill>
              </a:rPr>
              <a:t>代表人物：Newell &amp; Simon</a:t>
            </a:r>
          </a:p>
          <a:p>
            <a:pPr algn="l">
              <a:defRPr sz="1350" b="0">
                <a:solidFill>
                  <a:srgbClr val="344454"/>
                </a:solidFill>
              </a:defRPr>
            </a:pPr>
            <a:r>
              <a:rPr sz="1350" b="0">
                <a:solidFill>
                  <a:srgbClr val="344454"/>
                </a:solidFill>
              </a:rPr>
              <a:t>认识重点：规则能解决什么，不能解决什么。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B6C6A85-4B7D-408F-9B99-9ECB8B08ABCC}"/>
              </a:ext>
            </a:extLst>
          </p:cNvPr>
          <p:cNvSpPr>
            <a:spLocks noGrp="1"/>
          </p:cNvSpPr>
          <p:nvPr/>
        </p:nvSpPr>
        <p:spPr>
          <a:xfrm>
            <a:off x="7096125" y="2095500"/>
            <a:ext cx="3762375" cy="2857500"/>
          </a:xfrm>
          <a:prstGeom prst="roundRect">
            <a:avLst>
              <a:gd name="adj" fmla="val 2667"/>
            </a:avLst>
          </a:prstGeom>
          <a:solidFill>
            <a:srgbClr val="EFF6FF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E5287E9-ED7C-42C0-AFC5-45D101DF2F07}"/>
              </a:ext>
            </a:extLst>
          </p:cNvPr>
          <p:cNvSpPr>
            <a:spLocks noGrp="1"/>
          </p:cNvSpPr>
          <p:nvPr/>
        </p:nvSpPr>
        <p:spPr>
          <a:xfrm>
            <a:off x="7096125" y="4876800"/>
            <a:ext cx="3762375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C2AA24B-9DEE-4606-A2CF-D09B531D647E}"/>
              </a:ext>
            </a:extLst>
          </p:cNvPr>
          <p:cNvSpPr>
            <a:spLocks noGrp="1"/>
          </p:cNvSpPr>
          <p:nvPr/>
        </p:nvSpPr>
        <p:spPr>
          <a:xfrm>
            <a:off x="7324725" y="3162300"/>
            <a:ext cx="33051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23A7A"/>
                </a:solidFill>
              </a:defRPr>
            </a:pPr>
            <a:r>
              <a:rPr sz="1350" b="1">
                <a:solidFill>
                  <a:srgbClr val="123A7A"/>
                </a:solidFill>
              </a:rPr>
              <a:t>概念图示</a:t>
            </a:r>
          </a:p>
          <a:p>
            <a:pPr algn="ctr">
              <a:defRPr sz="1350" b="1">
                <a:solidFill>
                  <a:srgbClr val="123A7A"/>
                </a:solidFill>
              </a:defRPr>
            </a:pPr>
            <a:r>
              <a:rPr sz="1350" b="1">
                <a:solidFill>
                  <a:srgbClr val="123A7A"/>
                </a:solidFill>
              </a:rPr>
              <a:t>可替换为课堂配图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1B039B7-5035-491A-8459-D97C1672C867}"/>
              </a:ext>
            </a:extLst>
          </p:cNvPr>
          <p:cNvSpPr>
            <a:spLocks noGrp="1"/>
          </p:cNvSpPr>
          <p:nvPr/>
        </p:nvSpPr>
        <p:spPr>
          <a:xfrm>
            <a:off x="7096125" y="5238750"/>
            <a:ext cx="3762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0">
                <a:solidFill>
                  <a:srgbClr val="6B7785"/>
                </a:solidFill>
              </a:defRPr>
            </a:pPr>
            <a:r>
              <a:rPr sz="1125" b="0">
                <a:solidFill>
                  <a:srgbClr val="6B7785"/>
                </a:solidFill>
              </a:rPr>
              <a:t>这一阶段留下的关键词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D1C58ED7-A865-4024-B6AC-36B74AA4539A}"/>
              </a:ext>
            </a:extLst>
          </p:cNvPr>
          <p:cNvSpPr>
            <a:spLocks noGrp="1"/>
          </p:cNvSpPr>
          <p:nvPr/>
        </p:nvSpPr>
        <p:spPr>
          <a:xfrm>
            <a:off x="7667625" y="5524500"/>
            <a:ext cx="2619375" cy="400050"/>
          </a:xfrm>
          <a:prstGeom prst="roundRect">
            <a:avLst>
              <a:gd name="adj" fmla="val 19048"/>
            </a:avLst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符号智能</a:t>
            </a:r>
          </a:p>
        </p:txBody>
      </p:sp>
    </p:spTree>
    <p:extLst>
      <p:ext uri="{BB962C8B-B14F-4D97-AF65-F5344CB8AC3E}">
        <p14:creationId xmlns:p14="http://schemas.microsoft.com/office/powerpoint/2010/main" val="1288947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89DAA74-7510-43FD-A585-90D3FB55CEFF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2085975" cy="304800"/>
          </a:xfrm>
          <a:prstGeom prst="roundRect">
            <a:avLst>
              <a:gd name="adj" fmla="val 25000"/>
            </a:avLst>
          </a:prstGeom>
          <a:solidFill>
            <a:srgbClr val="0EA5A4"/>
          </a:solidFill>
          <a:ln w="9525">
            <a:solidFill>
              <a:srgbClr val="0EA5A4"/>
            </a:solidFill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第一部分 · 初识具身智能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2FDD4F1-FDEF-4F76-988A-CD5AC44806C1}"/>
              </a:ext>
            </a:extLst>
          </p:cNvPr>
          <p:cNvSpPr>
            <a:spLocks noGrp="1"/>
          </p:cNvSpPr>
          <p:nvPr/>
        </p:nvSpPr>
        <p:spPr>
          <a:xfrm>
            <a:off x="647700" y="781050"/>
            <a:ext cx="1085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发展二 · 行为主义与机器人学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FA4051F-EDD2-43B8-973D-63B018D1DF17}"/>
              </a:ext>
            </a:extLst>
          </p:cNvPr>
          <p:cNvSpPr>
            <a:spLocks noGrp="1"/>
          </p:cNvSpPr>
          <p:nvPr/>
        </p:nvSpPr>
        <p:spPr>
          <a:xfrm>
            <a:off x="647700" y="1257300"/>
            <a:ext cx="1085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让机器人“感知—行动”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CD22B6D2-485F-47F3-8866-EEB3D0B16244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10896600" cy="9525"/>
          </a:xfrm>
          <a:prstGeom prst="line">
            <a:avLst/>
          </a:prstGeom>
          <a:noFill/>
          <a:ln w="9525">
            <a:solidFill>
              <a:srgbClr val="D8E0E8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D0ADED4-6669-4A17-BC96-BF6FEC511D9B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781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7 / 30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4A74388-C8C1-41AA-9A2D-8A216A158556}"/>
              </a:ext>
            </a:extLst>
          </p:cNvPr>
          <p:cNvSpPr>
            <a:spLocks noGrp="1"/>
          </p:cNvSpPr>
          <p:nvPr/>
        </p:nvSpPr>
        <p:spPr>
          <a:xfrm>
            <a:off x="904875" y="2190750"/>
            <a:ext cx="1619250" cy="266700"/>
          </a:xfrm>
          <a:prstGeom prst="roundRect">
            <a:avLst>
              <a:gd name="adj" fmla="val 28571"/>
            </a:avLst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0EA5A4"/>
                </a:solidFill>
              </a:defRPr>
            </a:pPr>
            <a:r>
              <a:rPr sz="975" b="1">
                <a:solidFill>
                  <a:srgbClr val="0EA5A4"/>
                </a:solidFill>
              </a:rPr>
              <a:t>1980s–2000s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0DA28F9-EDBB-4677-9468-EA7F9AD77B5A}"/>
              </a:ext>
            </a:extLst>
          </p:cNvPr>
          <p:cNvSpPr>
            <a:spLocks noGrp="1"/>
          </p:cNvSpPr>
          <p:nvPr/>
        </p:nvSpPr>
        <p:spPr>
          <a:xfrm>
            <a:off x="904875" y="2762250"/>
            <a:ext cx="5048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17212B"/>
                </a:solidFill>
              </a:defRPr>
            </a:pPr>
            <a:r>
              <a:rPr sz="1875" b="1">
                <a:solidFill>
                  <a:srgbClr val="17212B"/>
                </a:solidFill>
              </a:rPr>
              <a:t>机器人开始进入真实环境：</a:t>
            </a:r>
          </a:p>
          <a:p>
            <a:pPr algn="l">
              <a:defRPr sz="1875" b="1">
                <a:solidFill>
                  <a:srgbClr val="17212B"/>
                </a:solidFill>
              </a:defRPr>
            </a:pPr>
            <a:r>
              <a:rPr sz="1875" b="1">
                <a:solidFill>
                  <a:srgbClr val="17212B"/>
                </a:solidFill>
              </a:rPr>
              <a:t>边感知、边行动，用反馈形成闭环。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1145D78-16C3-40E9-B733-907267F42DDD}"/>
              </a:ext>
            </a:extLst>
          </p:cNvPr>
          <p:cNvSpPr>
            <a:spLocks noGrp="1"/>
          </p:cNvSpPr>
          <p:nvPr/>
        </p:nvSpPr>
        <p:spPr>
          <a:xfrm>
            <a:off x="904875" y="4476750"/>
            <a:ext cx="504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344454"/>
                </a:solidFill>
              </a:defRPr>
            </a:pPr>
            <a:r>
              <a:rPr sz="1350" b="0">
                <a:solidFill>
                  <a:srgbClr val="344454"/>
                </a:solidFill>
              </a:rPr>
              <a:t>代表思路：Brooks 的“无表征”</a:t>
            </a:r>
          </a:p>
          <a:p>
            <a:pPr algn="l">
              <a:defRPr sz="1350" b="0">
                <a:solidFill>
                  <a:srgbClr val="344454"/>
                </a:solidFill>
              </a:defRPr>
            </a:pPr>
            <a:r>
              <a:rPr sz="1350" b="0">
                <a:solidFill>
                  <a:srgbClr val="344454"/>
                </a:solidFill>
              </a:rPr>
              <a:t>认识重点：身体和环境进入智能系统。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A68004B-A2CA-444F-BF99-D77D9D9F5F72}"/>
              </a:ext>
            </a:extLst>
          </p:cNvPr>
          <p:cNvSpPr>
            <a:spLocks noGrp="1"/>
          </p:cNvSpPr>
          <p:nvPr/>
        </p:nvSpPr>
        <p:spPr>
          <a:xfrm>
            <a:off x="7096125" y="2095500"/>
            <a:ext cx="3762375" cy="2857500"/>
          </a:xfrm>
          <a:prstGeom prst="roundRect">
            <a:avLst>
              <a:gd name="adj" fmla="val 2667"/>
            </a:avLst>
          </a:prstGeom>
          <a:solidFill>
            <a:srgbClr val="EFF6FF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45A0468-4776-4789-B56D-DA4AA7090EF6}"/>
              </a:ext>
            </a:extLst>
          </p:cNvPr>
          <p:cNvSpPr>
            <a:spLocks noGrp="1"/>
          </p:cNvSpPr>
          <p:nvPr/>
        </p:nvSpPr>
        <p:spPr>
          <a:xfrm>
            <a:off x="7096125" y="4876800"/>
            <a:ext cx="3762375" cy="76200"/>
          </a:xfrm>
          <a:prstGeom prst="rect">
            <a:avLst/>
          </a:prstGeom>
          <a:solidFill>
            <a:srgbClr val="0EA5A4"/>
          </a:solidFill>
          <a:ln w="0">
            <a:solidFill>
              <a:srgbClr val="0EA5A4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D02C52E-819C-4ABF-B171-C8FF9F8D6A59}"/>
              </a:ext>
            </a:extLst>
          </p:cNvPr>
          <p:cNvSpPr>
            <a:spLocks noGrp="1"/>
          </p:cNvSpPr>
          <p:nvPr/>
        </p:nvSpPr>
        <p:spPr>
          <a:xfrm>
            <a:off x="7324725" y="3162300"/>
            <a:ext cx="33051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23A7A"/>
                </a:solidFill>
              </a:defRPr>
            </a:pPr>
            <a:r>
              <a:rPr sz="1350" b="1">
                <a:solidFill>
                  <a:srgbClr val="123A7A"/>
                </a:solidFill>
              </a:rPr>
              <a:t>概念图示</a:t>
            </a:r>
          </a:p>
          <a:p>
            <a:pPr algn="ctr">
              <a:defRPr sz="1350" b="1">
                <a:solidFill>
                  <a:srgbClr val="123A7A"/>
                </a:solidFill>
              </a:defRPr>
            </a:pPr>
            <a:r>
              <a:rPr sz="1350" b="1">
                <a:solidFill>
                  <a:srgbClr val="123A7A"/>
                </a:solidFill>
              </a:rPr>
              <a:t>可替换为课堂配图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97A4BC0-CF0B-4197-AC54-6D3C575CD18F}"/>
              </a:ext>
            </a:extLst>
          </p:cNvPr>
          <p:cNvSpPr>
            <a:spLocks noGrp="1"/>
          </p:cNvSpPr>
          <p:nvPr/>
        </p:nvSpPr>
        <p:spPr>
          <a:xfrm>
            <a:off x="7096125" y="5238750"/>
            <a:ext cx="3762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0">
                <a:solidFill>
                  <a:srgbClr val="6B7785"/>
                </a:solidFill>
              </a:defRPr>
            </a:pPr>
            <a:r>
              <a:rPr sz="1125" b="0">
                <a:solidFill>
                  <a:srgbClr val="6B7785"/>
                </a:solidFill>
              </a:rPr>
              <a:t>这一阶段留下的关键词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1BFA013-DDF3-4650-BDF1-5CF134570911}"/>
              </a:ext>
            </a:extLst>
          </p:cNvPr>
          <p:cNvSpPr>
            <a:spLocks noGrp="1"/>
          </p:cNvSpPr>
          <p:nvPr/>
        </p:nvSpPr>
        <p:spPr>
          <a:xfrm>
            <a:off x="7667625" y="5524500"/>
            <a:ext cx="2619375" cy="400050"/>
          </a:xfrm>
          <a:prstGeom prst="roundRect">
            <a:avLst>
              <a:gd name="adj" fmla="val 19048"/>
            </a:avLst>
          </a:prstGeom>
          <a:solidFill>
            <a:srgbClr val="EFF6FF"/>
          </a:solidFill>
          <a:ln w="9525">
            <a:solidFill>
              <a:srgbClr val="0EA5A4"/>
            </a:solidFill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0EA5A4"/>
                </a:solidFill>
              </a:defRPr>
            </a:pPr>
            <a:r>
              <a:rPr sz="1275" b="1">
                <a:solidFill>
                  <a:srgbClr val="0EA5A4"/>
                </a:solidFill>
              </a:rPr>
              <a:t>行为主义与机器人学</a:t>
            </a:r>
          </a:p>
        </p:txBody>
      </p:sp>
    </p:spTree>
    <p:extLst>
      <p:ext uri="{BB962C8B-B14F-4D97-AF65-F5344CB8AC3E}">
        <p14:creationId xmlns:p14="http://schemas.microsoft.com/office/powerpoint/2010/main" val="54662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655FB7A-3798-4C21-8DF6-6B49E4859341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2085975" cy="304800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第一部分 · 初识具身智能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6345D62-B785-4E38-8419-EC8BA6CF9D5A}"/>
              </a:ext>
            </a:extLst>
          </p:cNvPr>
          <p:cNvSpPr>
            <a:spLocks noGrp="1"/>
          </p:cNvSpPr>
          <p:nvPr/>
        </p:nvSpPr>
        <p:spPr>
          <a:xfrm>
            <a:off x="647700" y="781050"/>
            <a:ext cx="1085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发展三 · 深度学习赋能感知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D7C0494-7CA1-4750-AE9A-2BBF0CE881BA}"/>
              </a:ext>
            </a:extLst>
          </p:cNvPr>
          <p:cNvSpPr>
            <a:spLocks noGrp="1"/>
          </p:cNvSpPr>
          <p:nvPr/>
        </p:nvSpPr>
        <p:spPr>
          <a:xfrm>
            <a:off x="647700" y="1257300"/>
            <a:ext cx="1085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机器人终于“看得清”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D6704B8C-4F9B-4A79-92A8-A87BFB58EC77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10896600" cy="9525"/>
          </a:xfrm>
          <a:prstGeom prst="line">
            <a:avLst/>
          </a:prstGeom>
          <a:noFill/>
          <a:ln w="9525">
            <a:solidFill>
              <a:srgbClr val="D8E0E8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3FCEFAC-96CC-42B4-83D8-99043E40A281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781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8 / 30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624FFE8-BB83-4A07-8944-CC47B45E5648}"/>
              </a:ext>
            </a:extLst>
          </p:cNvPr>
          <p:cNvSpPr>
            <a:spLocks noGrp="1"/>
          </p:cNvSpPr>
          <p:nvPr/>
        </p:nvSpPr>
        <p:spPr>
          <a:xfrm>
            <a:off x="904875" y="2190750"/>
            <a:ext cx="1619250" cy="266700"/>
          </a:xfrm>
          <a:prstGeom prst="roundRect">
            <a:avLst>
              <a:gd name="adj" fmla="val 28571"/>
            </a:avLst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59E0B"/>
                </a:solidFill>
              </a:defRPr>
            </a:pPr>
            <a:r>
              <a:rPr sz="975" b="1">
                <a:solidFill>
                  <a:srgbClr val="F59E0B"/>
                </a:solidFill>
              </a:rPr>
              <a:t>2010s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6903DD4-109D-4771-AAF8-9AEEB624BEEF}"/>
              </a:ext>
            </a:extLst>
          </p:cNvPr>
          <p:cNvSpPr>
            <a:spLocks noGrp="1"/>
          </p:cNvSpPr>
          <p:nvPr/>
        </p:nvSpPr>
        <p:spPr>
          <a:xfrm>
            <a:off x="904875" y="2762250"/>
            <a:ext cx="5048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17212B"/>
                </a:solidFill>
              </a:defRPr>
            </a:pPr>
            <a:r>
              <a:rPr sz="1875" b="1">
                <a:solidFill>
                  <a:srgbClr val="17212B"/>
                </a:solidFill>
              </a:rPr>
              <a:t>视觉与语音识别能力快速提升，</a:t>
            </a:r>
          </a:p>
          <a:p>
            <a:pPr algn="l">
              <a:defRPr sz="1875" b="1">
                <a:solidFill>
                  <a:srgbClr val="17212B"/>
                </a:solidFill>
              </a:defRPr>
            </a:pPr>
            <a:r>
              <a:rPr sz="1875" b="1">
                <a:solidFill>
                  <a:srgbClr val="17212B"/>
                </a:solidFill>
              </a:rPr>
              <a:t>机器人开始更可靠地识别环境和人的指令。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F761A03-9C15-4804-9B44-740EC2DC8A60}"/>
              </a:ext>
            </a:extLst>
          </p:cNvPr>
          <p:cNvSpPr>
            <a:spLocks noGrp="1"/>
          </p:cNvSpPr>
          <p:nvPr/>
        </p:nvSpPr>
        <p:spPr>
          <a:xfrm>
            <a:off x="904875" y="4476750"/>
            <a:ext cx="504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344454"/>
                </a:solidFill>
              </a:defRPr>
            </a:pPr>
            <a:r>
              <a:rPr sz="1350" b="0">
                <a:solidFill>
                  <a:srgbClr val="344454"/>
                </a:solidFill>
              </a:rPr>
              <a:t>代表突破：AlexNet</a:t>
            </a:r>
          </a:p>
          <a:p>
            <a:pPr algn="l">
              <a:defRPr sz="1350" b="0">
                <a:solidFill>
                  <a:srgbClr val="344454"/>
                </a:solidFill>
              </a:defRPr>
            </a:pPr>
            <a:r>
              <a:rPr sz="1350" b="0">
                <a:solidFill>
                  <a:srgbClr val="344454"/>
                </a:solidFill>
              </a:rPr>
              <a:t>认识重点：感知能力是行动的入口。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B1F2A3E-AEDB-48A0-9913-58ECC74A6351}"/>
              </a:ext>
            </a:extLst>
          </p:cNvPr>
          <p:cNvSpPr>
            <a:spLocks noGrp="1"/>
          </p:cNvSpPr>
          <p:nvPr/>
        </p:nvSpPr>
        <p:spPr>
          <a:xfrm>
            <a:off x="7096125" y="2095500"/>
            <a:ext cx="3762375" cy="2857500"/>
          </a:xfrm>
          <a:prstGeom prst="roundRect">
            <a:avLst>
              <a:gd name="adj" fmla="val 2667"/>
            </a:avLst>
          </a:prstGeom>
          <a:solidFill>
            <a:srgbClr val="EFF6FF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38CB9A-D9E3-4F64-BAB6-F222CC20FEB5}"/>
              </a:ext>
            </a:extLst>
          </p:cNvPr>
          <p:cNvSpPr>
            <a:spLocks noGrp="1"/>
          </p:cNvSpPr>
          <p:nvPr/>
        </p:nvSpPr>
        <p:spPr>
          <a:xfrm>
            <a:off x="7096125" y="4876800"/>
            <a:ext cx="3762375" cy="762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A6209C6-16FA-42B0-9122-7FE49CF64108}"/>
              </a:ext>
            </a:extLst>
          </p:cNvPr>
          <p:cNvSpPr>
            <a:spLocks noGrp="1"/>
          </p:cNvSpPr>
          <p:nvPr/>
        </p:nvSpPr>
        <p:spPr>
          <a:xfrm>
            <a:off x="7324725" y="3162300"/>
            <a:ext cx="33051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23A7A"/>
                </a:solidFill>
              </a:defRPr>
            </a:pPr>
            <a:r>
              <a:rPr sz="1350" b="1">
                <a:solidFill>
                  <a:srgbClr val="123A7A"/>
                </a:solidFill>
              </a:rPr>
              <a:t>概念图示</a:t>
            </a:r>
          </a:p>
          <a:p>
            <a:pPr algn="ctr">
              <a:defRPr sz="1350" b="1">
                <a:solidFill>
                  <a:srgbClr val="123A7A"/>
                </a:solidFill>
              </a:defRPr>
            </a:pPr>
            <a:r>
              <a:rPr sz="1350" b="1">
                <a:solidFill>
                  <a:srgbClr val="123A7A"/>
                </a:solidFill>
              </a:rPr>
              <a:t>可替换为课堂配图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4E204A6-3D66-46CD-AA30-62D2AF0AF485}"/>
              </a:ext>
            </a:extLst>
          </p:cNvPr>
          <p:cNvSpPr>
            <a:spLocks noGrp="1"/>
          </p:cNvSpPr>
          <p:nvPr/>
        </p:nvSpPr>
        <p:spPr>
          <a:xfrm>
            <a:off x="7096125" y="5238750"/>
            <a:ext cx="3762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0">
                <a:solidFill>
                  <a:srgbClr val="6B7785"/>
                </a:solidFill>
              </a:defRPr>
            </a:pPr>
            <a:r>
              <a:rPr sz="1125" b="0">
                <a:solidFill>
                  <a:srgbClr val="6B7785"/>
                </a:solidFill>
              </a:rPr>
              <a:t>这一阶段留下的关键词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EEC830F-604A-4356-A00C-3CAC8CDED4BB}"/>
              </a:ext>
            </a:extLst>
          </p:cNvPr>
          <p:cNvSpPr>
            <a:spLocks noGrp="1"/>
          </p:cNvSpPr>
          <p:nvPr/>
        </p:nvSpPr>
        <p:spPr>
          <a:xfrm>
            <a:off x="7667625" y="5524500"/>
            <a:ext cx="2619375" cy="400050"/>
          </a:xfrm>
          <a:prstGeom prst="roundRect">
            <a:avLst>
              <a:gd name="adj" fmla="val 19048"/>
            </a:avLst>
          </a:prstGeom>
          <a:solidFill>
            <a:srgbClr val="FFF7E6"/>
          </a:solidFill>
          <a:ln w="9525">
            <a:solidFill>
              <a:srgbClr val="F59E0B"/>
            </a:solidFill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59E0B"/>
                </a:solidFill>
              </a:defRPr>
            </a:pPr>
            <a:r>
              <a:rPr sz="1275" b="1">
                <a:solidFill>
                  <a:srgbClr val="F59E0B"/>
                </a:solidFill>
              </a:rPr>
              <a:t>深度学习赋能感知</a:t>
            </a:r>
          </a:p>
        </p:txBody>
      </p:sp>
    </p:spTree>
    <p:extLst>
      <p:ext uri="{BB962C8B-B14F-4D97-AF65-F5344CB8AC3E}">
        <p14:creationId xmlns:p14="http://schemas.microsoft.com/office/powerpoint/2010/main" val="1188687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DFF1D61-C2CC-4334-90F6-85C9816A5209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2085975" cy="3048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第一部分 · 初识具身智能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A7AECD-33AE-41D2-BB8F-33CE74C296F6}"/>
              </a:ext>
            </a:extLst>
          </p:cNvPr>
          <p:cNvSpPr>
            <a:spLocks noGrp="1"/>
          </p:cNvSpPr>
          <p:nvPr/>
        </p:nvSpPr>
        <p:spPr>
          <a:xfrm>
            <a:off x="647700" y="781050"/>
            <a:ext cx="1085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发展四 · 大模型与 VLA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2CA3079-ADCB-4900-BBFA-B827479A2B06}"/>
              </a:ext>
            </a:extLst>
          </p:cNvPr>
          <p:cNvSpPr>
            <a:spLocks noGrp="1"/>
          </p:cNvSpPr>
          <p:nvPr/>
        </p:nvSpPr>
        <p:spPr>
          <a:xfrm>
            <a:off x="647700" y="1257300"/>
            <a:ext cx="1085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看、想、动连成一体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6CFDAE1C-0C16-4317-BBF9-121E6E58D731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10896600" cy="9525"/>
          </a:xfrm>
          <a:prstGeom prst="line">
            <a:avLst/>
          </a:prstGeom>
          <a:noFill/>
          <a:ln w="9525">
            <a:solidFill>
              <a:srgbClr val="D8E0E8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DAE62AF-E68A-449F-B3E0-144EDB751D8B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781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9 / 30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B85044E-184F-448B-9F1C-A516D2844D9B}"/>
              </a:ext>
            </a:extLst>
          </p:cNvPr>
          <p:cNvSpPr>
            <a:spLocks noGrp="1"/>
          </p:cNvSpPr>
          <p:nvPr/>
        </p:nvSpPr>
        <p:spPr>
          <a:xfrm>
            <a:off x="904875" y="2190750"/>
            <a:ext cx="1619250" cy="266700"/>
          </a:xfrm>
          <a:prstGeom prst="roundRect">
            <a:avLst>
              <a:gd name="adj" fmla="val 28571"/>
            </a:avLst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2020s 至今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9E2C0F9-F03F-4474-8DD8-B864B2AC0B2E}"/>
              </a:ext>
            </a:extLst>
          </p:cNvPr>
          <p:cNvSpPr>
            <a:spLocks noGrp="1"/>
          </p:cNvSpPr>
          <p:nvPr/>
        </p:nvSpPr>
        <p:spPr>
          <a:xfrm>
            <a:off x="904875" y="2762250"/>
            <a:ext cx="5048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17212B"/>
                </a:solidFill>
              </a:defRPr>
            </a:pPr>
            <a:r>
              <a:rPr sz="1875" b="1">
                <a:solidFill>
                  <a:srgbClr val="17212B"/>
                </a:solidFill>
              </a:rPr>
              <a:t>大模型提供更强的通用推理，</a:t>
            </a:r>
          </a:p>
          <a:p>
            <a:pPr algn="l">
              <a:defRPr sz="1875" b="1">
                <a:solidFill>
                  <a:srgbClr val="17212B"/>
                </a:solidFill>
              </a:defRPr>
            </a:pPr>
            <a:r>
              <a:rPr sz="1875" b="1">
                <a:solidFill>
                  <a:srgbClr val="17212B"/>
                </a:solidFill>
              </a:rPr>
              <a:t>VLA 尝试把视觉、语言和动作连接起来。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F35FABC-6819-49A2-8296-C99A8D56CEAD}"/>
              </a:ext>
            </a:extLst>
          </p:cNvPr>
          <p:cNvSpPr>
            <a:spLocks noGrp="1"/>
          </p:cNvSpPr>
          <p:nvPr/>
        </p:nvSpPr>
        <p:spPr>
          <a:xfrm>
            <a:off x="904875" y="4476750"/>
            <a:ext cx="504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344454"/>
                </a:solidFill>
              </a:defRPr>
            </a:pPr>
            <a:r>
              <a:rPr sz="1350" b="0">
                <a:solidFill>
                  <a:srgbClr val="344454"/>
                </a:solidFill>
              </a:rPr>
              <a:t>代表方向：PaLM-E、RT-2</a:t>
            </a:r>
          </a:p>
          <a:p>
            <a:pPr algn="l">
              <a:defRPr sz="1350" b="0">
                <a:solidFill>
                  <a:srgbClr val="344454"/>
                </a:solidFill>
              </a:defRPr>
            </a:pPr>
            <a:r>
              <a:rPr sz="1350" b="0">
                <a:solidFill>
                  <a:srgbClr val="344454"/>
                </a:solidFill>
              </a:rPr>
              <a:t>认识重点：从单点能力走向任务级行为。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7A54A49-D81B-4698-AFEE-7B0FA0F19E52}"/>
              </a:ext>
            </a:extLst>
          </p:cNvPr>
          <p:cNvSpPr>
            <a:spLocks noGrp="1"/>
          </p:cNvSpPr>
          <p:nvPr/>
        </p:nvSpPr>
        <p:spPr>
          <a:xfrm>
            <a:off x="7096125" y="2095500"/>
            <a:ext cx="3762375" cy="2857500"/>
          </a:xfrm>
          <a:prstGeom prst="roundRect">
            <a:avLst>
              <a:gd name="adj" fmla="val 2667"/>
            </a:avLst>
          </a:prstGeom>
          <a:solidFill>
            <a:srgbClr val="EFF6FF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A2C7846-464E-44A1-8003-351A991BBB0F}"/>
              </a:ext>
            </a:extLst>
          </p:cNvPr>
          <p:cNvSpPr>
            <a:spLocks noGrp="1"/>
          </p:cNvSpPr>
          <p:nvPr/>
        </p:nvSpPr>
        <p:spPr>
          <a:xfrm>
            <a:off x="7096125" y="4876800"/>
            <a:ext cx="3762375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498FD1D-15BA-44E6-9E0D-0046FDBC3449}"/>
              </a:ext>
            </a:extLst>
          </p:cNvPr>
          <p:cNvSpPr>
            <a:spLocks noGrp="1"/>
          </p:cNvSpPr>
          <p:nvPr/>
        </p:nvSpPr>
        <p:spPr>
          <a:xfrm>
            <a:off x="7324725" y="3162300"/>
            <a:ext cx="33051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23A7A"/>
                </a:solidFill>
              </a:defRPr>
            </a:pPr>
            <a:r>
              <a:rPr sz="1350" b="1">
                <a:solidFill>
                  <a:srgbClr val="123A7A"/>
                </a:solidFill>
              </a:rPr>
              <a:t>概念图示</a:t>
            </a:r>
          </a:p>
          <a:p>
            <a:pPr algn="ctr">
              <a:defRPr sz="1350" b="1">
                <a:solidFill>
                  <a:srgbClr val="123A7A"/>
                </a:solidFill>
              </a:defRPr>
            </a:pPr>
            <a:r>
              <a:rPr sz="1350" b="1">
                <a:solidFill>
                  <a:srgbClr val="123A7A"/>
                </a:solidFill>
              </a:rPr>
              <a:t>可替换为课堂配图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C319BAA-E848-4B87-ABD6-112E310458CB}"/>
              </a:ext>
            </a:extLst>
          </p:cNvPr>
          <p:cNvSpPr>
            <a:spLocks noGrp="1"/>
          </p:cNvSpPr>
          <p:nvPr/>
        </p:nvSpPr>
        <p:spPr>
          <a:xfrm>
            <a:off x="7096125" y="5238750"/>
            <a:ext cx="3762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0">
                <a:solidFill>
                  <a:srgbClr val="6B7785"/>
                </a:solidFill>
              </a:defRPr>
            </a:pPr>
            <a:r>
              <a:rPr sz="1125" b="0">
                <a:solidFill>
                  <a:srgbClr val="6B7785"/>
                </a:solidFill>
              </a:rPr>
              <a:t>这一阶段留下的关键词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621ACD0C-9885-443A-8CC6-07213D821DCC}"/>
              </a:ext>
            </a:extLst>
          </p:cNvPr>
          <p:cNvSpPr>
            <a:spLocks noGrp="1"/>
          </p:cNvSpPr>
          <p:nvPr/>
        </p:nvSpPr>
        <p:spPr>
          <a:xfrm>
            <a:off x="7667625" y="5524500"/>
            <a:ext cx="2619375" cy="400050"/>
          </a:xfrm>
          <a:prstGeom prst="roundRect">
            <a:avLst>
              <a:gd name="adj" fmla="val 19048"/>
            </a:avLst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大模型与 VLA</a:t>
            </a:r>
          </a:p>
        </p:txBody>
      </p:sp>
    </p:spTree>
    <p:extLst>
      <p:ext uri="{BB962C8B-B14F-4D97-AF65-F5344CB8AC3E}">
        <p14:creationId xmlns:p14="http://schemas.microsoft.com/office/powerpoint/2010/main" val="1502733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2496D08-03DF-4659-86E7-0AC507189241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2228850" cy="3048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第二部分 · 研究重心与方向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AEF6FFF-5119-4937-95C8-3E4D0ADFEA3F}"/>
              </a:ext>
            </a:extLst>
          </p:cNvPr>
          <p:cNvSpPr>
            <a:spLocks noGrp="1"/>
          </p:cNvSpPr>
          <p:nvPr/>
        </p:nvSpPr>
        <p:spPr>
          <a:xfrm>
            <a:off x="647700" y="781050"/>
            <a:ext cx="1085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今天的研究往哪用力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DC1E0C4-A3DD-4D68-8837-3ED648FD4231}"/>
              </a:ext>
            </a:extLst>
          </p:cNvPr>
          <p:cNvSpPr>
            <a:spLocks noGrp="1"/>
          </p:cNvSpPr>
          <p:nvPr/>
        </p:nvSpPr>
        <p:spPr>
          <a:xfrm>
            <a:off x="647700" y="1257300"/>
            <a:ext cx="1085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既要开眼界，也要能上手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6C4C5FA9-60B9-46EF-A0C7-DC5DA2A3EB6D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10896600" cy="9525"/>
          </a:xfrm>
          <a:prstGeom prst="line">
            <a:avLst/>
          </a:prstGeom>
          <a:noFill/>
          <a:ln w="9525">
            <a:solidFill>
              <a:srgbClr val="D8E0E8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76F4783-A99A-43F0-954B-24399A348A7E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781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10 / 30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82E1396-9C5D-4C32-81BB-97CE8E2C3B36}"/>
              </a:ext>
            </a:extLst>
          </p:cNvPr>
          <p:cNvSpPr>
            <a:spLocks noGrp="1"/>
          </p:cNvSpPr>
          <p:nvPr/>
        </p:nvSpPr>
        <p:spPr>
          <a:xfrm>
            <a:off x="1143000" y="2286000"/>
            <a:ext cx="4381500" cy="495300"/>
          </a:xfrm>
          <a:prstGeom prst="roundRect">
            <a:avLst>
              <a:gd name="adj" fmla="val 15385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前沿方向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740F4BF-698A-4F2F-B811-EA7B4BCE6261}"/>
              </a:ext>
            </a:extLst>
          </p:cNvPr>
          <p:cNvSpPr>
            <a:spLocks noGrp="1"/>
          </p:cNvSpPr>
          <p:nvPr/>
        </p:nvSpPr>
        <p:spPr>
          <a:xfrm>
            <a:off x="1143000" y="3143250"/>
            <a:ext cx="438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VLN · VLA · 世界模型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F33588F-C240-49E3-9161-1541625E3F9F}"/>
              </a:ext>
            </a:extLst>
          </p:cNvPr>
          <p:cNvSpPr>
            <a:spLocks noGrp="1"/>
          </p:cNvSpPr>
          <p:nvPr/>
        </p:nvSpPr>
        <p:spPr>
          <a:xfrm>
            <a:off x="1143000" y="3810000"/>
            <a:ext cx="4381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0">
                <a:solidFill>
                  <a:srgbClr val="344454"/>
                </a:solidFill>
              </a:defRPr>
            </a:pPr>
            <a:r>
              <a:rPr sz="1350" b="0">
                <a:solidFill>
                  <a:srgbClr val="344454"/>
                </a:solidFill>
              </a:rPr>
              <a:t>回答：智能如何理解更复杂的环境与任务？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19C5606A-7B3F-4DB1-8326-A676A3433518}"/>
              </a:ext>
            </a:extLst>
          </p:cNvPr>
          <p:cNvSpPr>
            <a:spLocks noGrp="1"/>
          </p:cNvSpPr>
          <p:nvPr/>
        </p:nvSpPr>
        <p:spPr>
          <a:xfrm>
            <a:off x="6667500" y="2286000"/>
            <a:ext cx="4381500" cy="495300"/>
          </a:xfrm>
          <a:prstGeom prst="roundRect">
            <a:avLst>
              <a:gd name="adj" fmla="val 15385"/>
            </a:avLst>
          </a:prstGeom>
          <a:solidFill>
            <a:srgbClr val="0EA5A4"/>
          </a:solidFill>
          <a:ln w="9525">
            <a:solidFill>
              <a:srgbClr val="0EA5A4"/>
            </a:solidFill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应用方向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76BECC0-1161-4BC9-B379-0B4D0D301253}"/>
              </a:ext>
            </a:extLst>
          </p:cNvPr>
          <p:cNvSpPr>
            <a:spLocks noGrp="1"/>
          </p:cNvSpPr>
          <p:nvPr/>
        </p:nvSpPr>
        <p:spPr>
          <a:xfrm>
            <a:off x="6667500" y="3143250"/>
            <a:ext cx="438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725" b="1">
                <a:solidFill>
                  <a:srgbClr val="17212B"/>
                </a:solidFill>
              </a:defRPr>
            </a:pPr>
            <a:r>
              <a:rPr sz="1725" b="1">
                <a:solidFill>
                  <a:srgbClr val="17212B"/>
                </a:solidFill>
              </a:rPr>
              <a:t>机器人操作 · 运动控制 · 手眼协调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3518923-5A69-4DA0-A7D3-E523D0A35D10}"/>
              </a:ext>
            </a:extLst>
          </p:cNvPr>
          <p:cNvSpPr>
            <a:spLocks noGrp="1"/>
          </p:cNvSpPr>
          <p:nvPr/>
        </p:nvSpPr>
        <p:spPr>
          <a:xfrm>
            <a:off x="6667500" y="3810000"/>
            <a:ext cx="4381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0">
                <a:solidFill>
                  <a:srgbClr val="344454"/>
                </a:solidFill>
              </a:defRPr>
            </a:pPr>
            <a:r>
              <a:rPr sz="1350" b="0">
                <a:solidFill>
                  <a:srgbClr val="344454"/>
                </a:solidFill>
              </a:rPr>
              <a:t>回答：智能如何稳定地完成真实任务？</a:t>
            </a: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7DBE26FF-212A-4F8B-B73B-DA7BCEBCDE90}"/>
              </a:ext>
            </a:extLst>
          </p:cNvPr>
          <p:cNvSpPr>
            <a:spLocks noGrp="1"/>
          </p:cNvSpPr>
          <p:nvPr/>
        </p:nvSpPr>
        <p:spPr>
          <a:xfrm>
            <a:off x="5524500" y="3143250"/>
            <a:ext cx="1143000" cy="9525"/>
          </a:xfrm>
          <a:prstGeom prst="line">
            <a:avLst/>
          </a:prstGeom>
          <a:noFill/>
          <a:ln w="28575">
            <a:solidFill>
              <a:srgbClr val="D8E0E8"/>
            </a:solidFill>
            <a:prstDash val="solid"/>
          </a:ln>
        </p:spPr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7293F2C3-2824-49AF-8241-342F4405B4FB}"/>
              </a:ext>
            </a:extLst>
          </p:cNvPr>
          <p:cNvSpPr>
            <a:spLocks noGrp="1"/>
          </p:cNvSpPr>
          <p:nvPr/>
        </p:nvSpPr>
        <p:spPr>
          <a:xfrm>
            <a:off x="5905500" y="3009900"/>
            <a:ext cx="419100" cy="266700"/>
          </a:xfrm>
          <a:prstGeom prst="rightArrow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B3CDC48-4ADD-42BC-8BFC-6C2AD5C95754}"/>
              </a:ext>
            </a:extLst>
          </p:cNvPr>
          <p:cNvSpPr>
            <a:spLocks noGrp="1"/>
          </p:cNvSpPr>
          <p:nvPr/>
        </p:nvSpPr>
        <p:spPr>
          <a:xfrm>
            <a:off x="1143000" y="5191125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方向不同，问题相同：让机器人更好地理解并行动。</a:t>
            </a:r>
          </a:p>
        </p:txBody>
      </p:sp>
    </p:spTree>
    <p:extLst>
      <p:ext uri="{BB962C8B-B14F-4D97-AF65-F5344CB8AC3E}">
        <p14:creationId xmlns:p14="http://schemas.microsoft.com/office/powerpoint/2010/main" val="1702574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559110C-F241-4D4B-BC49-F81FA376E871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2228850" cy="3048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第二部分 · 研究重心与方向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EC28B15-369C-49F0-8A9C-D09576294364}"/>
              </a:ext>
            </a:extLst>
          </p:cNvPr>
          <p:cNvSpPr>
            <a:spLocks noGrp="1"/>
          </p:cNvSpPr>
          <p:nvPr/>
        </p:nvSpPr>
        <p:spPr>
          <a:xfrm>
            <a:off x="647700" y="781050"/>
            <a:ext cx="1085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前沿一 · 视觉语言导航 VLN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AFE10CB-EFD6-480B-8F6B-475C08DF750A}"/>
              </a:ext>
            </a:extLst>
          </p:cNvPr>
          <p:cNvSpPr>
            <a:spLocks noGrp="1"/>
          </p:cNvSpPr>
          <p:nvPr/>
        </p:nvSpPr>
        <p:spPr>
          <a:xfrm>
            <a:off x="647700" y="1257300"/>
            <a:ext cx="1085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听懂“去那边把杯子拿来”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CFBA3E2D-4FC7-4460-9E28-7565C88D329D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10896600" cy="9525"/>
          </a:xfrm>
          <a:prstGeom prst="line">
            <a:avLst/>
          </a:prstGeom>
          <a:noFill/>
          <a:ln w="9525">
            <a:solidFill>
              <a:srgbClr val="D8E0E8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A733B0F-40A0-454B-A0E9-01B71383EF62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781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11 / 30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1F66033-56B1-4D45-BABD-1C81641F4865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4667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7212B"/>
                </a:solidFill>
              </a:defRPr>
            </a:pPr>
            <a:r>
              <a:rPr sz="1725" b="1">
                <a:solidFill>
                  <a:srgbClr val="17212B"/>
                </a:solidFill>
              </a:rPr>
              <a:t>语言 + 环境 + 路径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FD929BC-C8B8-4FB7-92E3-70A52F79DC03}"/>
              </a:ext>
            </a:extLst>
          </p:cNvPr>
          <p:cNvSpPr>
            <a:spLocks noGrp="1"/>
          </p:cNvSpPr>
          <p:nvPr/>
        </p:nvSpPr>
        <p:spPr>
          <a:xfrm>
            <a:off x="6762750" y="2333625"/>
            <a:ext cx="1428750" cy="57150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23A7A"/>
                </a:solidFill>
              </a:defRPr>
            </a:pPr>
            <a:r>
              <a:rPr sz="1275" b="1">
                <a:solidFill>
                  <a:srgbClr val="123A7A"/>
                </a:solidFill>
              </a:rPr>
              <a:t>语言指令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899AB189-4E53-4B38-8516-97BE157EA7A2}"/>
              </a:ext>
            </a:extLst>
          </p:cNvPr>
          <p:cNvSpPr>
            <a:spLocks noGrp="1"/>
          </p:cNvSpPr>
          <p:nvPr/>
        </p:nvSpPr>
        <p:spPr>
          <a:xfrm>
            <a:off x="8239125" y="2486025"/>
            <a:ext cx="285750" cy="228600"/>
          </a:xfrm>
          <a:prstGeom prst="rightArrow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656F9CF8-0BE7-4F75-BBD7-C1A7B9733305}"/>
              </a:ext>
            </a:extLst>
          </p:cNvPr>
          <p:cNvSpPr>
            <a:spLocks noGrp="1"/>
          </p:cNvSpPr>
          <p:nvPr/>
        </p:nvSpPr>
        <p:spPr>
          <a:xfrm>
            <a:off x="8572500" y="2333625"/>
            <a:ext cx="1428750" cy="57150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23A7A"/>
                </a:solidFill>
              </a:defRPr>
            </a:pPr>
            <a:r>
              <a:rPr sz="1275" b="1">
                <a:solidFill>
                  <a:srgbClr val="123A7A"/>
                </a:solidFill>
              </a:rPr>
              <a:t>看见环境</a:t>
            </a:r>
          </a:p>
        </p:txBody>
      </p:sp>
      <p:sp>
        <p:nvSpPr>
          <p:cNvPr id="10" name="箭头: 下 9">
            <a:extLst>
              <a:ext uri="{FF2B5EF4-FFF2-40B4-BE49-F238E27FC236}">
                <a16:creationId xmlns:a16="http://schemas.microsoft.com/office/drawing/2014/main" id="{A2CFA896-C12F-4E65-95EB-C914721538AA}"/>
              </a:ext>
            </a:extLst>
          </p:cNvPr>
          <p:cNvSpPr>
            <a:spLocks noGrp="1"/>
          </p:cNvSpPr>
          <p:nvPr/>
        </p:nvSpPr>
        <p:spPr>
          <a:xfrm>
            <a:off x="9163050" y="2981325"/>
            <a:ext cx="228600" cy="266700"/>
          </a:xfrm>
          <a:prstGeom prst="downArrow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431D3B8-9EB8-49D6-93A2-B44B46838B0C}"/>
              </a:ext>
            </a:extLst>
          </p:cNvPr>
          <p:cNvSpPr>
            <a:spLocks noGrp="1"/>
          </p:cNvSpPr>
          <p:nvPr/>
        </p:nvSpPr>
        <p:spPr>
          <a:xfrm>
            <a:off x="6762750" y="3381375"/>
            <a:ext cx="1428750" cy="57150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23A7A"/>
                </a:solidFill>
              </a:defRPr>
            </a:pPr>
            <a:r>
              <a:rPr sz="1275" b="1">
                <a:solidFill>
                  <a:srgbClr val="123A7A"/>
                </a:solidFill>
              </a:rPr>
              <a:t>规划路径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AD9C9874-346C-4291-9CC0-3CF53F3D629C}"/>
              </a:ext>
            </a:extLst>
          </p:cNvPr>
          <p:cNvSpPr>
            <a:spLocks noGrp="1"/>
          </p:cNvSpPr>
          <p:nvPr/>
        </p:nvSpPr>
        <p:spPr>
          <a:xfrm>
            <a:off x="8239125" y="3533775"/>
            <a:ext cx="285750" cy="228600"/>
          </a:xfrm>
          <a:prstGeom prst="rightArrow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D2FC82C4-3D58-4427-A650-86FD5526678C}"/>
              </a:ext>
            </a:extLst>
          </p:cNvPr>
          <p:cNvSpPr>
            <a:spLocks noGrp="1"/>
          </p:cNvSpPr>
          <p:nvPr/>
        </p:nvSpPr>
        <p:spPr>
          <a:xfrm>
            <a:off x="8572500" y="3381375"/>
            <a:ext cx="1428750" cy="57150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到达目标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3D5AD51-31AF-44B4-873C-976A39C72303}"/>
              </a:ext>
            </a:extLst>
          </p:cNvPr>
          <p:cNvSpPr>
            <a:spLocks noGrp="1"/>
          </p:cNvSpPr>
          <p:nvPr/>
        </p:nvSpPr>
        <p:spPr>
          <a:xfrm>
            <a:off x="952500" y="37147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核心问题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59F0037-1602-4FA1-8201-69C83F22D031}"/>
              </a:ext>
            </a:extLst>
          </p:cNvPr>
          <p:cNvSpPr>
            <a:spLocks noGrp="1"/>
          </p:cNvSpPr>
          <p:nvPr/>
        </p:nvSpPr>
        <p:spPr>
          <a:xfrm>
            <a:off x="952500" y="4095750"/>
            <a:ext cx="4953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344454"/>
                </a:solidFill>
              </a:defRPr>
            </a:pPr>
            <a:r>
              <a:rPr sz="1350" b="0">
                <a:solidFill>
                  <a:srgbClr val="344454"/>
                </a:solidFill>
              </a:rPr>
              <a:t>语言 + 环境 + 路径</a:t>
            </a:r>
          </a:p>
        </p:txBody>
      </p:sp>
    </p:spTree>
    <p:extLst>
      <p:ext uri="{BB962C8B-B14F-4D97-AF65-F5344CB8AC3E}">
        <p14:creationId xmlns:p14="http://schemas.microsoft.com/office/powerpoint/2010/main" val="1205218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7B9865F-0F09-4F14-992D-8AF618DA3196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2228850" cy="304800"/>
          </a:xfrm>
          <a:prstGeom prst="roundRect">
            <a:avLst>
              <a:gd name="adj" fmla="val 25000"/>
            </a:avLst>
          </a:prstGeom>
          <a:solidFill>
            <a:srgbClr val="0EA5A4"/>
          </a:solidFill>
          <a:ln w="9525">
            <a:solidFill>
              <a:srgbClr val="0EA5A4"/>
            </a:solidFill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第二部分 · 研究重心与方向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7105429-D0E6-4750-8EFC-E73AFA280EFE}"/>
              </a:ext>
            </a:extLst>
          </p:cNvPr>
          <p:cNvSpPr>
            <a:spLocks noGrp="1"/>
          </p:cNvSpPr>
          <p:nvPr/>
        </p:nvSpPr>
        <p:spPr>
          <a:xfrm>
            <a:off x="647700" y="781050"/>
            <a:ext cx="1085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前沿二 · 视觉语言动作 VLA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E373979-DF72-4928-BB5C-D47F0038073B}"/>
              </a:ext>
            </a:extLst>
          </p:cNvPr>
          <p:cNvSpPr>
            <a:spLocks noGrp="1"/>
          </p:cNvSpPr>
          <p:nvPr/>
        </p:nvSpPr>
        <p:spPr>
          <a:xfrm>
            <a:off x="647700" y="1257300"/>
            <a:ext cx="1085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看见画面，直接输出动作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61B137CC-0600-452D-94F0-566A82B89AEF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10896600" cy="9525"/>
          </a:xfrm>
          <a:prstGeom prst="line">
            <a:avLst/>
          </a:prstGeom>
          <a:noFill/>
          <a:ln w="9525">
            <a:solidFill>
              <a:srgbClr val="D8E0E8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02CA086-9C70-4398-BD13-36690EDC66DD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781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12 / 30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750EB79-7135-4F63-A1C5-BEA1547D9F16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4667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7212B"/>
                </a:solidFill>
              </a:defRPr>
            </a:pPr>
            <a:r>
              <a:rPr sz="1725" b="1">
                <a:solidFill>
                  <a:srgbClr val="17212B"/>
                </a:solidFill>
              </a:rPr>
              <a:t>画面 + 指令 → 动作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E3BA704-04A8-4F55-A8D3-26052BC3F355}"/>
              </a:ext>
            </a:extLst>
          </p:cNvPr>
          <p:cNvSpPr>
            <a:spLocks noGrp="1"/>
          </p:cNvSpPr>
          <p:nvPr/>
        </p:nvSpPr>
        <p:spPr>
          <a:xfrm>
            <a:off x="6762750" y="2333625"/>
            <a:ext cx="1428750" cy="57150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23A7A"/>
                </a:solidFill>
              </a:defRPr>
            </a:pPr>
            <a:r>
              <a:rPr sz="1275" b="1">
                <a:solidFill>
                  <a:srgbClr val="123A7A"/>
                </a:solidFill>
              </a:rPr>
              <a:t>图像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A7A9086D-BE72-465B-9E4A-847E3EC558C9}"/>
              </a:ext>
            </a:extLst>
          </p:cNvPr>
          <p:cNvSpPr>
            <a:spLocks noGrp="1"/>
          </p:cNvSpPr>
          <p:nvPr/>
        </p:nvSpPr>
        <p:spPr>
          <a:xfrm>
            <a:off x="8239125" y="2486025"/>
            <a:ext cx="285750" cy="228600"/>
          </a:xfrm>
          <a:prstGeom prst="rightArrow">
            <a:avLst/>
          </a:prstGeom>
          <a:solidFill>
            <a:srgbClr val="0EA5A4"/>
          </a:solidFill>
          <a:ln w="0">
            <a:solidFill>
              <a:srgbClr val="0EA5A4"/>
            </a:solidFill>
            <a:prstDash val="solid"/>
          </a:ln>
        </p:spPr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8E30E94-EC04-4974-9B9C-E825CDCEF2F5}"/>
              </a:ext>
            </a:extLst>
          </p:cNvPr>
          <p:cNvSpPr>
            <a:spLocks noGrp="1"/>
          </p:cNvSpPr>
          <p:nvPr/>
        </p:nvSpPr>
        <p:spPr>
          <a:xfrm>
            <a:off x="8572500" y="2333625"/>
            <a:ext cx="1428750" cy="57150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23A7A"/>
                </a:solidFill>
              </a:defRPr>
            </a:pPr>
            <a:r>
              <a:rPr sz="1275" b="1">
                <a:solidFill>
                  <a:srgbClr val="123A7A"/>
                </a:solidFill>
              </a:rPr>
              <a:t>语言</a:t>
            </a:r>
          </a:p>
        </p:txBody>
      </p:sp>
      <p:sp>
        <p:nvSpPr>
          <p:cNvPr id="10" name="箭头: 下 9">
            <a:extLst>
              <a:ext uri="{FF2B5EF4-FFF2-40B4-BE49-F238E27FC236}">
                <a16:creationId xmlns:a16="http://schemas.microsoft.com/office/drawing/2014/main" id="{D1FF21CD-3CE4-4680-81E7-C67869F283E8}"/>
              </a:ext>
            </a:extLst>
          </p:cNvPr>
          <p:cNvSpPr>
            <a:spLocks noGrp="1"/>
          </p:cNvSpPr>
          <p:nvPr/>
        </p:nvSpPr>
        <p:spPr>
          <a:xfrm>
            <a:off x="9163050" y="2981325"/>
            <a:ext cx="228600" cy="266700"/>
          </a:xfrm>
          <a:prstGeom prst="downArrow">
            <a:avLst/>
          </a:prstGeom>
          <a:solidFill>
            <a:srgbClr val="0EA5A4"/>
          </a:solidFill>
          <a:ln w="0">
            <a:solidFill>
              <a:srgbClr val="0EA5A4"/>
            </a:solidFill>
            <a:prstDash val="solid"/>
          </a:ln>
        </p:spPr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035694A-6848-4999-B653-9DD9FA7D5C8D}"/>
              </a:ext>
            </a:extLst>
          </p:cNvPr>
          <p:cNvSpPr>
            <a:spLocks noGrp="1"/>
          </p:cNvSpPr>
          <p:nvPr/>
        </p:nvSpPr>
        <p:spPr>
          <a:xfrm>
            <a:off x="6762750" y="3381375"/>
            <a:ext cx="1428750" cy="57150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23A7A"/>
                </a:solidFill>
              </a:defRPr>
            </a:pPr>
            <a:r>
              <a:rPr sz="1275" b="1">
                <a:solidFill>
                  <a:srgbClr val="123A7A"/>
                </a:solidFill>
              </a:rPr>
              <a:t>模型推理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BD0BA21F-8038-42F6-AFA6-8F2D3709E29B}"/>
              </a:ext>
            </a:extLst>
          </p:cNvPr>
          <p:cNvSpPr>
            <a:spLocks noGrp="1"/>
          </p:cNvSpPr>
          <p:nvPr/>
        </p:nvSpPr>
        <p:spPr>
          <a:xfrm>
            <a:off x="8239125" y="3533775"/>
            <a:ext cx="285750" cy="228600"/>
          </a:xfrm>
          <a:prstGeom prst="rightArrow">
            <a:avLst/>
          </a:prstGeom>
          <a:solidFill>
            <a:srgbClr val="0EA5A4"/>
          </a:solidFill>
          <a:ln w="0">
            <a:solidFill>
              <a:srgbClr val="0EA5A4"/>
            </a:solidFill>
            <a:prstDash val="solid"/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12C8D18-AAE4-47E2-8630-411B8EDBDAA6}"/>
              </a:ext>
            </a:extLst>
          </p:cNvPr>
          <p:cNvSpPr>
            <a:spLocks noGrp="1"/>
          </p:cNvSpPr>
          <p:nvPr/>
        </p:nvSpPr>
        <p:spPr>
          <a:xfrm>
            <a:off x="8572500" y="3381375"/>
            <a:ext cx="1428750" cy="571500"/>
          </a:xfrm>
          <a:prstGeom prst="roundRect">
            <a:avLst>
              <a:gd name="adj" fmla="val 13333"/>
            </a:avLst>
          </a:prstGeom>
          <a:solidFill>
            <a:srgbClr val="0EA5A4"/>
          </a:solidFill>
          <a:ln w="9525">
            <a:solidFill>
              <a:srgbClr val="0EA5A4"/>
            </a:solidFill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动作序列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F34B7F5-0FBD-42A0-A3F9-724151411E73}"/>
              </a:ext>
            </a:extLst>
          </p:cNvPr>
          <p:cNvSpPr>
            <a:spLocks noGrp="1"/>
          </p:cNvSpPr>
          <p:nvPr/>
        </p:nvSpPr>
        <p:spPr>
          <a:xfrm>
            <a:off x="952500" y="37147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0EA5A4"/>
                </a:solidFill>
              </a:defRPr>
            </a:pPr>
            <a:r>
              <a:rPr sz="1125" b="1">
                <a:solidFill>
                  <a:srgbClr val="0EA5A4"/>
                </a:solidFill>
              </a:rPr>
              <a:t>核心问题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F291C92-53BC-469F-8DD4-76F5BC928430}"/>
              </a:ext>
            </a:extLst>
          </p:cNvPr>
          <p:cNvSpPr>
            <a:spLocks noGrp="1"/>
          </p:cNvSpPr>
          <p:nvPr/>
        </p:nvSpPr>
        <p:spPr>
          <a:xfrm>
            <a:off x="952500" y="4095750"/>
            <a:ext cx="4953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344454"/>
                </a:solidFill>
              </a:defRPr>
            </a:pPr>
            <a:r>
              <a:rPr sz="1350" b="0">
                <a:solidFill>
                  <a:srgbClr val="344454"/>
                </a:solidFill>
              </a:rPr>
              <a:t>画面 + 指令 → 动作</a:t>
            </a:r>
          </a:p>
        </p:txBody>
      </p:sp>
    </p:spTree>
    <p:extLst>
      <p:ext uri="{BB962C8B-B14F-4D97-AF65-F5344CB8AC3E}">
        <p14:creationId xmlns:p14="http://schemas.microsoft.com/office/powerpoint/2010/main" val="263679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EE6B46BE-1C4A-44CA-A487-8B1F6C28A4DC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2228850" cy="304800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第二部分 · 研究重心与方向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412EE0C-E445-438F-A024-352AA66DE6ED}"/>
              </a:ext>
            </a:extLst>
          </p:cNvPr>
          <p:cNvSpPr>
            <a:spLocks noGrp="1"/>
          </p:cNvSpPr>
          <p:nvPr/>
        </p:nvSpPr>
        <p:spPr>
          <a:xfrm>
            <a:off x="647700" y="781050"/>
            <a:ext cx="1085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前沿三 · 世界模型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6DCB6AF-A868-4033-B9C3-B5C0B4CF589C}"/>
              </a:ext>
            </a:extLst>
          </p:cNvPr>
          <p:cNvSpPr>
            <a:spLocks noGrp="1"/>
          </p:cNvSpPr>
          <p:nvPr/>
        </p:nvSpPr>
        <p:spPr>
          <a:xfrm>
            <a:off x="647700" y="1257300"/>
            <a:ext cx="1085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在脑内先“演一遍”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4333D7E7-5AA0-4218-A33C-417E386D83B1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10896600" cy="9525"/>
          </a:xfrm>
          <a:prstGeom prst="line">
            <a:avLst/>
          </a:prstGeom>
          <a:noFill/>
          <a:ln w="9525">
            <a:solidFill>
              <a:srgbClr val="D8E0E8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BF60787-3AF4-4E3F-A920-533AD92C628D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781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13 / 30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3038984-5796-4C7D-9200-825427608496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4667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7212B"/>
                </a:solidFill>
              </a:defRPr>
            </a:pPr>
            <a:r>
              <a:rPr sz="1725" b="1">
                <a:solidFill>
                  <a:srgbClr val="17212B"/>
                </a:solidFill>
              </a:rPr>
              <a:t>预测行动后果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C779BA1-CF2B-440B-AA78-9F313B70030C}"/>
              </a:ext>
            </a:extLst>
          </p:cNvPr>
          <p:cNvSpPr>
            <a:spLocks noGrp="1"/>
          </p:cNvSpPr>
          <p:nvPr/>
        </p:nvSpPr>
        <p:spPr>
          <a:xfrm>
            <a:off x="6762750" y="2333625"/>
            <a:ext cx="1428750" cy="57150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23A7A"/>
                </a:solidFill>
              </a:defRPr>
            </a:pPr>
            <a:r>
              <a:rPr sz="1275" b="1">
                <a:solidFill>
                  <a:srgbClr val="123A7A"/>
                </a:solidFill>
              </a:rPr>
              <a:t>当前状态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60D41F64-2689-4B8B-9C1C-A37103B0EE80}"/>
              </a:ext>
            </a:extLst>
          </p:cNvPr>
          <p:cNvSpPr>
            <a:spLocks noGrp="1"/>
          </p:cNvSpPr>
          <p:nvPr/>
        </p:nvSpPr>
        <p:spPr>
          <a:xfrm>
            <a:off x="8239125" y="2486025"/>
            <a:ext cx="285750" cy="228600"/>
          </a:xfrm>
          <a:prstGeom prst="rightArrow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C857750-80F5-4E15-B2C9-7C555E2DB4EF}"/>
              </a:ext>
            </a:extLst>
          </p:cNvPr>
          <p:cNvSpPr>
            <a:spLocks noGrp="1"/>
          </p:cNvSpPr>
          <p:nvPr/>
        </p:nvSpPr>
        <p:spPr>
          <a:xfrm>
            <a:off x="8572500" y="2333625"/>
            <a:ext cx="1428750" cy="57150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23A7A"/>
                </a:solidFill>
              </a:defRPr>
            </a:pPr>
            <a:r>
              <a:rPr sz="1275" b="1">
                <a:solidFill>
                  <a:srgbClr val="123A7A"/>
                </a:solidFill>
              </a:rPr>
              <a:t>假设动作</a:t>
            </a:r>
          </a:p>
        </p:txBody>
      </p:sp>
      <p:sp>
        <p:nvSpPr>
          <p:cNvPr id="10" name="箭头: 下 9">
            <a:extLst>
              <a:ext uri="{FF2B5EF4-FFF2-40B4-BE49-F238E27FC236}">
                <a16:creationId xmlns:a16="http://schemas.microsoft.com/office/drawing/2014/main" id="{9170C4BF-96CB-4482-AA79-26474841EC11}"/>
              </a:ext>
            </a:extLst>
          </p:cNvPr>
          <p:cNvSpPr>
            <a:spLocks noGrp="1"/>
          </p:cNvSpPr>
          <p:nvPr/>
        </p:nvSpPr>
        <p:spPr>
          <a:xfrm>
            <a:off x="9163050" y="2981325"/>
            <a:ext cx="228600" cy="266700"/>
          </a:xfrm>
          <a:prstGeom prst="downArrow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B23A7CB-F4EC-4F51-BB4C-D3BD01D784AA}"/>
              </a:ext>
            </a:extLst>
          </p:cNvPr>
          <p:cNvSpPr>
            <a:spLocks noGrp="1"/>
          </p:cNvSpPr>
          <p:nvPr/>
        </p:nvSpPr>
        <p:spPr>
          <a:xfrm>
            <a:off x="6762750" y="3381375"/>
            <a:ext cx="1428750" cy="57150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23A7A"/>
                </a:solidFill>
              </a:defRPr>
            </a:pPr>
            <a:r>
              <a:rPr sz="1275" b="1">
                <a:solidFill>
                  <a:srgbClr val="123A7A"/>
                </a:solidFill>
              </a:rPr>
              <a:t>预测结果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8F048517-8A29-40AF-AB52-A41AB572268F}"/>
              </a:ext>
            </a:extLst>
          </p:cNvPr>
          <p:cNvSpPr>
            <a:spLocks noGrp="1"/>
          </p:cNvSpPr>
          <p:nvPr/>
        </p:nvSpPr>
        <p:spPr>
          <a:xfrm>
            <a:off x="8239125" y="3533775"/>
            <a:ext cx="285750" cy="228600"/>
          </a:xfrm>
          <a:prstGeom prst="rightArrow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1ABD8D0-5F31-4158-A998-93D925C8D989}"/>
              </a:ext>
            </a:extLst>
          </p:cNvPr>
          <p:cNvSpPr>
            <a:spLocks noGrp="1"/>
          </p:cNvSpPr>
          <p:nvPr/>
        </p:nvSpPr>
        <p:spPr>
          <a:xfrm>
            <a:off x="8572500" y="3381375"/>
            <a:ext cx="1428750" cy="57150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选择行动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0356A28-941A-49C5-8742-7078A6E8C72A}"/>
              </a:ext>
            </a:extLst>
          </p:cNvPr>
          <p:cNvSpPr>
            <a:spLocks noGrp="1"/>
          </p:cNvSpPr>
          <p:nvPr/>
        </p:nvSpPr>
        <p:spPr>
          <a:xfrm>
            <a:off x="952500" y="37147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F59E0B"/>
                </a:solidFill>
              </a:defRPr>
            </a:pPr>
            <a:r>
              <a:rPr sz="1125" b="1">
                <a:solidFill>
                  <a:srgbClr val="F59E0B"/>
                </a:solidFill>
              </a:rPr>
              <a:t>核心问题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E8DCEDE-F27C-4302-91E3-8BCAB527ECFB}"/>
              </a:ext>
            </a:extLst>
          </p:cNvPr>
          <p:cNvSpPr>
            <a:spLocks noGrp="1"/>
          </p:cNvSpPr>
          <p:nvPr/>
        </p:nvSpPr>
        <p:spPr>
          <a:xfrm>
            <a:off x="952500" y="4095750"/>
            <a:ext cx="4953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344454"/>
                </a:solidFill>
              </a:defRPr>
            </a:pPr>
            <a:r>
              <a:rPr sz="1350" b="0">
                <a:solidFill>
                  <a:srgbClr val="344454"/>
                </a:solidFill>
              </a:rPr>
              <a:t>预测行动后果</a:t>
            </a:r>
          </a:p>
        </p:txBody>
      </p:sp>
    </p:spTree>
    <p:extLst>
      <p:ext uri="{BB962C8B-B14F-4D97-AF65-F5344CB8AC3E}">
        <p14:creationId xmlns:p14="http://schemas.microsoft.com/office/powerpoint/2010/main" val="3489243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D9EE25B-24A3-49EB-BF06-C80A8285476D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2228850" cy="3048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第二部分 · 研究重心与方向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CC7B39F-7199-40C8-B0C6-BE8D12112BBE}"/>
              </a:ext>
            </a:extLst>
          </p:cNvPr>
          <p:cNvSpPr>
            <a:spLocks noGrp="1"/>
          </p:cNvSpPr>
          <p:nvPr/>
        </p:nvSpPr>
        <p:spPr>
          <a:xfrm>
            <a:off x="647700" y="781050"/>
            <a:ext cx="1085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应用一 · 机器人操作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DC47C65-152C-402A-A362-7CB730DA50D4}"/>
              </a:ext>
            </a:extLst>
          </p:cNvPr>
          <p:cNvSpPr>
            <a:spLocks noGrp="1"/>
          </p:cNvSpPr>
          <p:nvPr/>
        </p:nvSpPr>
        <p:spPr>
          <a:xfrm>
            <a:off x="647700" y="1257300"/>
            <a:ext cx="1085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稳稳抓放、精准装配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87D3779F-70DF-40A5-9C83-7DA3839A5881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10896600" cy="9525"/>
          </a:xfrm>
          <a:prstGeom prst="line">
            <a:avLst/>
          </a:prstGeom>
          <a:noFill/>
          <a:ln w="9525">
            <a:solidFill>
              <a:srgbClr val="D8E0E8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A35F6F4-426E-4B6F-9D3E-433AAA22A9BA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781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14 / 30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26942A6-B573-461B-8ACC-51BA7EF19B6B}"/>
              </a:ext>
            </a:extLst>
          </p:cNvPr>
          <p:cNvSpPr>
            <a:spLocks noGrp="1"/>
          </p:cNvSpPr>
          <p:nvPr/>
        </p:nvSpPr>
        <p:spPr>
          <a:xfrm>
            <a:off x="952500" y="2143125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让机器人把“看见目标”变成“完成操作”。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364F97B-00C8-4C6F-97F2-07FAD8DB242F}"/>
              </a:ext>
            </a:extLst>
          </p:cNvPr>
          <p:cNvSpPr>
            <a:spLocks noGrp="1"/>
          </p:cNvSpPr>
          <p:nvPr/>
        </p:nvSpPr>
        <p:spPr>
          <a:xfrm>
            <a:off x="1143000" y="3286125"/>
            <a:ext cx="2286000" cy="1047750"/>
          </a:xfrm>
          <a:prstGeom prst="roundRect">
            <a:avLst>
              <a:gd name="adj" fmla="val 7273"/>
            </a:avLst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123A7A"/>
                </a:solidFill>
              </a:defRPr>
            </a:pPr>
            <a:r>
              <a:rPr sz="1425" b="1">
                <a:solidFill>
                  <a:srgbClr val="123A7A"/>
                </a:solidFill>
              </a:rPr>
              <a:t>识别目标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CA4DA8A8-633E-4627-94FA-43E95AA71E26}"/>
              </a:ext>
            </a:extLst>
          </p:cNvPr>
          <p:cNvSpPr>
            <a:spLocks noGrp="1"/>
          </p:cNvSpPr>
          <p:nvPr/>
        </p:nvSpPr>
        <p:spPr>
          <a:xfrm>
            <a:off x="3714750" y="3667125"/>
            <a:ext cx="428625" cy="266700"/>
          </a:xfrm>
          <a:prstGeom prst="rightArrow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0F6E930-2694-4CFA-9E9A-D1A3E12968A7}"/>
              </a:ext>
            </a:extLst>
          </p:cNvPr>
          <p:cNvSpPr>
            <a:spLocks noGrp="1"/>
          </p:cNvSpPr>
          <p:nvPr/>
        </p:nvSpPr>
        <p:spPr>
          <a:xfrm>
            <a:off x="4476750" y="3286125"/>
            <a:ext cx="2286000" cy="104775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9525">
            <a:solidFill>
              <a:srgbClr val="D8E0E8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344454"/>
                </a:solidFill>
              </a:defRPr>
            </a:pPr>
            <a:r>
              <a:rPr sz="1425" b="1">
                <a:solidFill>
                  <a:srgbClr val="344454"/>
                </a:solidFill>
              </a:rPr>
              <a:t>规划抓取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B32FD11E-F8F9-44A3-A45D-6EC5EAA8D430}"/>
              </a:ext>
            </a:extLst>
          </p:cNvPr>
          <p:cNvSpPr>
            <a:spLocks noGrp="1"/>
          </p:cNvSpPr>
          <p:nvPr/>
        </p:nvSpPr>
        <p:spPr>
          <a:xfrm>
            <a:off x="7048500" y="3667125"/>
            <a:ext cx="428625" cy="266700"/>
          </a:xfrm>
          <a:prstGeom prst="rightArrow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9E8765C-E351-4BC4-B42E-BED6ACAC28C7}"/>
              </a:ext>
            </a:extLst>
          </p:cNvPr>
          <p:cNvSpPr>
            <a:spLocks noGrp="1"/>
          </p:cNvSpPr>
          <p:nvPr/>
        </p:nvSpPr>
        <p:spPr>
          <a:xfrm>
            <a:off x="7810500" y="3286125"/>
            <a:ext cx="2286000" cy="1047750"/>
          </a:xfrm>
          <a:prstGeom prst="roundRect">
            <a:avLst>
              <a:gd name="adj" fmla="val 7273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稳定放置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A4F0B14-57AF-40CD-AD97-8879BFAEDB56}"/>
              </a:ext>
            </a:extLst>
          </p:cNvPr>
          <p:cNvSpPr>
            <a:spLocks noGrp="1"/>
          </p:cNvSpPr>
          <p:nvPr/>
        </p:nvSpPr>
        <p:spPr>
          <a:xfrm>
            <a:off x="1143000" y="5095875"/>
            <a:ext cx="990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应用方向的共同目标：让感知结果真正转化为稳定动作。</a:t>
            </a:r>
          </a:p>
        </p:txBody>
      </p:sp>
    </p:spTree>
    <p:extLst>
      <p:ext uri="{BB962C8B-B14F-4D97-AF65-F5344CB8AC3E}">
        <p14:creationId xmlns:p14="http://schemas.microsoft.com/office/powerpoint/2010/main" val="13194735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EF87C89-8CD2-42C9-ACA2-67F5319255C9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2228850" cy="304800"/>
          </a:xfrm>
          <a:prstGeom prst="roundRect">
            <a:avLst>
              <a:gd name="adj" fmla="val 25000"/>
            </a:avLst>
          </a:prstGeom>
          <a:solidFill>
            <a:srgbClr val="0EA5A4"/>
          </a:solidFill>
          <a:ln w="9525">
            <a:solidFill>
              <a:srgbClr val="0EA5A4"/>
            </a:solidFill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第二部分 · 研究重心与方向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4D1DDA0-DB91-4212-8378-D339B14C03CB}"/>
              </a:ext>
            </a:extLst>
          </p:cNvPr>
          <p:cNvSpPr>
            <a:spLocks noGrp="1"/>
          </p:cNvSpPr>
          <p:nvPr/>
        </p:nvSpPr>
        <p:spPr>
          <a:xfrm>
            <a:off x="647700" y="781050"/>
            <a:ext cx="1085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应用二 · 运动控制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1AA93B4-04AD-4535-92D0-8DA16869E5C3}"/>
              </a:ext>
            </a:extLst>
          </p:cNvPr>
          <p:cNvSpPr>
            <a:spLocks noGrp="1"/>
          </p:cNvSpPr>
          <p:nvPr/>
        </p:nvSpPr>
        <p:spPr>
          <a:xfrm>
            <a:off x="647700" y="1257300"/>
            <a:ext cx="1085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在不平地面站稳走好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C2C6B89E-2996-4825-9368-675A8060F96D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10896600" cy="9525"/>
          </a:xfrm>
          <a:prstGeom prst="line">
            <a:avLst/>
          </a:prstGeom>
          <a:noFill/>
          <a:ln w="9525">
            <a:solidFill>
              <a:srgbClr val="D8E0E8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04071F-FFCB-460B-B233-868F2188E993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781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15 / 30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D8F5C6B-4966-4DA8-A667-02D9947D3598}"/>
              </a:ext>
            </a:extLst>
          </p:cNvPr>
          <p:cNvSpPr>
            <a:spLocks noGrp="1"/>
          </p:cNvSpPr>
          <p:nvPr/>
        </p:nvSpPr>
        <p:spPr>
          <a:xfrm>
            <a:off x="952500" y="2143125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让机器人在运动中保持姿态、速度与方向。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C38E7B6-E662-4273-9847-E36AC01FA4AD}"/>
              </a:ext>
            </a:extLst>
          </p:cNvPr>
          <p:cNvSpPr>
            <a:spLocks noGrp="1"/>
          </p:cNvSpPr>
          <p:nvPr/>
        </p:nvSpPr>
        <p:spPr>
          <a:xfrm>
            <a:off x="1143000" y="3286125"/>
            <a:ext cx="2286000" cy="1047750"/>
          </a:xfrm>
          <a:prstGeom prst="roundRect">
            <a:avLst>
              <a:gd name="adj" fmla="val 7273"/>
            </a:avLst>
          </a:prstGeom>
          <a:solidFill>
            <a:srgbClr val="EFF6FF"/>
          </a:solidFill>
          <a:ln w="9525">
            <a:solidFill>
              <a:srgbClr val="0EA5A4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123A7A"/>
                </a:solidFill>
              </a:defRPr>
            </a:pPr>
            <a:r>
              <a:rPr sz="1425" b="1">
                <a:solidFill>
                  <a:srgbClr val="123A7A"/>
                </a:solidFill>
              </a:rPr>
              <a:t>读取状态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DB282E8A-1DC3-4A0A-9CEB-99B375B6C172}"/>
              </a:ext>
            </a:extLst>
          </p:cNvPr>
          <p:cNvSpPr>
            <a:spLocks noGrp="1"/>
          </p:cNvSpPr>
          <p:nvPr/>
        </p:nvSpPr>
        <p:spPr>
          <a:xfrm>
            <a:off x="3714750" y="3667125"/>
            <a:ext cx="428625" cy="266700"/>
          </a:xfrm>
          <a:prstGeom prst="rightArrow">
            <a:avLst/>
          </a:prstGeom>
          <a:solidFill>
            <a:srgbClr val="0EA5A4"/>
          </a:solidFill>
          <a:ln w="0">
            <a:solidFill>
              <a:srgbClr val="0EA5A4"/>
            </a:solidFill>
            <a:prstDash val="solid"/>
          </a:ln>
        </p:spPr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29EB18A-D534-4785-811D-BC13F5681C7D}"/>
              </a:ext>
            </a:extLst>
          </p:cNvPr>
          <p:cNvSpPr>
            <a:spLocks noGrp="1"/>
          </p:cNvSpPr>
          <p:nvPr/>
        </p:nvSpPr>
        <p:spPr>
          <a:xfrm>
            <a:off x="4476750" y="3286125"/>
            <a:ext cx="2286000" cy="104775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9525">
            <a:solidFill>
              <a:srgbClr val="D8E0E8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344454"/>
                </a:solidFill>
              </a:defRPr>
            </a:pPr>
            <a:r>
              <a:rPr sz="1425" b="1">
                <a:solidFill>
                  <a:srgbClr val="344454"/>
                </a:solidFill>
              </a:rPr>
              <a:t>调整速度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21256B02-D514-4BBE-95A6-BF8BA51C31D4}"/>
              </a:ext>
            </a:extLst>
          </p:cNvPr>
          <p:cNvSpPr>
            <a:spLocks noGrp="1"/>
          </p:cNvSpPr>
          <p:nvPr/>
        </p:nvSpPr>
        <p:spPr>
          <a:xfrm>
            <a:off x="7048500" y="3667125"/>
            <a:ext cx="428625" cy="266700"/>
          </a:xfrm>
          <a:prstGeom prst="rightArrow">
            <a:avLst/>
          </a:prstGeom>
          <a:solidFill>
            <a:srgbClr val="0EA5A4"/>
          </a:solidFill>
          <a:ln w="0">
            <a:solidFill>
              <a:srgbClr val="0EA5A4"/>
            </a:solidFill>
            <a:prstDash val="solid"/>
          </a:ln>
        </p:spPr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DD0C1B8-7DCF-4F32-BB59-CA192EA8B100}"/>
              </a:ext>
            </a:extLst>
          </p:cNvPr>
          <p:cNvSpPr>
            <a:spLocks noGrp="1"/>
          </p:cNvSpPr>
          <p:nvPr/>
        </p:nvSpPr>
        <p:spPr>
          <a:xfrm>
            <a:off x="7810500" y="3286125"/>
            <a:ext cx="2286000" cy="1047750"/>
          </a:xfrm>
          <a:prstGeom prst="roundRect">
            <a:avLst>
              <a:gd name="adj" fmla="val 7273"/>
            </a:avLst>
          </a:prstGeom>
          <a:solidFill>
            <a:srgbClr val="0EA5A4"/>
          </a:solidFill>
          <a:ln w="9525">
            <a:solidFill>
              <a:srgbClr val="0EA5A4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稳定行走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A7C67D4-1FEC-4DAA-A4D5-F6618718985D}"/>
              </a:ext>
            </a:extLst>
          </p:cNvPr>
          <p:cNvSpPr>
            <a:spLocks noGrp="1"/>
          </p:cNvSpPr>
          <p:nvPr/>
        </p:nvSpPr>
        <p:spPr>
          <a:xfrm>
            <a:off x="1143000" y="5095875"/>
            <a:ext cx="990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0EA5A4"/>
                </a:solidFill>
              </a:defRPr>
            </a:pPr>
            <a:r>
              <a:rPr sz="1350" b="1">
                <a:solidFill>
                  <a:srgbClr val="0EA5A4"/>
                </a:solidFill>
              </a:rPr>
              <a:t>应用方向的共同目标：让感知结果真正转化为稳定动作。</a:t>
            </a:r>
          </a:p>
        </p:txBody>
      </p:sp>
    </p:spTree>
    <p:extLst>
      <p:ext uri="{BB962C8B-B14F-4D97-AF65-F5344CB8AC3E}">
        <p14:creationId xmlns:p14="http://schemas.microsoft.com/office/powerpoint/2010/main" val="259997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DA7B44E-C058-4047-8C78-7F7F946F2CD5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2228850" cy="304800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第二部分 · 研究重心与方向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5876026-40CF-4CBE-B644-FEAAAD0274EC}"/>
              </a:ext>
            </a:extLst>
          </p:cNvPr>
          <p:cNvSpPr>
            <a:spLocks noGrp="1"/>
          </p:cNvSpPr>
          <p:nvPr/>
        </p:nvSpPr>
        <p:spPr>
          <a:xfrm>
            <a:off x="647700" y="781050"/>
            <a:ext cx="1085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应用三 · 手眼协调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736F8D3-9C13-4869-A496-ECF9D369CFA4}"/>
              </a:ext>
            </a:extLst>
          </p:cNvPr>
          <p:cNvSpPr>
            <a:spLocks noGrp="1"/>
          </p:cNvSpPr>
          <p:nvPr/>
        </p:nvSpPr>
        <p:spPr>
          <a:xfrm>
            <a:off x="647700" y="1257300"/>
            <a:ext cx="1085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眼睛看到的，实时修正手的动作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7B680B59-1B34-4E6C-8D7B-1AFAB4E501EB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10896600" cy="9525"/>
          </a:xfrm>
          <a:prstGeom prst="line">
            <a:avLst/>
          </a:prstGeom>
          <a:noFill/>
          <a:ln w="9525">
            <a:solidFill>
              <a:srgbClr val="D8E0E8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FE446B-E369-4578-AF1F-700C04180587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781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16 / 30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6EA192F-4EC7-4DEA-910E-7CA7A732428C}"/>
              </a:ext>
            </a:extLst>
          </p:cNvPr>
          <p:cNvSpPr>
            <a:spLocks noGrp="1"/>
          </p:cNvSpPr>
          <p:nvPr/>
        </p:nvSpPr>
        <p:spPr>
          <a:xfrm>
            <a:off x="952500" y="2143125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让视觉反馈持续修正动作误差。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279DC1F-7F78-4F03-9C16-E08B159A6F4E}"/>
              </a:ext>
            </a:extLst>
          </p:cNvPr>
          <p:cNvSpPr>
            <a:spLocks noGrp="1"/>
          </p:cNvSpPr>
          <p:nvPr/>
        </p:nvSpPr>
        <p:spPr>
          <a:xfrm>
            <a:off x="1143000" y="3286125"/>
            <a:ext cx="2286000" cy="1047750"/>
          </a:xfrm>
          <a:prstGeom prst="roundRect">
            <a:avLst>
              <a:gd name="adj" fmla="val 7273"/>
            </a:avLst>
          </a:prstGeom>
          <a:solidFill>
            <a:srgbClr val="EFF6FF"/>
          </a:solidFill>
          <a:ln w="9525">
            <a:solidFill>
              <a:srgbClr val="F59E0B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123A7A"/>
                </a:solidFill>
              </a:defRPr>
            </a:pPr>
            <a:r>
              <a:rPr sz="1425" b="1">
                <a:solidFill>
                  <a:srgbClr val="123A7A"/>
                </a:solidFill>
              </a:rPr>
              <a:t>视觉反馈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DF8CC339-0497-4EFC-9A4F-1E8465055A5B}"/>
              </a:ext>
            </a:extLst>
          </p:cNvPr>
          <p:cNvSpPr>
            <a:spLocks noGrp="1"/>
          </p:cNvSpPr>
          <p:nvPr/>
        </p:nvSpPr>
        <p:spPr>
          <a:xfrm>
            <a:off x="3714750" y="3667125"/>
            <a:ext cx="428625" cy="266700"/>
          </a:xfrm>
          <a:prstGeom prst="rightArrow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26ADCC0-DDAA-41E0-BB52-B5ED7FF247ED}"/>
              </a:ext>
            </a:extLst>
          </p:cNvPr>
          <p:cNvSpPr>
            <a:spLocks noGrp="1"/>
          </p:cNvSpPr>
          <p:nvPr/>
        </p:nvSpPr>
        <p:spPr>
          <a:xfrm>
            <a:off x="4476750" y="3286125"/>
            <a:ext cx="2286000" cy="104775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9525">
            <a:solidFill>
              <a:srgbClr val="D8E0E8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344454"/>
                </a:solidFill>
              </a:defRPr>
            </a:pPr>
            <a:r>
              <a:rPr sz="1425" b="1">
                <a:solidFill>
                  <a:srgbClr val="344454"/>
                </a:solidFill>
              </a:rPr>
              <a:t>误差判断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FC60E03B-6A6A-40FE-9593-2E2699ACEA2A}"/>
              </a:ext>
            </a:extLst>
          </p:cNvPr>
          <p:cNvSpPr>
            <a:spLocks noGrp="1"/>
          </p:cNvSpPr>
          <p:nvPr/>
        </p:nvSpPr>
        <p:spPr>
          <a:xfrm>
            <a:off x="7048500" y="3667125"/>
            <a:ext cx="428625" cy="266700"/>
          </a:xfrm>
          <a:prstGeom prst="rightArrow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F4D314F-F542-4EF7-B88C-75DF238E6038}"/>
              </a:ext>
            </a:extLst>
          </p:cNvPr>
          <p:cNvSpPr>
            <a:spLocks noGrp="1"/>
          </p:cNvSpPr>
          <p:nvPr/>
        </p:nvSpPr>
        <p:spPr>
          <a:xfrm>
            <a:off x="7810500" y="3286125"/>
            <a:ext cx="2286000" cy="1047750"/>
          </a:xfrm>
          <a:prstGeom prst="roundRect">
            <a:avLst>
              <a:gd name="adj" fmla="val 7273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动作修正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C670B12-BFA7-45D2-B384-781A0B27856A}"/>
              </a:ext>
            </a:extLst>
          </p:cNvPr>
          <p:cNvSpPr>
            <a:spLocks noGrp="1"/>
          </p:cNvSpPr>
          <p:nvPr/>
        </p:nvSpPr>
        <p:spPr>
          <a:xfrm>
            <a:off x="1143000" y="5095875"/>
            <a:ext cx="990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F59E0B"/>
                </a:solidFill>
              </a:defRPr>
            </a:pPr>
            <a:r>
              <a:rPr sz="1350" b="1">
                <a:solidFill>
                  <a:srgbClr val="F59E0B"/>
                </a:solidFill>
              </a:rPr>
              <a:t>应用方向的共同目标：让感知结果真正转化为稳定动作。</a:t>
            </a:r>
          </a:p>
        </p:txBody>
      </p:sp>
    </p:spTree>
    <p:extLst>
      <p:ext uri="{BB962C8B-B14F-4D97-AF65-F5344CB8AC3E}">
        <p14:creationId xmlns:p14="http://schemas.microsoft.com/office/powerpoint/2010/main" val="16518422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43D0EA5-4D07-4617-B173-5E44DEF94F0C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2800350" cy="3048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第三部分 · 认识 K1 与开发工具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939B2F9-117F-4C0F-A34C-5B2EFC906AAA}"/>
              </a:ext>
            </a:extLst>
          </p:cNvPr>
          <p:cNvSpPr>
            <a:spLocks noGrp="1"/>
          </p:cNvSpPr>
          <p:nvPr/>
        </p:nvSpPr>
        <p:spPr>
          <a:xfrm>
            <a:off x="647700" y="781050"/>
            <a:ext cx="1085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回到我们手边的这台 K1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ACE1E2-81AB-473C-AC36-61C99BF60FBE}"/>
              </a:ext>
            </a:extLst>
          </p:cNvPr>
          <p:cNvSpPr>
            <a:spLocks noGrp="1"/>
          </p:cNvSpPr>
          <p:nvPr/>
        </p:nvSpPr>
        <p:spPr>
          <a:xfrm>
            <a:off x="647700" y="1257300"/>
            <a:ext cx="1085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它到底由什么组成？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521B9BA2-D027-45C1-9537-3FBEC04F4FF5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10896600" cy="9525"/>
          </a:xfrm>
          <a:prstGeom prst="line">
            <a:avLst/>
          </a:prstGeom>
          <a:noFill/>
          <a:ln w="9525">
            <a:solidFill>
              <a:srgbClr val="D8E0E8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C583ECB-48C1-4D7B-8C24-E949FA7DE8AE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781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17 / 30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D08A832-2AF8-4485-9960-7D6EBD55A507}"/>
              </a:ext>
            </a:extLst>
          </p:cNvPr>
          <p:cNvSpPr>
            <a:spLocks noGrp="1"/>
          </p:cNvSpPr>
          <p:nvPr/>
        </p:nvSpPr>
        <p:spPr>
          <a:xfrm>
            <a:off x="1047750" y="2571750"/>
            <a:ext cx="61912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17212B"/>
                </a:solidFill>
              </a:defRPr>
            </a:pPr>
            <a:r>
              <a:rPr sz="2100" b="1">
                <a:solidFill>
                  <a:srgbClr val="17212B"/>
                </a:solidFill>
              </a:rPr>
              <a:t>前面认识了“智能”与“研究方向”。</a:t>
            </a:r>
          </a:p>
          <a:p>
            <a:pPr algn="l">
              <a:defRPr sz="2100" b="1">
                <a:solidFill>
                  <a:srgbClr val="17212B"/>
                </a:solidFill>
              </a:defRPr>
            </a:pPr>
            <a:r>
              <a:rPr sz="2100" b="1">
                <a:solidFill>
                  <a:srgbClr val="17212B"/>
                </a:solidFill>
              </a:rPr>
              <a:t>现在回到一台真实的人形机器人：K1。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98A3E8A-7FD6-4EB0-AECA-865BF3ABC0A5}"/>
              </a:ext>
            </a:extLst>
          </p:cNvPr>
          <p:cNvSpPr>
            <a:spLocks noGrp="1"/>
          </p:cNvSpPr>
          <p:nvPr/>
        </p:nvSpPr>
        <p:spPr>
          <a:xfrm>
            <a:off x="1047750" y="4476750"/>
            <a:ext cx="5524500" cy="685800"/>
          </a:xfrm>
          <a:prstGeom prst="roundRect">
            <a:avLst>
              <a:gd name="adj" fmla="val 11111"/>
            </a:avLst>
          </a:prstGeom>
          <a:solidFill>
            <a:srgbClr val="FFF7E6"/>
          </a:solidFill>
          <a:ln w="9525">
            <a:solidFill>
              <a:srgbClr val="F59E0B"/>
            </a:solidFill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344454"/>
                </a:solidFill>
              </a:defRPr>
            </a:pPr>
            <a:r>
              <a:rPr sz="1650" b="1">
                <a:solidFill>
                  <a:srgbClr val="344454"/>
                </a:solidFill>
              </a:rPr>
              <a:t>它的身体由哪些系统组成？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4EC8AF9-98A3-4ECE-B184-E0D9C0F6DF07}"/>
              </a:ext>
            </a:extLst>
          </p:cNvPr>
          <p:cNvSpPr>
            <a:spLocks noGrp="1"/>
          </p:cNvSpPr>
          <p:nvPr/>
        </p:nvSpPr>
        <p:spPr>
          <a:xfrm>
            <a:off x="8286750" y="2476500"/>
            <a:ext cx="1714500" cy="76200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K1</a:t>
            </a:r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5EA53C88-2BD2-4644-B688-E22BD2BDF6F9}"/>
              </a:ext>
            </a:extLst>
          </p:cNvPr>
          <p:cNvSpPr>
            <a:spLocks noGrp="1"/>
          </p:cNvSpPr>
          <p:nvPr/>
        </p:nvSpPr>
        <p:spPr>
          <a:xfrm>
            <a:off x="9144000" y="3238500"/>
            <a:ext cx="9525" cy="476250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31D60DD-C973-482F-BA0F-238F58400552}"/>
              </a:ext>
            </a:extLst>
          </p:cNvPr>
          <p:cNvSpPr>
            <a:spLocks noGrp="1"/>
          </p:cNvSpPr>
          <p:nvPr/>
        </p:nvSpPr>
        <p:spPr>
          <a:xfrm>
            <a:off x="7810500" y="3905250"/>
            <a:ext cx="1238250" cy="495300"/>
          </a:xfrm>
          <a:prstGeom prst="roundRect">
            <a:avLst>
              <a:gd name="adj" fmla="val 15385"/>
            </a:avLst>
          </a:prstGeom>
          <a:solidFill>
            <a:srgbClr val="CCFBF1"/>
          </a:solidFill>
          <a:ln w="9525">
            <a:solidFill>
              <a:srgbClr val="0EA5A4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0EA5A4"/>
                </a:solidFill>
              </a:defRPr>
            </a:pPr>
            <a:r>
              <a:rPr sz="1350" b="1">
                <a:solidFill>
                  <a:srgbClr val="0EA5A4"/>
                </a:solidFill>
              </a:rPr>
              <a:t>感知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ACEBA0D-D773-42C8-9C7B-88F2573308F7}"/>
              </a:ext>
            </a:extLst>
          </p:cNvPr>
          <p:cNvSpPr>
            <a:spLocks noGrp="1"/>
          </p:cNvSpPr>
          <p:nvPr/>
        </p:nvSpPr>
        <p:spPr>
          <a:xfrm>
            <a:off x="9239250" y="3905250"/>
            <a:ext cx="1238250" cy="495300"/>
          </a:xfrm>
          <a:prstGeom prst="roundRect">
            <a:avLst>
              <a:gd name="adj" fmla="val 15385"/>
            </a:avLst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计算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9D7FF7B-2287-452C-9727-E23CCB0ED862}"/>
              </a:ext>
            </a:extLst>
          </p:cNvPr>
          <p:cNvSpPr>
            <a:spLocks noGrp="1"/>
          </p:cNvSpPr>
          <p:nvPr/>
        </p:nvSpPr>
        <p:spPr>
          <a:xfrm>
            <a:off x="7810500" y="4619625"/>
            <a:ext cx="1238250" cy="495300"/>
          </a:xfrm>
          <a:prstGeom prst="roundRect">
            <a:avLst>
              <a:gd name="adj" fmla="val 15385"/>
            </a:avLst>
          </a:prstGeom>
          <a:solidFill>
            <a:srgbClr val="FFF7E6"/>
          </a:solidFill>
          <a:ln w="9525">
            <a:solidFill>
              <a:srgbClr val="F59E0B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59E0B"/>
                </a:solidFill>
              </a:defRPr>
            </a:pPr>
            <a:r>
              <a:rPr sz="1350" b="1">
                <a:solidFill>
                  <a:srgbClr val="F59E0B"/>
                </a:solidFill>
              </a:rPr>
              <a:t>运动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B8C57EB-B0F1-4BC2-A410-9CC3ED58629B}"/>
              </a:ext>
            </a:extLst>
          </p:cNvPr>
          <p:cNvSpPr>
            <a:spLocks noGrp="1"/>
          </p:cNvSpPr>
          <p:nvPr/>
        </p:nvSpPr>
        <p:spPr>
          <a:xfrm>
            <a:off x="9239250" y="4619625"/>
            <a:ext cx="1238250" cy="495300"/>
          </a:xfrm>
          <a:prstGeom prst="roundRect">
            <a:avLst>
              <a:gd name="adj" fmla="val 15385"/>
            </a:avLst>
          </a:prstGeom>
          <a:solidFill>
            <a:srgbClr val="FFF1F2"/>
          </a:solidFill>
          <a:ln w="9525">
            <a:solidFill>
              <a:srgbClr val="E5484D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E5484D"/>
                </a:solidFill>
              </a:defRPr>
            </a:pPr>
            <a:r>
              <a:rPr sz="1350" b="1">
                <a:solidFill>
                  <a:srgbClr val="E5484D"/>
                </a:solidFill>
              </a:rPr>
              <a:t>电源</a:t>
            </a:r>
          </a:p>
        </p:txBody>
      </p:sp>
    </p:spTree>
    <p:extLst>
      <p:ext uri="{BB962C8B-B14F-4D97-AF65-F5344CB8AC3E}">
        <p14:creationId xmlns:p14="http://schemas.microsoft.com/office/powerpoint/2010/main" val="14372120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FD5D829-3182-49CF-B813-99FC467E8A99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2800350" cy="3048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第三部分 · 认识 K1 与开发工具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CF6C405-7775-435A-9751-096563412A1F}"/>
              </a:ext>
            </a:extLst>
          </p:cNvPr>
          <p:cNvSpPr>
            <a:spLocks noGrp="1"/>
          </p:cNvSpPr>
          <p:nvPr/>
        </p:nvSpPr>
        <p:spPr>
          <a:xfrm>
            <a:off x="647700" y="781050"/>
            <a:ext cx="1085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人形机器人的系统组成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6E6AA8B-6968-49F3-AA40-C85E3B650952}"/>
              </a:ext>
            </a:extLst>
          </p:cNvPr>
          <p:cNvSpPr>
            <a:spLocks noGrp="1"/>
          </p:cNvSpPr>
          <p:nvPr/>
        </p:nvSpPr>
        <p:spPr>
          <a:xfrm>
            <a:off x="647700" y="1257300"/>
            <a:ext cx="1085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感知、计算、运动、电源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03CA3BC8-7192-4693-83D3-2EECE5A59E8B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10896600" cy="9525"/>
          </a:xfrm>
          <a:prstGeom prst="line">
            <a:avLst/>
          </a:prstGeom>
          <a:noFill/>
          <a:ln w="9525">
            <a:solidFill>
              <a:srgbClr val="D8E0E8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E42D57D-72EF-4EB2-AF3F-6674B08EEC56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781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18 / 30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2DC3DD7-D819-4F3E-80E8-6D79AF51366C}"/>
              </a:ext>
            </a:extLst>
          </p:cNvPr>
          <p:cNvSpPr>
            <a:spLocks noGrp="1"/>
          </p:cNvSpPr>
          <p:nvPr/>
        </p:nvSpPr>
        <p:spPr>
          <a:xfrm>
            <a:off x="4905375" y="2095500"/>
            <a:ext cx="2381250" cy="590550"/>
          </a:xfrm>
          <a:prstGeom prst="roundRect">
            <a:avLst>
              <a:gd name="adj" fmla="val 12903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K1 人形机器人</a:t>
            </a:r>
          </a:p>
        </p:txBody>
      </p:sp>
      <p:sp>
        <p:nvSpPr>
          <p:cNvPr id="7" name="直接连接符 6">
            <a:extLst>
              <a:ext uri="{FF2B5EF4-FFF2-40B4-BE49-F238E27FC236}">
                <a16:creationId xmlns:a16="http://schemas.microsoft.com/office/drawing/2014/main" id="{63AB7E88-146F-4751-BA66-4BAEE8D1BA4A}"/>
              </a:ext>
            </a:extLst>
          </p:cNvPr>
          <p:cNvSpPr>
            <a:spLocks noGrp="1"/>
          </p:cNvSpPr>
          <p:nvPr/>
        </p:nvSpPr>
        <p:spPr>
          <a:xfrm flipH="1">
            <a:off x="1884947" y="2686050"/>
            <a:ext cx="4211053" cy="1028700"/>
          </a:xfrm>
          <a:prstGeom prst="line">
            <a:avLst/>
          </a:prstGeom>
          <a:noFill/>
          <a:ln w="28575">
            <a:solidFill>
              <a:srgbClr val="0EA5A4"/>
            </a:solidFill>
            <a:prstDash val="solid"/>
          </a:ln>
        </p:spPr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4F3B526-DC24-47E7-B1D9-9095A9D7EDA6}"/>
              </a:ext>
            </a:extLst>
          </p:cNvPr>
          <p:cNvSpPr>
            <a:spLocks noGrp="1"/>
          </p:cNvSpPr>
          <p:nvPr/>
        </p:nvSpPr>
        <p:spPr>
          <a:xfrm>
            <a:off x="952500" y="3714750"/>
            <a:ext cx="2000250" cy="1190625"/>
          </a:xfrm>
          <a:prstGeom prst="roundRect">
            <a:avLst>
              <a:gd name="adj" fmla="val 6400"/>
            </a:avLst>
          </a:prstGeom>
          <a:solidFill>
            <a:srgbClr val="CCFBF1"/>
          </a:solidFill>
          <a:ln w="9525">
            <a:solidFill>
              <a:srgbClr val="0EA5A4"/>
            </a:solidFill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感知子系统</a:t>
            </a:r>
          </a:p>
          <a:p>
            <a:pPr algn="ctr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相机 · IMU</a:t>
            </a:r>
          </a:p>
          <a:p>
            <a:pPr algn="ctr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获取环境与姿态信息</a:t>
            </a:r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301C52E0-AE3A-45B0-85DD-9C029C6B8B93}"/>
              </a:ext>
            </a:extLst>
          </p:cNvPr>
          <p:cNvSpPr>
            <a:spLocks noGrp="1"/>
          </p:cNvSpPr>
          <p:nvPr/>
        </p:nvSpPr>
        <p:spPr>
          <a:xfrm flipH="1">
            <a:off x="4820652" y="2686048"/>
            <a:ext cx="1275347" cy="1028701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D44E736-3472-4BEA-91C3-5EBFBE9ACB8D}"/>
              </a:ext>
            </a:extLst>
          </p:cNvPr>
          <p:cNvSpPr>
            <a:spLocks noGrp="1"/>
          </p:cNvSpPr>
          <p:nvPr/>
        </p:nvSpPr>
        <p:spPr>
          <a:xfrm>
            <a:off x="3810000" y="3714750"/>
            <a:ext cx="2000250" cy="1190625"/>
          </a:xfrm>
          <a:prstGeom prst="roundRect">
            <a:avLst>
              <a:gd name="adj" fmla="val 6400"/>
            </a:avLst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计算子系统</a:t>
            </a:r>
          </a:p>
          <a:p>
            <a:pPr algn="ctr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机载算力</a:t>
            </a:r>
          </a:p>
          <a:p>
            <a:pPr algn="ctr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处理数据与任务逻辑</a:t>
            </a: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69053BBC-4912-4625-8862-CE5DA673E89D}"/>
              </a:ext>
            </a:extLst>
          </p:cNvPr>
          <p:cNvSpPr>
            <a:spLocks noGrp="1"/>
          </p:cNvSpPr>
          <p:nvPr/>
        </p:nvSpPr>
        <p:spPr>
          <a:xfrm>
            <a:off x="6096000" y="2686050"/>
            <a:ext cx="1571625" cy="1028700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6B491AA-D0F0-42D4-84CD-43533DDCBA7A}"/>
              </a:ext>
            </a:extLst>
          </p:cNvPr>
          <p:cNvSpPr>
            <a:spLocks noGrp="1"/>
          </p:cNvSpPr>
          <p:nvPr/>
        </p:nvSpPr>
        <p:spPr>
          <a:xfrm>
            <a:off x="6667500" y="3714750"/>
            <a:ext cx="2000250" cy="1190625"/>
          </a:xfrm>
          <a:prstGeom prst="roundRect">
            <a:avLst>
              <a:gd name="adj" fmla="val 6400"/>
            </a:avLst>
          </a:prstGeom>
          <a:solidFill>
            <a:srgbClr val="FFF7E6"/>
          </a:solidFill>
          <a:ln w="9525">
            <a:solidFill>
              <a:srgbClr val="F59E0B"/>
            </a:solidFill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运动子系统</a:t>
            </a:r>
          </a:p>
          <a:p>
            <a:pPr algn="ctr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关节 · 电机</a:t>
            </a:r>
          </a:p>
          <a:p>
            <a:pPr algn="ctr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把指令变成动作</a:t>
            </a:r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CF19056A-82BC-4C24-A4BD-2FBCEABF65F2}"/>
              </a:ext>
            </a:extLst>
          </p:cNvPr>
          <p:cNvSpPr>
            <a:spLocks noGrp="1"/>
          </p:cNvSpPr>
          <p:nvPr/>
        </p:nvSpPr>
        <p:spPr>
          <a:xfrm>
            <a:off x="6096000" y="2686050"/>
            <a:ext cx="4429125" cy="1028700"/>
          </a:xfrm>
          <a:prstGeom prst="line">
            <a:avLst/>
          </a:prstGeom>
          <a:noFill/>
          <a:ln w="28575">
            <a:solidFill>
              <a:srgbClr val="E5484D"/>
            </a:solidFill>
            <a:prstDash val="solid"/>
          </a:ln>
        </p:spPr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3A3E976-B2F4-43AA-A536-EA1723477E1A}"/>
              </a:ext>
            </a:extLst>
          </p:cNvPr>
          <p:cNvSpPr>
            <a:spLocks noGrp="1"/>
          </p:cNvSpPr>
          <p:nvPr/>
        </p:nvSpPr>
        <p:spPr>
          <a:xfrm>
            <a:off x="9525000" y="3714750"/>
            <a:ext cx="2000250" cy="1190625"/>
          </a:xfrm>
          <a:prstGeom prst="roundRect">
            <a:avLst>
              <a:gd name="adj" fmla="val 6400"/>
            </a:avLst>
          </a:prstGeom>
          <a:solidFill>
            <a:srgbClr val="FFF1F2"/>
          </a:solidFill>
          <a:ln w="9525">
            <a:solidFill>
              <a:srgbClr val="E5484D"/>
            </a:solidFill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电源子系统</a:t>
            </a:r>
          </a:p>
          <a:p>
            <a:pPr algn="ctr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电池 · 供电</a:t>
            </a:r>
          </a:p>
          <a:p>
            <a:pPr algn="ctr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让系统持续运行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55B87C1-F0B6-423F-AB9E-E16DC10401E5}"/>
              </a:ext>
            </a:extLst>
          </p:cNvPr>
          <p:cNvSpPr>
            <a:spLocks noGrp="1"/>
          </p:cNvSpPr>
          <p:nvPr/>
        </p:nvSpPr>
        <p:spPr>
          <a:xfrm>
            <a:off x="1047750" y="5572125"/>
            <a:ext cx="1009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四个子系统协同，才形成完整的感知—决策—行动链路。</a:t>
            </a:r>
          </a:p>
        </p:txBody>
      </p:sp>
    </p:spTree>
    <p:extLst>
      <p:ext uri="{BB962C8B-B14F-4D97-AF65-F5344CB8AC3E}">
        <p14:creationId xmlns:p14="http://schemas.microsoft.com/office/powerpoint/2010/main" val="20801819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FF2F7E1-E0B9-4F34-ACCA-ACD2ACE44AC7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2800350" cy="3048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第三部分 · 认识 K1 与开发工具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0F3B057-2132-4ADB-B33B-F30AC3975FAE}"/>
              </a:ext>
            </a:extLst>
          </p:cNvPr>
          <p:cNvSpPr>
            <a:spLocks noGrp="1"/>
          </p:cNvSpPr>
          <p:nvPr/>
        </p:nvSpPr>
        <p:spPr>
          <a:xfrm>
            <a:off x="647700" y="781050"/>
            <a:ext cx="1085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走近 K1（一）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D663CE2-E32B-4923-A6D2-F7E948A837EB}"/>
              </a:ext>
            </a:extLst>
          </p:cNvPr>
          <p:cNvSpPr>
            <a:spLocks noGrp="1"/>
          </p:cNvSpPr>
          <p:nvPr/>
        </p:nvSpPr>
        <p:spPr>
          <a:xfrm>
            <a:off x="647700" y="1257300"/>
            <a:ext cx="1085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外观、硬件与“身体参数”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7B053E14-F9DE-4736-BE1D-84C70E2CC022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10896600" cy="9525"/>
          </a:xfrm>
          <a:prstGeom prst="line">
            <a:avLst/>
          </a:prstGeom>
          <a:noFill/>
          <a:ln w="9525">
            <a:solidFill>
              <a:srgbClr val="D8E0E8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D95DCD6-0BE6-42FA-B41D-162DE1721403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781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19 / 30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365DB5A-39D8-40FA-817C-BD6002E00D91}"/>
              </a:ext>
            </a:extLst>
          </p:cNvPr>
          <p:cNvSpPr>
            <a:spLocks noGrp="1"/>
          </p:cNvSpPr>
          <p:nvPr/>
        </p:nvSpPr>
        <p:spPr>
          <a:xfrm>
            <a:off x="7239000" y="2095500"/>
            <a:ext cx="3333750" cy="3143250"/>
          </a:xfrm>
          <a:prstGeom prst="roundRect">
            <a:avLst>
              <a:gd name="adj" fmla="val 2424"/>
            </a:avLst>
          </a:prstGeom>
          <a:solidFill>
            <a:srgbClr val="EFF6FF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82993F3-90E8-4372-8FD2-D29921F2BA85}"/>
              </a:ext>
            </a:extLst>
          </p:cNvPr>
          <p:cNvSpPr>
            <a:spLocks noGrp="1"/>
          </p:cNvSpPr>
          <p:nvPr/>
        </p:nvSpPr>
        <p:spPr>
          <a:xfrm>
            <a:off x="7239000" y="5162550"/>
            <a:ext cx="333375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4E68DAD-C150-4549-9CEA-43A200A684A2}"/>
              </a:ext>
            </a:extLst>
          </p:cNvPr>
          <p:cNvSpPr>
            <a:spLocks noGrp="1"/>
          </p:cNvSpPr>
          <p:nvPr/>
        </p:nvSpPr>
        <p:spPr>
          <a:xfrm>
            <a:off x="7467600" y="3305175"/>
            <a:ext cx="28765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23A7A"/>
                </a:solidFill>
              </a:defRPr>
            </a:pPr>
            <a:r>
              <a:rPr sz="1350" b="1">
                <a:solidFill>
                  <a:srgbClr val="123A7A"/>
                </a:solidFill>
              </a:rPr>
              <a:t>K1 全身实拍</a:t>
            </a:r>
          </a:p>
          <a:p>
            <a:pPr algn="ctr">
              <a:defRPr sz="1350" b="1">
                <a:solidFill>
                  <a:srgbClr val="123A7A"/>
                </a:solidFill>
              </a:defRPr>
            </a:pPr>
            <a:r>
              <a:rPr sz="1350" b="1">
                <a:solidFill>
                  <a:srgbClr val="123A7A"/>
                </a:solidFill>
              </a:rPr>
              <a:t>建议替换为公司产品图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92751A-95E4-44F2-97D8-6721FC22875E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533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17212B"/>
                </a:solidFill>
              </a:defRPr>
            </a:pPr>
            <a:r>
              <a:rPr sz="1950" b="1">
                <a:solidFill>
                  <a:srgbClr val="17212B"/>
                </a:solidFill>
              </a:rPr>
              <a:t>Booster Robot 公司的人形机器人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A96340A-121D-460C-B929-CF696D5B006C}"/>
              </a:ext>
            </a:extLst>
          </p:cNvPr>
          <p:cNvSpPr>
            <a:spLocks noGrp="1"/>
          </p:cNvSpPr>
          <p:nvPr/>
        </p:nvSpPr>
        <p:spPr>
          <a:xfrm>
            <a:off x="1143000" y="3067050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92D537-DB22-48CA-9678-B8BEC3B82ACB}"/>
              </a:ext>
            </a:extLst>
          </p:cNvPr>
          <p:cNvSpPr>
            <a:spLocks noGrp="1"/>
          </p:cNvSpPr>
          <p:nvPr/>
        </p:nvSpPr>
        <p:spPr>
          <a:xfrm>
            <a:off x="1390650" y="3000375"/>
            <a:ext cx="5181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344454"/>
                </a:solidFill>
              </a:defRPr>
            </a:pPr>
            <a:r>
              <a:rPr sz="1500" b="0">
                <a:solidFill>
                  <a:srgbClr val="344454"/>
                </a:solidFill>
              </a:rPr>
              <a:t>约 1.3 m 级人形机器人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16CE45A5-18B2-424C-B6A3-8A37B8CA4A30}"/>
              </a:ext>
            </a:extLst>
          </p:cNvPr>
          <p:cNvSpPr>
            <a:spLocks noGrp="1"/>
          </p:cNvSpPr>
          <p:nvPr/>
        </p:nvSpPr>
        <p:spPr>
          <a:xfrm>
            <a:off x="1143000" y="3467100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9128AFC-B9D4-4E1D-A4C4-FD329C36D77D}"/>
              </a:ext>
            </a:extLst>
          </p:cNvPr>
          <p:cNvSpPr>
            <a:spLocks noGrp="1"/>
          </p:cNvSpPr>
          <p:nvPr/>
        </p:nvSpPr>
        <p:spPr>
          <a:xfrm>
            <a:off x="1390650" y="3400425"/>
            <a:ext cx="5181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344454"/>
                </a:solidFill>
              </a:defRPr>
            </a:pPr>
            <a:r>
              <a:rPr sz="1500" b="0">
                <a:solidFill>
                  <a:srgbClr val="344454"/>
                </a:solidFill>
              </a:rPr>
              <a:t>22 个关节自由度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1C587003-BAE6-4D79-85A7-A5391EB8B9B9}"/>
              </a:ext>
            </a:extLst>
          </p:cNvPr>
          <p:cNvSpPr>
            <a:spLocks noGrp="1"/>
          </p:cNvSpPr>
          <p:nvPr/>
        </p:nvSpPr>
        <p:spPr>
          <a:xfrm>
            <a:off x="1143000" y="3867150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2FEB20A-2C11-417D-8FCD-6C0AB766AAB8}"/>
              </a:ext>
            </a:extLst>
          </p:cNvPr>
          <p:cNvSpPr>
            <a:spLocks noGrp="1"/>
          </p:cNvSpPr>
          <p:nvPr/>
        </p:nvSpPr>
        <p:spPr>
          <a:xfrm>
            <a:off x="1390650" y="3800475"/>
            <a:ext cx="5181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344454"/>
                </a:solidFill>
              </a:defRPr>
            </a:pPr>
            <a:r>
              <a:rPr sz="1500" b="0">
                <a:solidFill>
                  <a:srgbClr val="344454"/>
                </a:solidFill>
              </a:rPr>
              <a:t>头部相机、IMU 等传感器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951E82F3-919F-4267-8687-F0BE9F3E4D82}"/>
              </a:ext>
            </a:extLst>
          </p:cNvPr>
          <p:cNvSpPr>
            <a:spLocks noGrp="1"/>
          </p:cNvSpPr>
          <p:nvPr/>
        </p:nvSpPr>
        <p:spPr>
          <a:xfrm>
            <a:off x="1143000" y="4267200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DEC7431-ECBB-4233-891F-1BBD294832FE}"/>
              </a:ext>
            </a:extLst>
          </p:cNvPr>
          <p:cNvSpPr>
            <a:spLocks noGrp="1"/>
          </p:cNvSpPr>
          <p:nvPr/>
        </p:nvSpPr>
        <p:spPr>
          <a:xfrm>
            <a:off x="1390650" y="4200525"/>
            <a:ext cx="5181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344454"/>
                </a:solidFill>
              </a:defRPr>
            </a:pPr>
            <a:r>
              <a:rPr sz="1500" b="0">
                <a:solidFill>
                  <a:srgbClr val="344454"/>
                </a:solidFill>
              </a:rPr>
              <a:t>有芯片、有操作系统 BoosterOS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FB23063F-69B3-42DD-90F7-F8E6715DA722}"/>
              </a:ext>
            </a:extLst>
          </p:cNvPr>
          <p:cNvSpPr>
            <a:spLocks noGrp="1"/>
          </p:cNvSpPr>
          <p:nvPr/>
        </p:nvSpPr>
        <p:spPr>
          <a:xfrm>
            <a:off x="952500" y="4762500"/>
            <a:ext cx="5334000" cy="781050"/>
          </a:xfrm>
          <a:prstGeom prst="roundRect">
            <a:avLst>
              <a:gd name="adj" fmla="val 9756"/>
            </a:avLst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23A7A"/>
                </a:solidFill>
              </a:defRPr>
            </a:pPr>
            <a:r>
              <a:rPr sz="1350" b="1">
                <a:solidFill>
                  <a:srgbClr val="123A7A"/>
                </a:solidFill>
              </a:rPr>
              <a:t>身体参数不是“背诵题”</a:t>
            </a:r>
          </a:p>
          <a:p>
            <a:pPr algn="l">
              <a:defRPr sz="1350" b="1">
                <a:solidFill>
                  <a:srgbClr val="123A7A"/>
                </a:solidFill>
              </a:defRPr>
            </a:pPr>
            <a:r>
              <a:rPr sz="1350" b="1">
                <a:solidFill>
                  <a:srgbClr val="123A7A"/>
                </a:solidFill>
              </a:rPr>
              <a:t>它们决定了程序可以读取和控制什么。</a:t>
            </a:r>
          </a:p>
        </p:txBody>
      </p:sp>
    </p:spTree>
    <p:extLst>
      <p:ext uri="{BB962C8B-B14F-4D97-AF65-F5344CB8AC3E}">
        <p14:creationId xmlns:p14="http://schemas.microsoft.com/office/powerpoint/2010/main" val="10184840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ACA0652-D6E2-4730-A38C-BE6F38CAFCC8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2800350" cy="3048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第三部分 · 认识 K1 与开发工具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B9BD657-4DCF-42F8-B9B6-0BD3DA080703}"/>
              </a:ext>
            </a:extLst>
          </p:cNvPr>
          <p:cNvSpPr>
            <a:spLocks noGrp="1"/>
          </p:cNvSpPr>
          <p:nvPr/>
        </p:nvSpPr>
        <p:spPr>
          <a:xfrm>
            <a:off x="647700" y="781050"/>
            <a:ext cx="1085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走近 K1（二）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B0A899-005F-453A-9BA5-9B9A4E3E0559}"/>
              </a:ext>
            </a:extLst>
          </p:cNvPr>
          <p:cNvSpPr>
            <a:spLocks noGrp="1"/>
          </p:cNvSpPr>
          <p:nvPr/>
        </p:nvSpPr>
        <p:spPr>
          <a:xfrm>
            <a:off x="647700" y="1257300"/>
            <a:ext cx="1085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它能做什么，我们能对它做什么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11CD84FC-571E-4A4B-B80F-7C2A02EB462A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10896600" cy="9525"/>
          </a:xfrm>
          <a:prstGeom prst="line">
            <a:avLst/>
          </a:prstGeom>
          <a:noFill/>
          <a:ln w="9525">
            <a:solidFill>
              <a:srgbClr val="D8E0E8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ED72F7A-67E3-47E4-A599-EEC275BCA1B2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781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20 / 30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E11A56C-17BB-4A61-9C6C-22BE713C8E1E}"/>
              </a:ext>
            </a:extLst>
          </p:cNvPr>
          <p:cNvSpPr>
            <a:spLocks noGrp="1"/>
          </p:cNvSpPr>
          <p:nvPr/>
        </p:nvSpPr>
        <p:spPr>
          <a:xfrm>
            <a:off x="952500" y="2238375"/>
            <a:ext cx="5238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17212B"/>
                </a:solidFill>
              </a:defRPr>
            </a:pPr>
            <a:r>
              <a:rPr sz="2100" b="1">
                <a:solidFill>
                  <a:srgbClr val="17212B"/>
                </a:solidFill>
              </a:rPr>
              <a:t>今天的任务是“只读认识”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080D0AB-416F-4A90-923A-26E820A473F6}"/>
              </a:ext>
            </a:extLst>
          </p:cNvPr>
          <p:cNvSpPr>
            <a:spLocks noGrp="1"/>
          </p:cNvSpPr>
          <p:nvPr/>
        </p:nvSpPr>
        <p:spPr>
          <a:xfrm>
            <a:off x="1143000" y="3190875"/>
            <a:ext cx="1143000" cy="495300"/>
          </a:xfrm>
          <a:prstGeom prst="roundRect">
            <a:avLst>
              <a:gd name="adj" fmla="val 15385"/>
            </a:avLst>
          </a:prstGeom>
          <a:solidFill>
            <a:srgbClr val="EFF6FF"/>
          </a:solidFill>
          <a:ln w="9525">
            <a:solidFill>
              <a:srgbClr val="D8E0E8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连接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BEBE539-5E6F-4DEF-9EB1-7D6B6A0F0CA6}"/>
              </a:ext>
            </a:extLst>
          </p:cNvPr>
          <p:cNvSpPr>
            <a:spLocks noGrp="1"/>
          </p:cNvSpPr>
          <p:nvPr/>
        </p:nvSpPr>
        <p:spPr>
          <a:xfrm>
            <a:off x="2619375" y="3286125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344454"/>
                </a:solidFill>
              </a:defRPr>
            </a:pPr>
            <a:r>
              <a:rPr sz="1425" b="0">
                <a:solidFill>
                  <a:srgbClr val="344454"/>
                </a:solidFill>
              </a:rPr>
              <a:t>让电脑找到这台 K1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CC7F5CA-F265-4C85-9F25-FE349FE20D98}"/>
              </a:ext>
            </a:extLst>
          </p:cNvPr>
          <p:cNvSpPr>
            <a:spLocks noGrp="1"/>
          </p:cNvSpPr>
          <p:nvPr/>
        </p:nvSpPr>
        <p:spPr>
          <a:xfrm>
            <a:off x="1143000" y="3933825"/>
            <a:ext cx="1143000" cy="495300"/>
          </a:xfrm>
          <a:prstGeom prst="roundRect">
            <a:avLst>
              <a:gd name="adj" fmla="val 15385"/>
            </a:avLst>
          </a:prstGeom>
          <a:solidFill>
            <a:srgbClr val="CCFBF1"/>
          </a:solidFill>
          <a:ln w="9525">
            <a:solidFill>
              <a:srgbClr val="D8E0E8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读取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96081CB-0A66-41B6-A0E2-C9C98C18BAB6}"/>
              </a:ext>
            </a:extLst>
          </p:cNvPr>
          <p:cNvSpPr>
            <a:spLocks noGrp="1"/>
          </p:cNvSpPr>
          <p:nvPr/>
        </p:nvSpPr>
        <p:spPr>
          <a:xfrm>
            <a:off x="2619375" y="4029075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344454"/>
                </a:solidFill>
              </a:defRPr>
            </a:pPr>
            <a:r>
              <a:rPr sz="1425" b="0">
                <a:solidFill>
                  <a:srgbClr val="344454"/>
                </a:solidFill>
              </a:rPr>
              <a:t>查看身份、关节、动作与状态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E3B6FD5-958F-4A9E-93FE-F31E76F3E84D}"/>
              </a:ext>
            </a:extLst>
          </p:cNvPr>
          <p:cNvSpPr>
            <a:spLocks noGrp="1"/>
          </p:cNvSpPr>
          <p:nvPr/>
        </p:nvSpPr>
        <p:spPr>
          <a:xfrm>
            <a:off x="1143000" y="4676775"/>
            <a:ext cx="1143000" cy="495300"/>
          </a:xfrm>
          <a:prstGeom prst="roundRect">
            <a:avLst>
              <a:gd name="adj" fmla="val 15385"/>
            </a:avLst>
          </a:prstGeom>
          <a:solidFill>
            <a:srgbClr val="FFF7E6"/>
          </a:solidFill>
          <a:ln w="9525">
            <a:solidFill>
              <a:srgbClr val="D8E0E8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理解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870BFF9-DA9C-4E35-BDDA-23992C80E5E9}"/>
              </a:ext>
            </a:extLst>
          </p:cNvPr>
          <p:cNvSpPr>
            <a:spLocks noGrp="1"/>
          </p:cNvSpPr>
          <p:nvPr/>
        </p:nvSpPr>
        <p:spPr>
          <a:xfrm>
            <a:off x="2619375" y="4772025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344454"/>
                </a:solidFill>
              </a:defRPr>
            </a:pPr>
            <a:r>
              <a:rPr sz="1425" b="0">
                <a:solidFill>
                  <a:srgbClr val="344454"/>
                </a:solidFill>
              </a:rPr>
              <a:t>把返回数据和机器人身体对应起来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EB456D8-6503-4A33-A1E4-753E832D3B6C}"/>
              </a:ext>
            </a:extLst>
          </p:cNvPr>
          <p:cNvSpPr>
            <a:spLocks noGrp="1"/>
          </p:cNvSpPr>
          <p:nvPr/>
        </p:nvSpPr>
        <p:spPr>
          <a:xfrm>
            <a:off x="7239000" y="2857500"/>
            <a:ext cx="3333750" cy="1619250"/>
          </a:xfrm>
          <a:prstGeom prst="roundRect">
            <a:avLst>
              <a:gd name="adj" fmla="val 4706"/>
            </a:avLst>
          </a:prstGeom>
          <a:solidFill>
            <a:srgbClr val="FFF1F2"/>
          </a:solidFill>
          <a:ln w="9525">
            <a:solidFill>
              <a:srgbClr val="E5484D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E5484D"/>
                </a:solidFill>
              </a:defRPr>
            </a:pPr>
            <a:r>
              <a:rPr sz="1500" b="1">
                <a:solidFill>
                  <a:srgbClr val="E5484D"/>
                </a:solidFill>
              </a:rPr>
              <a:t>本课不下发运动指令</a:t>
            </a:r>
          </a:p>
          <a:p>
            <a:pPr algn="ctr">
              <a:defRPr sz="1500" b="1">
                <a:solidFill>
                  <a:srgbClr val="E5484D"/>
                </a:solidFill>
              </a:defRPr>
            </a:pPr>
            <a:r>
              <a:rPr sz="1500" b="1">
                <a:solidFill>
                  <a:srgbClr val="E5484D"/>
                </a:solidFill>
              </a:rPr>
              <a:t>先建立“我连的是谁、我读到了什么”的工程习惯。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6C884DF-949F-4587-96CD-D9F76B48467A}"/>
              </a:ext>
            </a:extLst>
          </p:cNvPr>
          <p:cNvSpPr>
            <a:spLocks noGrp="1"/>
          </p:cNvSpPr>
          <p:nvPr/>
        </p:nvSpPr>
        <p:spPr>
          <a:xfrm>
            <a:off x="7239000" y="495300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E5484D"/>
                </a:solidFill>
              </a:defRPr>
            </a:pPr>
            <a:r>
              <a:rPr sz="1650" b="1">
                <a:solidFill>
                  <a:srgbClr val="E5484D"/>
                </a:solidFill>
              </a:rPr>
              <a:t>看清楚，再动手。</a:t>
            </a:r>
          </a:p>
        </p:txBody>
      </p:sp>
    </p:spTree>
    <p:extLst>
      <p:ext uri="{BB962C8B-B14F-4D97-AF65-F5344CB8AC3E}">
        <p14:creationId xmlns:p14="http://schemas.microsoft.com/office/powerpoint/2010/main" val="18424551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59EB095-2E8E-452A-ADE1-13EAD1D20522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2800350" cy="3048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第三部分 · 认识 K1 与开发工具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E519CDC-9258-4BB8-BAAB-C59E419229AA}"/>
              </a:ext>
            </a:extLst>
          </p:cNvPr>
          <p:cNvSpPr>
            <a:spLocks noGrp="1"/>
          </p:cNvSpPr>
          <p:nvPr/>
        </p:nvSpPr>
        <p:spPr>
          <a:xfrm>
            <a:off x="647700" y="781050"/>
            <a:ext cx="1085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怎么用一行代码让它“听话”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DEFFC1D-8814-4A39-BC33-A3A3F0B3CA60}"/>
              </a:ext>
            </a:extLst>
          </p:cNvPr>
          <p:cNvSpPr>
            <a:spLocks noGrp="1"/>
          </p:cNvSpPr>
          <p:nvPr/>
        </p:nvSpPr>
        <p:spPr>
          <a:xfrm>
            <a:off x="647700" y="1257300"/>
            <a:ext cx="1085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从手动到程序控制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B2DCCF31-7896-46F2-8271-613F51EFF0B6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10896600" cy="9525"/>
          </a:xfrm>
          <a:prstGeom prst="line">
            <a:avLst/>
          </a:prstGeom>
          <a:noFill/>
          <a:ln w="9525">
            <a:solidFill>
              <a:srgbClr val="D8E0E8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8EDA5C0-E1A0-4283-AE91-A1C5DFAC94FA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781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21 / 30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D91359F-A8CC-4A88-A216-00F04506E1AF}"/>
              </a:ext>
            </a:extLst>
          </p:cNvPr>
          <p:cNvSpPr>
            <a:spLocks noGrp="1"/>
          </p:cNvSpPr>
          <p:nvPr/>
        </p:nvSpPr>
        <p:spPr>
          <a:xfrm>
            <a:off x="1143000" y="2428875"/>
            <a:ext cx="990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100" b="1">
                <a:solidFill>
                  <a:srgbClr val="17212B"/>
                </a:solidFill>
              </a:defRPr>
            </a:pPr>
            <a:r>
              <a:rPr sz="2100" b="1">
                <a:solidFill>
                  <a:srgbClr val="17212B"/>
                </a:solidFill>
              </a:rPr>
              <a:t>看完了“身体”，下一步是找到程序入口。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70C1177-AB55-4F59-944C-2AF9C660B5BE}"/>
              </a:ext>
            </a:extLst>
          </p:cNvPr>
          <p:cNvSpPr>
            <a:spLocks noGrp="1"/>
          </p:cNvSpPr>
          <p:nvPr/>
        </p:nvSpPr>
        <p:spPr>
          <a:xfrm>
            <a:off x="1619250" y="3714750"/>
            <a:ext cx="2190750" cy="723900"/>
          </a:xfrm>
          <a:prstGeom prst="roundRect">
            <a:avLst>
              <a:gd name="adj" fmla="val 10526"/>
            </a:avLst>
          </a:prstGeom>
          <a:solidFill>
            <a:srgbClr val="F4F6F9"/>
          </a:solidFill>
          <a:ln w="9525">
            <a:solidFill>
              <a:srgbClr val="D8E0E8"/>
            </a:solidFill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344454"/>
                </a:solidFill>
              </a:defRPr>
            </a:pPr>
            <a:r>
              <a:rPr sz="1725" b="1">
                <a:solidFill>
                  <a:srgbClr val="344454"/>
                </a:solidFill>
              </a:rPr>
              <a:t>人手操作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B4CA0686-FAEA-40AE-A14D-473D882F8078}"/>
              </a:ext>
            </a:extLst>
          </p:cNvPr>
          <p:cNvSpPr>
            <a:spLocks noGrp="1"/>
          </p:cNvSpPr>
          <p:nvPr/>
        </p:nvSpPr>
        <p:spPr>
          <a:xfrm>
            <a:off x="4191000" y="3943350"/>
            <a:ext cx="762000" cy="266700"/>
          </a:xfrm>
          <a:prstGeom prst="rightArrow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EF06E522-F753-4DB8-BC9C-8C009E2ACB2C}"/>
              </a:ext>
            </a:extLst>
          </p:cNvPr>
          <p:cNvSpPr>
            <a:spLocks noGrp="1"/>
          </p:cNvSpPr>
          <p:nvPr/>
        </p:nvSpPr>
        <p:spPr>
          <a:xfrm>
            <a:off x="5143500" y="3714750"/>
            <a:ext cx="2190750" cy="723900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程序接口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93346DF0-9917-45FA-A495-D93EB93842EE}"/>
              </a:ext>
            </a:extLst>
          </p:cNvPr>
          <p:cNvSpPr>
            <a:spLocks noGrp="1"/>
          </p:cNvSpPr>
          <p:nvPr/>
        </p:nvSpPr>
        <p:spPr>
          <a:xfrm>
            <a:off x="7715250" y="3943350"/>
            <a:ext cx="762000" cy="266700"/>
          </a:xfrm>
          <a:prstGeom prst="rightArrow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F562C1D-25CD-45F0-BDD1-FFCFADC3A179}"/>
              </a:ext>
            </a:extLst>
          </p:cNvPr>
          <p:cNvSpPr>
            <a:spLocks noGrp="1"/>
          </p:cNvSpPr>
          <p:nvPr/>
        </p:nvSpPr>
        <p:spPr>
          <a:xfrm>
            <a:off x="8572500" y="3714750"/>
            <a:ext cx="2190750" cy="723900"/>
          </a:xfrm>
          <a:prstGeom prst="roundRect">
            <a:avLst>
              <a:gd name="adj" fmla="val 10526"/>
            </a:avLst>
          </a:prstGeom>
          <a:solidFill>
            <a:srgbClr val="CCFBF1"/>
          </a:solidFill>
          <a:ln w="9525">
            <a:solidFill>
              <a:srgbClr val="0EA5A4"/>
            </a:solidFill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0EA5A4"/>
                </a:solidFill>
              </a:defRPr>
            </a:pPr>
            <a:r>
              <a:rPr sz="1725" b="1">
                <a:solidFill>
                  <a:srgbClr val="0EA5A4"/>
                </a:solidFill>
              </a:rPr>
              <a:t>机器人行动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A890860-CD7C-46E9-90C8-58CA1DE55C14}"/>
              </a:ext>
            </a:extLst>
          </p:cNvPr>
          <p:cNvSpPr>
            <a:spLocks noGrp="1"/>
          </p:cNvSpPr>
          <p:nvPr/>
        </p:nvSpPr>
        <p:spPr>
          <a:xfrm>
            <a:off x="1428750" y="509587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SDK 把复杂的通信与设备能力，整理成可以调用的程序接口。</a:t>
            </a:r>
          </a:p>
        </p:txBody>
      </p:sp>
    </p:spTree>
    <p:extLst>
      <p:ext uri="{BB962C8B-B14F-4D97-AF65-F5344CB8AC3E}">
        <p14:creationId xmlns:p14="http://schemas.microsoft.com/office/powerpoint/2010/main" val="18583036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C059DC4-6295-455E-B403-8EE736E56B39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2800350" cy="3048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第三部分 · 认识 K1 与开发工具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A9162E6-92B1-492F-BAC3-5771A88681A0}"/>
              </a:ext>
            </a:extLst>
          </p:cNvPr>
          <p:cNvSpPr>
            <a:spLocks noGrp="1"/>
          </p:cNvSpPr>
          <p:nvPr/>
        </p:nvSpPr>
        <p:spPr>
          <a:xfrm>
            <a:off x="647700" y="781050"/>
            <a:ext cx="1085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SDK 是什么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70156BE-D7E3-4C8B-B316-AEF4B5E0786E}"/>
              </a:ext>
            </a:extLst>
          </p:cNvPr>
          <p:cNvSpPr>
            <a:spLocks noGrp="1"/>
          </p:cNvSpPr>
          <p:nvPr/>
        </p:nvSpPr>
        <p:spPr>
          <a:xfrm>
            <a:off x="647700" y="1257300"/>
            <a:ext cx="1085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操作机器人的“说明书 + 钥匙”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337E2A29-87DC-4D71-B96F-6E295235F7B2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10896600" cy="9525"/>
          </a:xfrm>
          <a:prstGeom prst="line">
            <a:avLst/>
          </a:prstGeom>
          <a:noFill/>
          <a:ln w="9525">
            <a:solidFill>
              <a:srgbClr val="D8E0E8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D7E5C89-1CCC-4696-B3DF-09EC8F771920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781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22 / 30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C99E9FE-87DA-4BB9-B1D0-A412ECAC1409}"/>
              </a:ext>
            </a:extLst>
          </p:cNvPr>
          <p:cNvSpPr>
            <a:spLocks noGrp="1"/>
          </p:cNvSpPr>
          <p:nvPr/>
        </p:nvSpPr>
        <p:spPr>
          <a:xfrm>
            <a:off x="4810125" y="2095500"/>
            <a:ext cx="2571750" cy="685800"/>
          </a:xfrm>
          <a:prstGeom prst="roundRect">
            <a:avLst>
              <a:gd name="adj" fmla="val 11111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BoosterRobot</a:t>
            </a:r>
          </a:p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统一入口</a:t>
            </a:r>
          </a:p>
        </p:txBody>
      </p:sp>
      <p:sp>
        <p:nvSpPr>
          <p:cNvPr id="7" name="箭头: 下 6">
            <a:extLst>
              <a:ext uri="{FF2B5EF4-FFF2-40B4-BE49-F238E27FC236}">
                <a16:creationId xmlns:a16="http://schemas.microsoft.com/office/drawing/2014/main" id="{37BE75D0-69DC-400B-9D03-37497AA59F7C}"/>
              </a:ext>
            </a:extLst>
          </p:cNvPr>
          <p:cNvSpPr>
            <a:spLocks noGrp="1"/>
          </p:cNvSpPr>
          <p:nvPr/>
        </p:nvSpPr>
        <p:spPr>
          <a:xfrm>
            <a:off x="5953125" y="2905125"/>
            <a:ext cx="266700" cy="523875"/>
          </a:xfrm>
          <a:prstGeom prst="downArrow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F146127-62D4-4E43-A19A-AC7B6A4CA901}"/>
              </a:ext>
            </a:extLst>
          </p:cNvPr>
          <p:cNvSpPr>
            <a:spLocks noGrp="1"/>
          </p:cNvSpPr>
          <p:nvPr/>
        </p:nvSpPr>
        <p:spPr>
          <a:xfrm>
            <a:off x="1143000" y="3714750"/>
            <a:ext cx="2476500" cy="9525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robot_info</a:t>
            </a:r>
          </a:p>
          <a:p>
            <a:pPr algn="ctr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读身份</a:t>
            </a:r>
          </a:p>
        </p:txBody>
      </p:sp>
      <p:sp>
        <p:nvSpPr>
          <p:cNvPr id="9" name="箭头: 下 8">
            <a:extLst>
              <a:ext uri="{FF2B5EF4-FFF2-40B4-BE49-F238E27FC236}">
                <a16:creationId xmlns:a16="http://schemas.microsoft.com/office/drawing/2014/main" id="{E241BEE8-CE1D-4651-9A1E-74AD49A08CA0}"/>
              </a:ext>
            </a:extLst>
          </p:cNvPr>
          <p:cNvSpPr>
            <a:spLocks noGrp="1"/>
          </p:cNvSpPr>
          <p:nvPr/>
        </p:nvSpPr>
        <p:spPr>
          <a:xfrm>
            <a:off x="5953125" y="2905125"/>
            <a:ext cx="266700" cy="523875"/>
          </a:xfrm>
          <a:prstGeom prst="downArrow">
            <a:avLst/>
          </a:prstGeom>
          <a:solidFill>
            <a:srgbClr val="0EA5A4"/>
          </a:solidFill>
          <a:ln w="0">
            <a:solidFill>
              <a:srgbClr val="0EA5A4"/>
            </a:solidFill>
            <a:prstDash val="solid"/>
          </a:ln>
        </p:spPr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0B9A58D-59D1-4308-A8B8-6F936519DBC7}"/>
              </a:ext>
            </a:extLst>
          </p:cNvPr>
          <p:cNvSpPr>
            <a:spLocks noGrp="1"/>
          </p:cNvSpPr>
          <p:nvPr/>
        </p:nvSpPr>
        <p:spPr>
          <a:xfrm>
            <a:off x="4857750" y="3714750"/>
            <a:ext cx="2476500" cy="952500"/>
          </a:xfrm>
          <a:prstGeom prst="roundRect">
            <a:avLst>
              <a:gd name="adj" fmla="val 8000"/>
            </a:avLst>
          </a:prstGeom>
          <a:solidFill>
            <a:srgbClr val="CCFBF1"/>
          </a:solidFill>
          <a:ln w="9525">
            <a:solidFill>
              <a:srgbClr val="0EA5A4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list_joints()</a:t>
            </a:r>
          </a:p>
          <a:p>
            <a:pPr algn="ctr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读身体清单</a:t>
            </a:r>
          </a:p>
        </p:txBody>
      </p:sp>
      <p:sp>
        <p:nvSpPr>
          <p:cNvPr id="11" name="箭头: 下 10">
            <a:extLst>
              <a:ext uri="{FF2B5EF4-FFF2-40B4-BE49-F238E27FC236}">
                <a16:creationId xmlns:a16="http://schemas.microsoft.com/office/drawing/2014/main" id="{598E6AAC-9680-4BD1-889B-5548949ABF21}"/>
              </a:ext>
            </a:extLst>
          </p:cNvPr>
          <p:cNvSpPr>
            <a:spLocks noGrp="1"/>
          </p:cNvSpPr>
          <p:nvPr/>
        </p:nvSpPr>
        <p:spPr>
          <a:xfrm>
            <a:off x="5953125" y="2905125"/>
            <a:ext cx="266700" cy="523875"/>
          </a:xfrm>
          <a:prstGeom prst="downArrow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EE8CD34-666E-4CE7-AA98-299012DB7793}"/>
              </a:ext>
            </a:extLst>
          </p:cNvPr>
          <p:cNvSpPr>
            <a:spLocks noGrp="1"/>
          </p:cNvSpPr>
          <p:nvPr/>
        </p:nvSpPr>
        <p:spPr>
          <a:xfrm>
            <a:off x="8572500" y="3714750"/>
            <a:ext cx="2476500" cy="952500"/>
          </a:xfrm>
          <a:prstGeom prst="roundRect">
            <a:avLst>
              <a:gd name="adj" fmla="val 8000"/>
            </a:avLst>
          </a:prstGeom>
          <a:solidFill>
            <a:srgbClr val="FFF7E6"/>
          </a:solidFill>
          <a:ln w="9525">
            <a:solidFill>
              <a:srgbClr val="F59E0B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list_actions()</a:t>
            </a:r>
          </a:p>
          <a:p>
            <a:pPr algn="ctr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读动作库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51A58D0-63E6-4917-A79A-BF41C811FB9D}"/>
              </a:ext>
            </a:extLst>
          </p:cNvPr>
          <p:cNvSpPr>
            <a:spLocks noGrp="1"/>
          </p:cNvSpPr>
          <p:nvPr/>
        </p:nvSpPr>
        <p:spPr>
          <a:xfrm>
            <a:off x="1047750" y="5286375"/>
            <a:ext cx="1009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先通过统一入口读取信息，再决定下一步怎么开发。</a:t>
            </a:r>
          </a:p>
        </p:txBody>
      </p:sp>
    </p:spTree>
    <p:extLst>
      <p:ext uri="{BB962C8B-B14F-4D97-AF65-F5344CB8AC3E}">
        <p14:creationId xmlns:p14="http://schemas.microsoft.com/office/powerpoint/2010/main" val="15923135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352E7FED-042B-4381-B28E-720226B97671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2800350" cy="3048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第三部分 · 认识 K1 与开发工具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418C8BC-9940-486D-9B39-D14AC482609A}"/>
              </a:ext>
            </a:extLst>
          </p:cNvPr>
          <p:cNvSpPr>
            <a:spLocks noGrp="1"/>
          </p:cNvSpPr>
          <p:nvPr/>
        </p:nvSpPr>
        <p:spPr>
          <a:xfrm>
            <a:off x="647700" y="781050"/>
            <a:ext cx="1085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K1 与电脑怎么连上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0FD2C22-3633-4106-82C1-3C3EE5CDDC32}"/>
              </a:ext>
            </a:extLst>
          </p:cNvPr>
          <p:cNvSpPr>
            <a:spLocks noGrp="1"/>
          </p:cNvSpPr>
          <p:nvPr/>
        </p:nvSpPr>
        <p:spPr>
          <a:xfrm>
            <a:off x="647700" y="1257300"/>
            <a:ext cx="1085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无线 / 有线两种方式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9D6520DA-6879-45A3-9F54-B0E9E8B1845E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10896600" cy="9525"/>
          </a:xfrm>
          <a:prstGeom prst="line">
            <a:avLst/>
          </a:prstGeom>
          <a:noFill/>
          <a:ln w="9525">
            <a:solidFill>
              <a:srgbClr val="D8E0E8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B75C99B-99B8-4724-897A-A16967ABCB03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781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23 / 30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7B3CC08-0F14-485E-B07F-38611E247CFA}"/>
              </a:ext>
            </a:extLst>
          </p:cNvPr>
          <p:cNvSpPr>
            <a:spLocks noGrp="1"/>
          </p:cNvSpPr>
          <p:nvPr/>
        </p:nvSpPr>
        <p:spPr>
          <a:xfrm>
            <a:off x="904875" y="2095500"/>
            <a:ext cx="4476750" cy="45720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无线方式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9BD6D84-913D-4C4D-97D3-F16193417DC8}"/>
              </a:ext>
            </a:extLst>
          </p:cNvPr>
          <p:cNvSpPr>
            <a:spLocks noGrp="1"/>
          </p:cNvSpPr>
          <p:nvPr/>
        </p:nvSpPr>
        <p:spPr>
          <a:xfrm>
            <a:off x="1143000" y="2857500"/>
            <a:ext cx="361950" cy="3619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C937074-54E5-456F-A7F3-2AFCC490EEF2}"/>
              </a:ext>
            </a:extLst>
          </p:cNvPr>
          <p:cNvSpPr>
            <a:spLocks noGrp="1"/>
          </p:cNvSpPr>
          <p:nvPr/>
        </p:nvSpPr>
        <p:spPr>
          <a:xfrm>
            <a:off x="1666875" y="2838450"/>
            <a:ext cx="32861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Booster APP 配网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5C337B9-CC09-4DCD-8C6E-27B5832449D8}"/>
              </a:ext>
            </a:extLst>
          </p:cNvPr>
          <p:cNvSpPr>
            <a:spLocks noGrp="1"/>
          </p:cNvSpPr>
          <p:nvPr/>
        </p:nvSpPr>
        <p:spPr>
          <a:xfrm>
            <a:off x="1666875" y="3095625"/>
            <a:ext cx="3286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6B7785"/>
                </a:solidFill>
              </a:defRPr>
            </a:pPr>
            <a:r>
              <a:rPr sz="1125" b="0">
                <a:solidFill>
                  <a:srgbClr val="6B7785"/>
                </a:solidFill>
              </a:rPr>
              <a:t>让 K1 接入网络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0931DAF6-146D-4CD9-B2F0-35A25361497D}"/>
              </a:ext>
            </a:extLst>
          </p:cNvPr>
          <p:cNvSpPr>
            <a:spLocks noGrp="1"/>
          </p:cNvSpPr>
          <p:nvPr/>
        </p:nvSpPr>
        <p:spPr>
          <a:xfrm>
            <a:off x="1143000" y="3714750"/>
            <a:ext cx="361950" cy="3619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C97D870-31C7-4230-83B4-1B0054A6527A}"/>
              </a:ext>
            </a:extLst>
          </p:cNvPr>
          <p:cNvSpPr>
            <a:spLocks noGrp="1"/>
          </p:cNvSpPr>
          <p:nvPr/>
        </p:nvSpPr>
        <p:spPr>
          <a:xfrm>
            <a:off x="1666875" y="3695700"/>
            <a:ext cx="32861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获取 IP / 序列号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C99878C-6DA9-4BC7-990E-81F39EB365BB}"/>
              </a:ext>
            </a:extLst>
          </p:cNvPr>
          <p:cNvSpPr>
            <a:spLocks noGrp="1"/>
          </p:cNvSpPr>
          <p:nvPr/>
        </p:nvSpPr>
        <p:spPr>
          <a:xfrm>
            <a:off x="1666875" y="3952875"/>
            <a:ext cx="3286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6B7785"/>
                </a:solidFill>
              </a:defRPr>
            </a:pPr>
            <a:r>
              <a:rPr sz="1125" b="0">
                <a:solidFill>
                  <a:srgbClr val="6B7785"/>
                </a:solidFill>
              </a:rPr>
              <a:t>确认连接目标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FC37E2EC-611F-4247-9711-11819A241C8C}"/>
              </a:ext>
            </a:extLst>
          </p:cNvPr>
          <p:cNvSpPr>
            <a:spLocks noGrp="1"/>
          </p:cNvSpPr>
          <p:nvPr/>
        </p:nvSpPr>
        <p:spPr>
          <a:xfrm>
            <a:off x="1143000" y="4572000"/>
            <a:ext cx="361950" cy="3619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6FD0902-13DF-4C21-92CC-A74B1E348D37}"/>
              </a:ext>
            </a:extLst>
          </p:cNvPr>
          <p:cNvSpPr>
            <a:spLocks noGrp="1"/>
          </p:cNvSpPr>
          <p:nvPr/>
        </p:nvSpPr>
        <p:spPr>
          <a:xfrm>
            <a:off x="1666875" y="4552950"/>
            <a:ext cx="32861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BoosterStudio 连接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983DFD3-9410-4CB3-98ED-F3696FEA5492}"/>
              </a:ext>
            </a:extLst>
          </p:cNvPr>
          <p:cNvSpPr>
            <a:spLocks noGrp="1"/>
          </p:cNvSpPr>
          <p:nvPr/>
        </p:nvSpPr>
        <p:spPr>
          <a:xfrm>
            <a:off x="1666875" y="4810125"/>
            <a:ext cx="3286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6B7785"/>
                </a:solidFill>
              </a:defRPr>
            </a:pPr>
            <a:r>
              <a:rPr sz="1125" b="0">
                <a:solidFill>
                  <a:srgbClr val="6B7785"/>
                </a:solidFill>
              </a:rPr>
              <a:t>查看状态；编程传文件走 SSH + IP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4CE3C37-D4C4-4FB7-8EB2-DDBECA7B786A}"/>
              </a:ext>
            </a:extLst>
          </p:cNvPr>
          <p:cNvSpPr>
            <a:spLocks noGrp="1"/>
          </p:cNvSpPr>
          <p:nvPr/>
        </p:nvSpPr>
        <p:spPr>
          <a:xfrm>
            <a:off x="6810375" y="2095500"/>
            <a:ext cx="4476750" cy="457200"/>
          </a:xfrm>
          <a:prstGeom prst="roundRect">
            <a:avLst>
              <a:gd name="adj" fmla="val 16667"/>
            </a:avLst>
          </a:prstGeom>
          <a:solidFill>
            <a:srgbClr val="0EA5A4"/>
          </a:solidFill>
          <a:ln w="9525">
            <a:solidFill>
              <a:srgbClr val="0EA5A4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有线方式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CD60AF32-196A-4054-BD2E-EAC5454C38DD}"/>
              </a:ext>
            </a:extLst>
          </p:cNvPr>
          <p:cNvSpPr>
            <a:spLocks noGrp="1"/>
          </p:cNvSpPr>
          <p:nvPr/>
        </p:nvSpPr>
        <p:spPr>
          <a:xfrm>
            <a:off x="7048500" y="2857500"/>
            <a:ext cx="361950" cy="361950"/>
          </a:xfrm>
          <a:prstGeom prst="ellipse">
            <a:avLst/>
          </a:prstGeom>
          <a:solidFill>
            <a:srgbClr val="0EA5A4"/>
          </a:solidFill>
          <a:ln w="9525">
            <a:solidFill>
              <a:srgbClr val="0EA5A4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14B1FE6-EED0-499D-ACFB-3CBB27B534AE}"/>
              </a:ext>
            </a:extLst>
          </p:cNvPr>
          <p:cNvSpPr>
            <a:spLocks noGrp="1"/>
          </p:cNvSpPr>
          <p:nvPr/>
        </p:nvSpPr>
        <p:spPr>
          <a:xfrm>
            <a:off x="7572375" y="2838450"/>
            <a:ext cx="32861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网线直连电脑与 K1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127B6A1-7EF9-4202-A3D2-4B0CB28BD795}"/>
              </a:ext>
            </a:extLst>
          </p:cNvPr>
          <p:cNvSpPr>
            <a:spLocks noGrp="1"/>
          </p:cNvSpPr>
          <p:nvPr/>
        </p:nvSpPr>
        <p:spPr>
          <a:xfrm>
            <a:off x="7572375" y="3095625"/>
            <a:ext cx="3286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6B7785"/>
                </a:solidFill>
              </a:defRPr>
            </a:pPr>
            <a:r>
              <a:rPr sz="1125" b="0">
                <a:solidFill>
                  <a:srgbClr val="6B7785"/>
                </a:solidFill>
              </a:rPr>
              <a:t>建立物理连接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28EC22F1-39C4-46AD-8456-912BAF261C09}"/>
              </a:ext>
            </a:extLst>
          </p:cNvPr>
          <p:cNvSpPr>
            <a:spLocks noGrp="1"/>
          </p:cNvSpPr>
          <p:nvPr/>
        </p:nvSpPr>
        <p:spPr>
          <a:xfrm>
            <a:off x="7048500" y="3714750"/>
            <a:ext cx="361950" cy="361950"/>
          </a:xfrm>
          <a:prstGeom prst="ellipse">
            <a:avLst/>
          </a:prstGeom>
          <a:solidFill>
            <a:srgbClr val="0EA5A4"/>
          </a:solidFill>
          <a:ln w="9525">
            <a:solidFill>
              <a:srgbClr val="0EA5A4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0AE9701-26BD-4832-84AB-C2D4FA2DB87B}"/>
              </a:ext>
            </a:extLst>
          </p:cNvPr>
          <p:cNvSpPr>
            <a:spLocks noGrp="1"/>
          </p:cNvSpPr>
          <p:nvPr/>
        </p:nvSpPr>
        <p:spPr>
          <a:xfrm>
            <a:off x="7572375" y="3695700"/>
            <a:ext cx="32861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修改电脑网络配置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C956742-171B-491E-B53D-E9580E9E6923}"/>
              </a:ext>
            </a:extLst>
          </p:cNvPr>
          <p:cNvSpPr>
            <a:spLocks noGrp="1"/>
          </p:cNvSpPr>
          <p:nvPr/>
        </p:nvSpPr>
        <p:spPr>
          <a:xfrm>
            <a:off x="7572375" y="3952875"/>
            <a:ext cx="3286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6B7785"/>
                </a:solidFill>
              </a:defRPr>
            </a:pPr>
            <a:r>
              <a:rPr sz="1125" b="0">
                <a:solidFill>
                  <a:srgbClr val="6B7785"/>
                </a:solidFill>
              </a:rPr>
              <a:t>让两端处于可通信网络</a:t>
            </a: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64F836C9-802A-4F76-AE17-E0F12305E2EC}"/>
              </a:ext>
            </a:extLst>
          </p:cNvPr>
          <p:cNvSpPr>
            <a:spLocks noGrp="1"/>
          </p:cNvSpPr>
          <p:nvPr/>
        </p:nvSpPr>
        <p:spPr>
          <a:xfrm>
            <a:off x="7048500" y="4572000"/>
            <a:ext cx="361950" cy="361950"/>
          </a:xfrm>
          <a:prstGeom prst="ellipse">
            <a:avLst/>
          </a:prstGeom>
          <a:solidFill>
            <a:srgbClr val="0EA5A4"/>
          </a:solidFill>
          <a:ln w="9525">
            <a:solidFill>
              <a:srgbClr val="0EA5A4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DB0F789-EA15-428C-9C46-D2A3F1F4B5D8}"/>
              </a:ext>
            </a:extLst>
          </p:cNvPr>
          <p:cNvSpPr>
            <a:spLocks noGrp="1"/>
          </p:cNvSpPr>
          <p:nvPr/>
        </p:nvSpPr>
        <p:spPr>
          <a:xfrm>
            <a:off x="7572375" y="4552950"/>
            <a:ext cx="32861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BoosterStudio 连接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6FE239A-9DFA-4D9B-B6DA-4ADC66AB731C}"/>
              </a:ext>
            </a:extLst>
          </p:cNvPr>
          <p:cNvSpPr>
            <a:spLocks noGrp="1"/>
          </p:cNvSpPr>
          <p:nvPr/>
        </p:nvSpPr>
        <p:spPr>
          <a:xfrm>
            <a:off x="7572375" y="4810125"/>
            <a:ext cx="3286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6B7785"/>
                </a:solidFill>
              </a:defRPr>
            </a:pPr>
            <a:r>
              <a:rPr sz="1125" b="0">
                <a:solidFill>
                  <a:srgbClr val="6B7785"/>
                </a:solidFill>
              </a:rPr>
              <a:t>查看状态并开始开发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623E1D4-090F-4095-A303-4F5EE519B40E}"/>
              </a:ext>
            </a:extLst>
          </p:cNvPr>
          <p:cNvSpPr>
            <a:spLocks noGrp="1"/>
          </p:cNvSpPr>
          <p:nvPr/>
        </p:nvSpPr>
        <p:spPr>
          <a:xfrm>
            <a:off x="952500" y="561975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K1 是实体机器人；电脑通过网络远程连接它，SSH 是编程通信方式。</a:t>
            </a:r>
          </a:p>
        </p:txBody>
      </p:sp>
    </p:spTree>
    <p:extLst>
      <p:ext uri="{BB962C8B-B14F-4D97-AF65-F5344CB8AC3E}">
        <p14:creationId xmlns:p14="http://schemas.microsoft.com/office/powerpoint/2010/main" val="8159301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F0A1A2F9-C3C9-4027-B231-5815C344F7DB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2228850" cy="3048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第四部分 · 动手连接与读取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2B674A1-81C9-45EC-91F4-39BBFA258E44}"/>
              </a:ext>
            </a:extLst>
          </p:cNvPr>
          <p:cNvSpPr>
            <a:spLocks noGrp="1"/>
          </p:cNvSpPr>
          <p:nvPr/>
        </p:nvSpPr>
        <p:spPr>
          <a:xfrm>
            <a:off x="647700" y="781050"/>
            <a:ext cx="1085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用 BoosterStudio 先连上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BA72D92-C15A-4631-AC3A-2079864B2C6A}"/>
              </a:ext>
            </a:extLst>
          </p:cNvPr>
          <p:cNvSpPr>
            <a:spLocks noGrp="1"/>
          </p:cNvSpPr>
          <p:nvPr/>
        </p:nvSpPr>
        <p:spPr>
          <a:xfrm>
            <a:off x="647700" y="1257300"/>
            <a:ext cx="1085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图形界面建立第一印象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8EFB9718-7C99-4D55-9214-CB2353C44F7C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10896600" cy="9525"/>
          </a:xfrm>
          <a:prstGeom prst="line">
            <a:avLst/>
          </a:prstGeom>
          <a:noFill/>
          <a:ln w="9525">
            <a:solidFill>
              <a:srgbClr val="D8E0E8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7AD3ED5-935D-45B4-A181-57FDC18ABE2D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781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24 / 30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79DAA4E4-C20E-487D-BF2F-636C59450D89}"/>
              </a:ext>
            </a:extLst>
          </p:cNvPr>
          <p:cNvSpPr>
            <a:spLocks noGrp="1"/>
          </p:cNvSpPr>
          <p:nvPr/>
        </p:nvSpPr>
        <p:spPr>
          <a:xfrm>
            <a:off x="1000125" y="2143125"/>
            <a:ext cx="361950" cy="3619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C0E4BF6-536A-408B-9806-2554B088A4BB}"/>
              </a:ext>
            </a:extLst>
          </p:cNvPr>
          <p:cNvSpPr>
            <a:spLocks noGrp="1"/>
          </p:cNvSpPr>
          <p:nvPr/>
        </p:nvSpPr>
        <p:spPr>
          <a:xfrm>
            <a:off x="1524000" y="2124075"/>
            <a:ext cx="42386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开机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20D335-ABEA-4F3E-A21D-13B67E117D1B}"/>
              </a:ext>
            </a:extLst>
          </p:cNvPr>
          <p:cNvSpPr>
            <a:spLocks noGrp="1"/>
          </p:cNvSpPr>
          <p:nvPr/>
        </p:nvSpPr>
        <p:spPr>
          <a:xfrm>
            <a:off x="1524000" y="2381250"/>
            <a:ext cx="4238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6B7785"/>
                </a:solidFill>
              </a:defRPr>
            </a:pPr>
            <a:r>
              <a:rPr sz="1125" b="0">
                <a:solidFill>
                  <a:srgbClr val="6B7785"/>
                </a:solidFill>
              </a:rPr>
              <a:t>K1 进入可连接状态</a:t>
            </a:r>
          </a:p>
        </p:txBody>
      </p:sp>
      <p:sp>
        <p:nvSpPr>
          <p:cNvPr id="9" name="箭头: 下 8">
            <a:extLst>
              <a:ext uri="{FF2B5EF4-FFF2-40B4-BE49-F238E27FC236}">
                <a16:creationId xmlns:a16="http://schemas.microsoft.com/office/drawing/2014/main" id="{D8BE4F15-F4DB-438F-B72C-348AD2EDE71F}"/>
              </a:ext>
            </a:extLst>
          </p:cNvPr>
          <p:cNvSpPr>
            <a:spLocks noGrp="1"/>
          </p:cNvSpPr>
          <p:nvPr/>
        </p:nvSpPr>
        <p:spPr>
          <a:xfrm>
            <a:off x="2857500" y="2524125"/>
            <a:ext cx="209550" cy="190500"/>
          </a:xfrm>
          <a:prstGeom prst="downArrow">
            <a:avLst/>
          </a:prstGeom>
          <a:solidFill>
            <a:srgbClr val="D8E0E8"/>
          </a:solidFill>
          <a:ln w="0">
            <a:solidFill>
              <a:srgbClr val="D8E0E8"/>
            </a:solidFill>
            <a:prstDash val="solid"/>
          </a:ln>
        </p:spPr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2EFA075-48EE-4371-9BF6-297329E1925C}"/>
              </a:ext>
            </a:extLst>
          </p:cNvPr>
          <p:cNvSpPr>
            <a:spLocks noGrp="1"/>
          </p:cNvSpPr>
          <p:nvPr/>
        </p:nvSpPr>
        <p:spPr>
          <a:xfrm>
            <a:off x="1000125" y="2771775"/>
            <a:ext cx="361950" cy="3619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8383AC-16D6-4B53-A24B-E981B31E918C}"/>
              </a:ext>
            </a:extLst>
          </p:cNvPr>
          <p:cNvSpPr>
            <a:spLocks noGrp="1"/>
          </p:cNvSpPr>
          <p:nvPr/>
        </p:nvSpPr>
        <p:spPr>
          <a:xfrm>
            <a:off x="1524000" y="2752725"/>
            <a:ext cx="42386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配网 / 接网线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3451871-F66D-4169-AC61-80EBB3A201B2}"/>
              </a:ext>
            </a:extLst>
          </p:cNvPr>
          <p:cNvSpPr>
            <a:spLocks noGrp="1"/>
          </p:cNvSpPr>
          <p:nvPr/>
        </p:nvSpPr>
        <p:spPr>
          <a:xfrm>
            <a:off x="1524000" y="3009900"/>
            <a:ext cx="4238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6B7785"/>
                </a:solidFill>
              </a:defRPr>
            </a:pPr>
            <a:r>
              <a:rPr sz="1125" b="0">
                <a:solidFill>
                  <a:srgbClr val="6B7785"/>
                </a:solidFill>
              </a:rPr>
              <a:t>选择无线或有线方式</a:t>
            </a:r>
          </a:p>
        </p:txBody>
      </p:sp>
      <p:sp>
        <p:nvSpPr>
          <p:cNvPr id="13" name="箭头: 下 12">
            <a:extLst>
              <a:ext uri="{FF2B5EF4-FFF2-40B4-BE49-F238E27FC236}">
                <a16:creationId xmlns:a16="http://schemas.microsoft.com/office/drawing/2014/main" id="{3EFC6D49-F6FC-4CB7-89AD-B061CBAB8D9C}"/>
              </a:ext>
            </a:extLst>
          </p:cNvPr>
          <p:cNvSpPr>
            <a:spLocks noGrp="1"/>
          </p:cNvSpPr>
          <p:nvPr/>
        </p:nvSpPr>
        <p:spPr>
          <a:xfrm>
            <a:off x="2857500" y="3152775"/>
            <a:ext cx="209550" cy="190500"/>
          </a:xfrm>
          <a:prstGeom prst="downArrow">
            <a:avLst/>
          </a:prstGeom>
          <a:solidFill>
            <a:srgbClr val="D8E0E8"/>
          </a:solidFill>
          <a:ln w="0">
            <a:solidFill>
              <a:srgbClr val="D8E0E8"/>
            </a:solidFill>
            <a:prstDash val="solid"/>
          </a:ln>
        </p:spPr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88E3977-5D39-41CE-9C83-50034936AF3D}"/>
              </a:ext>
            </a:extLst>
          </p:cNvPr>
          <p:cNvSpPr>
            <a:spLocks noGrp="1"/>
          </p:cNvSpPr>
          <p:nvPr/>
        </p:nvSpPr>
        <p:spPr>
          <a:xfrm>
            <a:off x="1000125" y="3400425"/>
            <a:ext cx="361950" cy="3619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D8DBF0C-C71F-4721-82D1-BA8F066384C7}"/>
              </a:ext>
            </a:extLst>
          </p:cNvPr>
          <p:cNvSpPr>
            <a:spLocks noGrp="1"/>
          </p:cNvSpPr>
          <p:nvPr/>
        </p:nvSpPr>
        <p:spPr>
          <a:xfrm>
            <a:off x="1524000" y="3381375"/>
            <a:ext cx="42386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查 IP / 序列号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3B8655A-124F-4FBD-8EE7-F96547906880}"/>
              </a:ext>
            </a:extLst>
          </p:cNvPr>
          <p:cNvSpPr>
            <a:spLocks noGrp="1"/>
          </p:cNvSpPr>
          <p:nvPr/>
        </p:nvSpPr>
        <p:spPr>
          <a:xfrm>
            <a:off x="1524000" y="3638550"/>
            <a:ext cx="4238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6B7785"/>
                </a:solidFill>
              </a:defRPr>
            </a:pPr>
            <a:r>
              <a:rPr sz="1125" b="0">
                <a:solidFill>
                  <a:srgbClr val="6B7785"/>
                </a:solidFill>
              </a:rPr>
              <a:t>核对自己的设备</a:t>
            </a:r>
          </a:p>
        </p:txBody>
      </p:sp>
      <p:sp>
        <p:nvSpPr>
          <p:cNvPr id="17" name="箭头: 下 16">
            <a:extLst>
              <a:ext uri="{FF2B5EF4-FFF2-40B4-BE49-F238E27FC236}">
                <a16:creationId xmlns:a16="http://schemas.microsoft.com/office/drawing/2014/main" id="{D2CC2F56-BA4B-44F2-A9E9-74592FE53328}"/>
              </a:ext>
            </a:extLst>
          </p:cNvPr>
          <p:cNvSpPr>
            <a:spLocks noGrp="1"/>
          </p:cNvSpPr>
          <p:nvPr/>
        </p:nvSpPr>
        <p:spPr>
          <a:xfrm>
            <a:off x="2857500" y="3781425"/>
            <a:ext cx="209550" cy="190500"/>
          </a:xfrm>
          <a:prstGeom prst="downArrow">
            <a:avLst/>
          </a:prstGeom>
          <a:solidFill>
            <a:srgbClr val="D8E0E8"/>
          </a:solidFill>
          <a:ln w="0">
            <a:solidFill>
              <a:srgbClr val="D8E0E8"/>
            </a:solidFill>
            <a:prstDash val="solid"/>
          </a:ln>
        </p:spPr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AF69DEDE-C86F-4CC9-99F2-AE6A0246042D}"/>
              </a:ext>
            </a:extLst>
          </p:cNvPr>
          <p:cNvSpPr>
            <a:spLocks noGrp="1"/>
          </p:cNvSpPr>
          <p:nvPr/>
        </p:nvSpPr>
        <p:spPr>
          <a:xfrm>
            <a:off x="1000125" y="4029075"/>
            <a:ext cx="361950" cy="3619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A4BC752-1568-4F1C-A0DD-BF2FE7102638}"/>
              </a:ext>
            </a:extLst>
          </p:cNvPr>
          <p:cNvSpPr>
            <a:spLocks noGrp="1"/>
          </p:cNvSpPr>
          <p:nvPr/>
        </p:nvSpPr>
        <p:spPr>
          <a:xfrm>
            <a:off x="1524000" y="4010025"/>
            <a:ext cx="42386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BoosterStudio 连接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FCE715A-E424-424B-A5C1-1DB38D6BD93E}"/>
              </a:ext>
            </a:extLst>
          </p:cNvPr>
          <p:cNvSpPr>
            <a:spLocks noGrp="1"/>
          </p:cNvSpPr>
          <p:nvPr/>
        </p:nvSpPr>
        <p:spPr>
          <a:xfrm>
            <a:off x="1524000" y="4267200"/>
            <a:ext cx="4238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6B7785"/>
                </a:solidFill>
              </a:defRPr>
            </a:pPr>
            <a:r>
              <a:rPr sz="1125" b="0">
                <a:solidFill>
                  <a:srgbClr val="6B7785"/>
                </a:solidFill>
              </a:rPr>
              <a:t>建立开发入口</a:t>
            </a:r>
          </a:p>
        </p:txBody>
      </p:sp>
      <p:sp>
        <p:nvSpPr>
          <p:cNvPr id="21" name="箭头: 下 20">
            <a:extLst>
              <a:ext uri="{FF2B5EF4-FFF2-40B4-BE49-F238E27FC236}">
                <a16:creationId xmlns:a16="http://schemas.microsoft.com/office/drawing/2014/main" id="{A22E8D71-A60E-452D-8CC5-50C575063FFF}"/>
              </a:ext>
            </a:extLst>
          </p:cNvPr>
          <p:cNvSpPr>
            <a:spLocks noGrp="1"/>
          </p:cNvSpPr>
          <p:nvPr/>
        </p:nvSpPr>
        <p:spPr>
          <a:xfrm>
            <a:off x="2857500" y="4410075"/>
            <a:ext cx="209550" cy="190500"/>
          </a:xfrm>
          <a:prstGeom prst="downArrow">
            <a:avLst/>
          </a:prstGeom>
          <a:solidFill>
            <a:srgbClr val="D8E0E8"/>
          </a:solidFill>
          <a:ln w="0">
            <a:solidFill>
              <a:srgbClr val="D8E0E8"/>
            </a:solidFill>
            <a:prstDash val="solid"/>
          </a:ln>
        </p:spPr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92D225AD-E264-43B1-808C-9DDE78DB5E8B}"/>
              </a:ext>
            </a:extLst>
          </p:cNvPr>
          <p:cNvSpPr>
            <a:spLocks noGrp="1"/>
          </p:cNvSpPr>
          <p:nvPr/>
        </p:nvSpPr>
        <p:spPr>
          <a:xfrm>
            <a:off x="1000125" y="4657725"/>
            <a:ext cx="361950" cy="3619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D610E28-7AF2-4BB0-BA37-3A119EC759C7}"/>
              </a:ext>
            </a:extLst>
          </p:cNvPr>
          <p:cNvSpPr>
            <a:spLocks noGrp="1"/>
          </p:cNvSpPr>
          <p:nvPr/>
        </p:nvSpPr>
        <p:spPr>
          <a:xfrm>
            <a:off x="1524000" y="4638675"/>
            <a:ext cx="42386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看实时画面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67E4C11-8665-40FE-B7A5-69CF25C72463}"/>
              </a:ext>
            </a:extLst>
          </p:cNvPr>
          <p:cNvSpPr>
            <a:spLocks noGrp="1"/>
          </p:cNvSpPr>
          <p:nvPr/>
        </p:nvSpPr>
        <p:spPr>
          <a:xfrm>
            <a:off x="1524000" y="4895850"/>
            <a:ext cx="4238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6B7785"/>
                </a:solidFill>
              </a:defRPr>
            </a:pPr>
            <a:r>
              <a:rPr sz="1125" b="0">
                <a:solidFill>
                  <a:srgbClr val="6B7785"/>
                </a:solidFill>
              </a:rPr>
              <a:t>确认连接成功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D5511109-6B63-4B01-B098-6110C7657351}"/>
              </a:ext>
            </a:extLst>
          </p:cNvPr>
          <p:cNvSpPr>
            <a:spLocks noGrp="1"/>
          </p:cNvSpPr>
          <p:nvPr/>
        </p:nvSpPr>
        <p:spPr>
          <a:xfrm>
            <a:off x="7096125" y="2143125"/>
            <a:ext cx="3714750" cy="3048000"/>
          </a:xfrm>
          <a:prstGeom prst="roundRect">
            <a:avLst>
              <a:gd name="adj" fmla="val 2500"/>
            </a:avLst>
          </a:prstGeom>
          <a:solidFill>
            <a:srgbClr val="EFF6FF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9D548E9-2C1F-4138-92CE-9C9228C0C9C3}"/>
              </a:ext>
            </a:extLst>
          </p:cNvPr>
          <p:cNvSpPr>
            <a:spLocks noGrp="1"/>
          </p:cNvSpPr>
          <p:nvPr/>
        </p:nvSpPr>
        <p:spPr>
          <a:xfrm>
            <a:off x="7096125" y="5114925"/>
            <a:ext cx="371475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28AED07-3E68-4B8F-B200-F5B6035A0192}"/>
              </a:ext>
            </a:extLst>
          </p:cNvPr>
          <p:cNvSpPr>
            <a:spLocks noGrp="1"/>
          </p:cNvSpPr>
          <p:nvPr/>
        </p:nvSpPr>
        <p:spPr>
          <a:xfrm>
            <a:off x="7324725" y="3305175"/>
            <a:ext cx="32575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23A7A"/>
                </a:solidFill>
              </a:defRPr>
            </a:pPr>
            <a:r>
              <a:rPr sz="1350" b="1">
                <a:solidFill>
                  <a:srgbClr val="123A7A"/>
                </a:solidFill>
              </a:rPr>
              <a:t>BoosterStudio 连接界面</a:t>
            </a:r>
          </a:p>
          <a:p>
            <a:pPr algn="ctr">
              <a:defRPr sz="1350" b="1">
                <a:solidFill>
                  <a:srgbClr val="123A7A"/>
                </a:solidFill>
              </a:defRPr>
            </a:pPr>
            <a:r>
              <a:rPr sz="1350" b="1">
                <a:solidFill>
                  <a:srgbClr val="123A7A"/>
                </a:solidFill>
              </a:rPr>
              <a:t>建议替换为实际截图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1BAB929C-B565-4F65-85E5-A1A345BEF928}"/>
              </a:ext>
            </a:extLst>
          </p:cNvPr>
          <p:cNvSpPr>
            <a:spLocks noGrp="1"/>
          </p:cNvSpPr>
          <p:nvPr/>
        </p:nvSpPr>
        <p:spPr>
          <a:xfrm>
            <a:off x="7096125" y="5476875"/>
            <a:ext cx="3714750" cy="590550"/>
          </a:xfrm>
          <a:prstGeom prst="roundRect">
            <a:avLst>
              <a:gd name="adj" fmla="val 12903"/>
            </a:avLst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23A7A"/>
                </a:solidFill>
              </a:defRPr>
            </a:pPr>
            <a:r>
              <a:rPr sz="1200" b="1">
                <a:solidFill>
                  <a:srgbClr val="123A7A"/>
                </a:solidFill>
              </a:rPr>
              <a:t>演示观察点</a:t>
            </a:r>
          </a:p>
          <a:p>
            <a:pPr algn="ctr">
              <a:defRPr sz="1200" b="1">
                <a:solidFill>
                  <a:srgbClr val="123A7A"/>
                </a:solidFill>
              </a:defRPr>
            </a:pPr>
            <a:r>
              <a:rPr sz="1200" b="1">
                <a:solidFill>
                  <a:srgbClr val="123A7A"/>
                </a:solidFill>
              </a:rPr>
              <a:t>连接状态 · 实时画面 · 机器人模式</a:t>
            </a:r>
          </a:p>
        </p:txBody>
      </p:sp>
    </p:spTree>
    <p:extLst>
      <p:ext uri="{BB962C8B-B14F-4D97-AF65-F5344CB8AC3E}">
        <p14:creationId xmlns:p14="http://schemas.microsoft.com/office/powerpoint/2010/main" val="438143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7E04231-385F-4D8E-BC6C-51366A3C4E61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2228850" cy="304800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第四部分 · 动手连接与读取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CF1A138-A3A7-4485-BF3E-F88204BDCA28}"/>
              </a:ext>
            </a:extLst>
          </p:cNvPr>
          <p:cNvSpPr>
            <a:spLocks noGrp="1"/>
          </p:cNvSpPr>
          <p:nvPr/>
        </p:nvSpPr>
        <p:spPr>
          <a:xfrm>
            <a:off x="647700" y="781050"/>
            <a:ext cx="1085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实操任务卡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45FAEE7-5E16-4EE6-A134-4D1468B074E0}"/>
              </a:ext>
            </a:extLst>
          </p:cNvPr>
          <p:cNvSpPr>
            <a:spLocks noGrp="1"/>
          </p:cNvSpPr>
          <p:nvPr/>
        </p:nvSpPr>
        <p:spPr>
          <a:xfrm>
            <a:off x="647700" y="1257300"/>
            <a:ext cx="1085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分组连接，记好“身份证”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A2075D38-5438-407F-B51A-B407E3EA1461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10896600" cy="9525"/>
          </a:xfrm>
          <a:prstGeom prst="line">
            <a:avLst/>
          </a:prstGeom>
          <a:noFill/>
          <a:ln w="9525">
            <a:solidFill>
              <a:srgbClr val="D8E0E8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3A01A0B-0D68-40A8-B932-3420E5F50C5E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781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25 / 30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E3BA872-4F01-41E1-BFD6-C46E00C28200}"/>
              </a:ext>
            </a:extLst>
          </p:cNvPr>
          <p:cNvSpPr>
            <a:spLocks noGrp="1"/>
          </p:cNvSpPr>
          <p:nvPr/>
        </p:nvSpPr>
        <p:spPr>
          <a:xfrm>
            <a:off x="952500" y="2095500"/>
            <a:ext cx="2000250" cy="45720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【动手试试】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86DCD9C-0F6C-4EA6-8F8D-55810CA2428A}"/>
              </a:ext>
            </a:extLst>
          </p:cNvPr>
          <p:cNvSpPr>
            <a:spLocks noGrp="1"/>
          </p:cNvSpPr>
          <p:nvPr/>
        </p:nvSpPr>
        <p:spPr>
          <a:xfrm>
            <a:off x="952500" y="2809875"/>
            <a:ext cx="7429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17212B"/>
                </a:solidFill>
              </a:defRPr>
            </a:pPr>
            <a:r>
              <a:rPr sz="1875" b="1">
                <a:solidFill>
                  <a:srgbClr val="17212B"/>
                </a:solidFill>
              </a:rPr>
              <a:t>每组完成一次连接，并记录属于自己的 K1。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847F453-A8E4-4434-9597-0AF2515FAC7C}"/>
              </a:ext>
            </a:extLst>
          </p:cNvPr>
          <p:cNvSpPr>
            <a:spLocks noGrp="1"/>
          </p:cNvSpPr>
          <p:nvPr/>
        </p:nvSpPr>
        <p:spPr>
          <a:xfrm>
            <a:off x="1095375" y="3571875"/>
            <a:ext cx="2857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59E0B"/>
                </a:solidFill>
              </a:defRPr>
            </a:pPr>
            <a:r>
              <a:rPr sz="1425" b="1">
                <a:solidFill>
                  <a:srgbClr val="F59E0B"/>
                </a:solidFill>
              </a:rPr>
              <a:t>□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C02C478-CF2B-4AF8-B386-00CE580F3333}"/>
              </a:ext>
            </a:extLst>
          </p:cNvPr>
          <p:cNvSpPr>
            <a:spLocks noGrp="1"/>
          </p:cNvSpPr>
          <p:nvPr/>
        </p:nvSpPr>
        <p:spPr>
          <a:xfrm>
            <a:off x="1571625" y="3552825"/>
            <a:ext cx="590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344454"/>
                </a:solidFill>
              </a:defRPr>
            </a:pPr>
            <a:r>
              <a:rPr sz="1425" b="0">
                <a:solidFill>
                  <a:srgbClr val="344454"/>
                </a:solidFill>
              </a:rPr>
              <a:t>记录 IP 地址：________________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AC0C3EF-33B6-443E-AB48-86968F401D6D}"/>
              </a:ext>
            </a:extLst>
          </p:cNvPr>
          <p:cNvSpPr>
            <a:spLocks noGrp="1"/>
          </p:cNvSpPr>
          <p:nvPr/>
        </p:nvSpPr>
        <p:spPr>
          <a:xfrm>
            <a:off x="1095375" y="4048125"/>
            <a:ext cx="2857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59E0B"/>
                </a:solidFill>
              </a:defRPr>
            </a:pPr>
            <a:r>
              <a:rPr sz="1425" b="1">
                <a:solidFill>
                  <a:srgbClr val="F59E0B"/>
                </a:solidFill>
              </a:rPr>
              <a:t>□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C2F79EC-EF2A-4E7B-BA9B-A5B028E8C25E}"/>
              </a:ext>
            </a:extLst>
          </p:cNvPr>
          <p:cNvSpPr>
            <a:spLocks noGrp="1"/>
          </p:cNvSpPr>
          <p:nvPr/>
        </p:nvSpPr>
        <p:spPr>
          <a:xfrm>
            <a:off x="1571625" y="4029075"/>
            <a:ext cx="590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344454"/>
                </a:solidFill>
              </a:defRPr>
            </a:pPr>
            <a:r>
              <a:rPr sz="1425" b="0">
                <a:solidFill>
                  <a:srgbClr val="344454"/>
                </a:solidFill>
              </a:rPr>
              <a:t>记录序列号：________________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8257505-EBC5-4250-A311-D983F2C84276}"/>
              </a:ext>
            </a:extLst>
          </p:cNvPr>
          <p:cNvSpPr>
            <a:spLocks noGrp="1"/>
          </p:cNvSpPr>
          <p:nvPr/>
        </p:nvSpPr>
        <p:spPr>
          <a:xfrm>
            <a:off x="1095375" y="4524375"/>
            <a:ext cx="2857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59E0B"/>
                </a:solidFill>
              </a:defRPr>
            </a:pPr>
            <a:r>
              <a:rPr sz="1425" b="1">
                <a:solidFill>
                  <a:srgbClr val="F59E0B"/>
                </a:solidFill>
              </a:rPr>
              <a:t>□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B9BD221-C2D0-4676-886B-97C9F1A656CE}"/>
              </a:ext>
            </a:extLst>
          </p:cNvPr>
          <p:cNvSpPr>
            <a:spLocks noGrp="1"/>
          </p:cNvSpPr>
          <p:nvPr/>
        </p:nvSpPr>
        <p:spPr>
          <a:xfrm>
            <a:off x="1571625" y="4505325"/>
            <a:ext cx="590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344454"/>
                </a:solidFill>
              </a:defRPr>
            </a:pPr>
            <a:r>
              <a:rPr sz="1425" b="0">
                <a:solidFill>
                  <a:srgbClr val="344454"/>
                </a:solidFill>
              </a:rPr>
              <a:t>在 BoosterStudio 中核对设备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76B9577-83B0-4A1D-966E-87EAFFA56926}"/>
              </a:ext>
            </a:extLst>
          </p:cNvPr>
          <p:cNvSpPr>
            <a:spLocks noGrp="1"/>
          </p:cNvSpPr>
          <p:nvPr/>
        </p:nvSpPr>
        <p:spPr>
          <a:xfrm>
            <a:off x="1095375" y="5000625"/>
            <a:ext cx="2857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59E0B"/>
                </a:solidFill>
              </a:defRPr>
            </a:pPr>
            <a:r>
              <a:rPr sz="1425" b="1">
                <a:solidFill>
                  <a:srgbClr val="F59E0B"/>
                </a:solidFill>
              </a:rPr>
              <a:t>□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306FD09-9A2C-47F0-B1BD-4875295D5333}"/>
              </a:ext>
            </a:extLst>
          </p:cNvPr>
          <p:cNvSpPr>
            <a:spLocks noGrp="1"/>
          </p:cNvSpPr>
          <p:nvPr/>
        </p:nvSpPr>
        <p:spPr>
          <a:xfrm>
            <a:off x="1571625" y="4981575"/>
            <a:ext cx="590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344454"/>
                </a:solidFill>
              </a:defRPr>
            </a:pPr>
            <a:r>
              <a:rPr sz="1425" b="0">
                <a:solidFill>
                  <a:srgbClr val="344454"/>
                </a:solidFill>
              </a:rPr>
              <a:t>连接成功后举手，等待教师确认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EF7A0F1-76D3-42AE-A922-ED46022F3D9C}"/>
              </a:ext>
            </a:extLst>
          </p:cNvPr>
          <p:cNvSpPr>
            <a:spLocks noGrp="1"/>
          </p:cNvSpPr>
          <p:nvPr/>
        </p:nvSpPr>
        <p:spPr>
          <a:xfrm>
            <a:off x="8382000" y="2857500"/>
            <a:ext cx="2476500" cy="1428750"/>
          </a:xfrm>
          <a:prstGeom prst="roundRect">
            <a:avLst>
              <a:gd name="adj" fmla="val 5333"/>
            </a:avLst>
          </a:prstGeom>
          <a:solidFill>
            <a:srgbClr val="FFF1F2"/>
          </a:solidFill>
          <a:ln w="9525">
            <a:solidFill>
              <a:srgbClr val="E5484D"/>
            </a:solidFill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E5484D"/>
                </a:solidFill>
              </a:defRPr>
            </a:pPr>
            <a:r>
              <a:rPr sz="1575" b="1">
                <a:solidFill>
                  <a:srgbClr val="E5484D"/>
                </a:solidFill>
              </a:rPr>
              <a:t>多机同场</a:t>
            </a:r>
          </a:p>
          <a:p>
            <a:pPr algn="ctr">
              <a:defRPr sz="1575" b="1">
                <a:solidFill>
                  <a:srgbClr val="E5484D"/>
                </a:solidFill>
              </a:defRPr>
            </a:pPr>
            <a:r>
              <a:rPr sz="1575" b="1">
                <a:solidFill>
                  <a:srgbClr val="E5484D"/>
                </a:solidFill>
              </a:rPr>
              <a:t>先核对序列号，再开始操作。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85096CC-315F-407E-95D2-792B4CF102B9}"/>
              </a:ext>
            </a:extLst>
          </p:cNvPr>
          <p:cNvSpPr>
            <a:spLocks noGrp="1"/>
          </p:cNvSpPr>
          <p:nvPr/>
        </p:nvSpPr>
        <p:spPr>
          <a:xfrm>
            <a:off x="8382000" y="47625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F59E0B"/>
                </a:solidFill>
              </a:defRPr>
            </a:pPr>
            <a:r>
              <a:rPr sz="1350" b="1">
                <a:solidFill>
                  <a:srgbClr val="F59E0B"/>
                </a:solidFill>
              </a:rPr>
              <a:t>完成标准：连得上、认得准、记得清。</a:t>
            </a:r>
          </a:p>
        </p:txBody>
      </p:sp>
    </p:spTree>
    <p:extLst>
      <p:ext uri="{BB962C8B-B14F-4D97-AF65-F5344CB8AC3E}">
        <p14:creationId xmlns:p14="http://schemas.microsoft.com/office/powerpoint/2010/main" val="5546545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FB5E5969-77FB-4096-BEDF-C19689434A01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2228850" cy="3048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第四部分 · 动手连接与读取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A961FDE-E519-41D2-8EBE-ABF3AA5EFE0A}"/>
              </a:ext>
            </a:extLst>
          </p:cNvPr>
          <p:cNvSpPr>
            <a:spLocks noGrp="1"/>
          </p:cNvSpPr>
          <p:nvPr/>
        </p:nvSpPr>
        <p:spPr>
          <a:xfrm>
            <a:off x="647700" y="781050"/>
            <a:ext cx="1085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用代码连接 K1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7A0A10-9C57-4EEB-95BD-E3FA75E1E10A}"/>
              </a:ext>
            </a:extLst>
          </p:cNvPr>
          <p:cNvSpPr>
            <a:spLocks noGrp="1"/>
          </p:cNvSpPr>
          <p:nvPr/>
        </p:nvSpPr>
        <p:spPr>
          <a:xfrm>
            <a:off x="647700" y="1257300"/>
            <a:ext cx="1085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第一行：建立连接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B7C6CB74-FC33-4113-9179-C4622D908CFD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10896600" cy="9525"/>
          </a:xfrm>
          <a:prstGeom prst="line">
            <a:avLst/>
          </a:prstGeom>
          <a:noFill/>
          <a:ln w="9525">
            <a:solidFill>
              <a:srgbClr val="D8E0E8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B05A51-374C-4EF1-862B-535342C899D0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781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26 / 30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CF3F1D2-41FC-4A44-B5D2-8324D75F487D}"/>
              </a:ext>
            </a:extLst>
          </p:cNvPr>
          <p:cNvSpPr>
            <a:spLocks noGrp="1"/>
          </p:cNvSpPr>
          <p:nvPr/>
        </p:nvSpPr>
        <p:spPr>
          <a:xfrm>
            <a:off x="952500" y="2286000"/>
            <a:ext cx="10287000" cy="1809750"/>
          </a:xfrm>
          <a:prstGeom prst="roundRect">
            <a:avLst>
              <a:gd name="adj" fmla="val 4211"/>
            </a:avLst>
          </a:prstGeom>
          <a:solidFill>
            <a:srgbClr val="F4F6F9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4ACFC22-FA70-4E8E-9AC3-B12647146EAD}"/>
              </a:ext>
            </a:extLst>
          </p:cNvPr>
          <p:cNvSpPr>
            <a:spLocks noGrp="1"/>
          </p:cNvSpPr>
          <p:nvPr/>
        </p:nvSpPr>
        <p:spPr>
          <a:xfrm>
            <a:off x="952500" y="2286000"/>
            <a:ext cx="85725" cy="180975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14D636-7BFC-42A5-B19F-D79FFBA919E9}"/>
              </a:ext>
            </a:extLst>
          </p:cNvPr>
          <p:cNvSpPr>
            <a:spLocks noGrp="1"/>
          </p:cNvSpPr>
          <p:nvPr/>
        </p:nvSpPr>
        <p:spPr>
          <a:xfrm>
            <a:off x="1047750" y="3067050"/>
            <a:ext cx="10096500" cy="266700"/>
          </a:xfrm>
          <a:prstGeom prst="rect">
            <a:avLst/>
          </a:prstGeom>
          <a:solidFill>
            <a:srgbClr val="FFF7E6"/>
          </a:solidFill>
          <a:ln w="0">
            <a:solidFill>
              <a:srgbClr val="FFF7E6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ABAF0D1-6871-48AD-8D3E-8C5F297FE091}"/>
              </a:ext>
            </a:extLst>
          </p:cNvPr>
          <p:cNvSpPr>
            <a:spLocks noGrp="1"/>
          </p:cNvSpPr>
          <p:nvPr/>
        </p:nvSpPr>
        <p:spPr>
          <a:xfrm>
            <a:off x="1219200" y="2400300"/>
            <a:ext cx="982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from boosteros.robots.booster import BoosterRobot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279EDFA-3AB6-425D-9A44-0F43EADC2232}"/>
              </a:ext>
            </a:extLst>
          </p:cNvPr>
          <p:cNvSpPr>
            <a:spLocks noGrp="1"/>
          </p:cNvSpPr>
          <p:nvPr/>
        </p:nvSpPr>
        <p:spPr>
          <a:xfrm>
            <a:off x="1219200" y="2724150"/>
            <a:ext cx="982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 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D19B8AF-6748-4EF2-A4FD-D80C62FFE863}"/>
              </a:ext>
            </a:extLst>
          </p:cNvPr>
          <p:cNvSpPr>
            <a:spLocks noGrp="1"/>
          </p:cNvSpPr>
          <p:nvPr/>
        </p:nvSpPr>
        <p:spPr>
          <a:xfrm>
            <a:off x="1219200" y="3048000"/>
            <a:ext cx="982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robot = BoosterRobot()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9545009-E5F1-4DB5-AE0E-ACCE351D859D}"/>
              </a:ext>
            </a:extLst>
          </p:cNvPr>
          <p:cNvSpPr>
            <a:spLocks noGrp="1"/>
          </p:cNvSpPr>
          <p:nvPr/>
        </p:nvSpPr>
        <p:spPr>
          <a:xfrm>
            <a:off x="1219200" y="3371850"/>
            <a:ext cx="982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print("已连接 K1，开始探索 🤖")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036CB83-097A-469A-911F-59C5581E6B2D}"/>
              </a:ext>
            </a:extLst>
          </p:cNvPr>
          <p:cNvSpPr>
            <a:spLocks noGrp="1"/>
          </p:cNvSpPr>
          <p:nvPr/>
        </p:nvSpPr>
        <p:spPr>
          <a:xfrm>
            <a:off x="1381125" y="4714875"/>
            <a:ext cx="2428875" cy="552450"/>
          </a:xfrm>
          <a:prstGeom prst="roundRect">
            <a:avLst>
              <a:gd name="adj" fmla="val 13793"/>
            </a:avLst>
          </a:prstGeom>
          <a:solidFill>
            <a:srgbClr val="FFF7E6"/>
          </a:solidFill>
          <a:ln w="9525">
            <a:solidFill>
              <a:srgbClr val="F59E0B"/>
            </a:solidFill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17212B"/>
                </a:solidFill>
              </a:defRPr>
            </a:pPr>
            <a:r>
              <a:rPr sz="1575" b="1">
                <a:solidFill>
                  <a:srgbClr val="17212B"/>
                </a:solidFill>
              </a:rPr>
              <a:t>BoosterRobot()</a:t>
            </a: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D22489C0-941B-4AE7-B52A-4F552C84CFEE}"/>
              </a:ext>
            </a:extLst>
          </p:cNvPr>
          <p:cNvSpPr>
            <a:spLocks noGrp="1"/>
          </p:cNvSpPr>
          <p:nvPr/>
        </p:nvSpPr>
        <p:spPr>
          <a:xfrm>
            <a:off x="4191000" y="4857750"/>
            <a:ext cx="571500" cy="247650"/>
          </a:xfrm>
          <a:prstGeom prst="rightArrow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F502D77-24E5-453D-922D-171F90B92C35}"/>
              </a:ext>
            </a:extLst>
          </p:cNvPr>
          <p:cNvSpPr>
            <a:spLocks noGrp="1"/>
          </p:cNvSpPr>
          <p:nvPr/>
        </p:nvSpPr>
        <p:spPr>
          <a:xfrm>
            <a:off x="4953000" y="4714875"/>
            <a:ext cx="2095500" cy="552450"/>
          </a:xfrm>
          <a:prstGeom prst="roundRect">
            <a:avLst>
              <a:gd name="adj" fmla="val 13793"/>
            </a:avLst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建立连接</a:t>
            </a:r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96320B16-EAEB-4085-AFB2-F901007E4F15}"/>
              </a:ext>
            </a:extLst>
          </p:cNvPr>
          <p:cNvSpPr>
            <a:spLocks noGrp="1"/>
          </p:cNvSpPr>
          <p:nvPr/>
        </p:nvSpPr>
        <p:spPr>
          <a:xfrm>
            <a:off x="7429500" y="4857750"/>
            <a:ext cx="571500" cy="247650"/>
          </a:xfrm>
          <a:prstGeom prst="rightArrow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B212E0E-CED5-4754-875C-C820D2ACD0A7}"/>
              </a:ext>
            </a:extLst>
          </p:cNvPr>
          <p:cNvSpPr>
            <a:spLocks noGrp="1"/>
          </p:cNvSpPr>
          <p:nvPr/>
        </p:nvSpPr>
        <p:spPr>
          <a:xfrm>
            <a:off x="8382000" y="4714875"/>
            <a:ext cx="2095500" cy="552450"/>
          </a:xfrm>
          <a:prstGeom prst="roundRect">
            <a:avLst>
              <a:gd name="adj" fmla="val 13793"/>
            </a:avLst>
          </a:prstGeom>
          <a:solidFill>
            <a:srgbClr val="CCFBF1"/>
          </a:solidFill>
          <a:ln w="9525">
            <a:solidFill>
              <a:srgbClr val="0EA5A4"/>
            </a:solidFill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0EA5A4"/>
                </a:solidFill>
              </a:defRPr>
            </a:pPr>
            <a:r>
              <a:rPr sz="1575" b="1">
                <a:solidFill>
                  <a:srgbClr val="0EA5A4"/>
                </a:solidFill>
              </a:rPr>
              <a:t>robot 对象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CEFB634-4074-4109-B8F1-6E5994C078FC}"/>
              </a:ext>
            </a:extLst>
          </p:cNvPr>
          <p:cNvSpPr>
            <a:spLocks noGrp="1"/>
          </p:cNvSpPr>
          <p:nvPr/>
        </p:nvSpPr>
        <p:spPr>
          <a:xfrm>
            <a:off x="952500" y="5715000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0">
                <a:solidFill>
                  <a:srgbClr val="6B7785"/>
                </a:solidFill>
              </a:defRPr>
            </a:pPr>
            <a:r>
              <a:rPr sz="1125" b="0">
                <a:solidFill>
                  <a:srgbClr val="6B7785"/>
                </a:solidFill>
              </a:rPr>
              <a:t>对应 notebook：步骤 1</a:t>
            </a:r>
          </a:p>
        </p:txBody>
      </p:sp>
    </p:spTree>
    <p:extLst>
      <p:ext uri="{BB962C8B-B14F-4D97-AF65-F5344CB8AC3E}">
        <p14:creationId xmlns:p14="http://schemas.microsoft.com/office/powerpoint/2010/main" val="3808257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1AB967EB-FEE9-4014-AECB-7DBB21FBB381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2228850" cy="3048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第四部分 · 动手连接与读取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7CD0D44-350D-43FA-9A9E-5D61F72E83E7}"/>
              </a:ext>
            </a:extLst>
          </p:cNvPr>
          <p:cNvSpPr>
            <a:spLocks noGrp="1"/>
          </p:cNvSpPr>
          <p:nvPr/>
        </p:nvSpPr>
        <p:spPr>
          <a:xfrm>
            <a:off x="647700" y="781050"/>
            <a:ext cx="1085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读取它的“身份证”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A2FE121-1D2D-45D9-B0A1-52F18BEF0760}"/>
              </a:ext>
            </a:extLst>
          </p:cNvPr>
          <p:cNvSpPr>
            <a:spLocks noGrp="1"/>
          </p:cNvSpPr>
          <p:nvPr/>
        </p:nvSpPr>
        <p:spPr>
          <a:xfrm>
            <a:off x="647700" y="1257300"/>
            <a:ext cx="1085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型号 · 序列号 · 固件版本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159841EF-86AF-41C5-BEC7-F1932680D65A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10896600" cy="9525"/>
          </a:xfrm>
          <a:prstGeom prst="line">
            <a:avLst/>
          </a:prstGeom>
          <a:noFill/>
          <a:ln w="9525">
            <a:solidFill>
              <a:srgbClr val="D8E0E8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50E0884-D418-4FB1-8C4A-445C07EFA61D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781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27 / 30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F1F9B98-EAD9-4A78-814A-FA7D9172CD5C}"/>
              </a:ext>
            </a:extLst>
          </p:cNvPr>
          <p:cNvSpPr>
            <a:spLocks noGrp="1"/>
          </p:cNvSpPr>
          <p:nvPr/>
        </p:nvSpPr>
        <p:spPr>
          <a:xfrm>
            <a:off x="952500" y="2095500"/>
            <a:ext cx="10287000" cy="2333625"/>
          </a:xfrm>
          <a:prstGeom prst="roundRect">
            <a:avLst>
              <a:gd name="adj" fmla="val 3265"/>
            </a:avLst>
          </a:prstGeom>
          <a:solidFill>
            <a:srgbClr val="F4F6F9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43707A1-A5C2-49A8-9C9C-17401A4EFE51}"/>
              </a:ext>
            </a:extLst>
          </p:cNvPr>
          <p:cNvSpPr>
            <a:spLocks noGrp="1"/>
          </p:cNvSpPr>
          <p:nvPr/>
        </p:nvSpPr>
        <p:spPr>
          <a:xfrm>
            <a:off x="952500" y="2095500"/>
            <a:ext cx="85725" cy="2333625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5DB18AA-7653-4ED0-8A6C-15271BDA494A}"/>
              </a:ext>
            </a:extLst>
          </p:cNvPr>
          <p:cNvSpPr>
            <a:spLocks noGrp="1"/>
          </p:cNvSpPr>
          <p:nvPr/>
        </p:nvSpPr>
        <p:spPr>
          <a:xfrm>
            <a:off x="1047750" y="2228850"/>
            <a:ext cx="10096500" cy="266700"/>
          </a:xfrm>
          <a:prstGeom prst="rect">
            <a:avLst/>
          </a:prstGeom>
          <a:solidFill>
            <a:srgbClr val="FFF7E6"/>
          </a:solidFill>
          <a:ln w="0">
            <a:solidFill>
              <a:srgbClr val="FFF7E6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5D92037-D1E3-44FA-9B3C-6DFC0FF5B41B}"/>
              </a:ext>
            </a:extLst>
          </p:cNvPr>
          <p:cNvSpPr>
            <a:spLocks noGrp="1"/>
          </p:cNvSpPr>
          <p:nvPr/>
        </p:nvSpPr>
        <p:spPr>
          <a:xfrm>
            <a:off x="1047750" y="3524250"/>
            <a:ext cx="10096500" cy="266700"/>
          </a:xfrm>
          <a:prstGeom prst="rect">
            <a:avLst/>
          </a:prstGeom>
          <a:solidFill>
            <a:srgbClr val="FFF7E6"/>
          </a:solidFill>
          <a:ln w="0">
            <a:solidFill>
              <a:srgbClr val="FFF7E6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44DC84D-92EE-4C19-9C71-6D4519F5A479}"/>
              </a:ext>
            </a:extLst>
          </p:cNvPr>
          <p:cNvSpPr>
            <a:spLocks noGrp="1"/>
          </p:cNvSpPr>
          <p:nvPr/>
        </p:nvSpPr>
        <p:spPr>
          <a:xfrm>
            <a:off x="1047750" y="3848100"/>
            <a:ext cx="10096500" cy="266700"/>
          </a:xfrm>
          <a:prstGeom prst="rect">
            <a:avLst/>
          </a:prstGeom>
          <a:solidFill>
            <a:srgbClr val="FFF7E6"/>
          </a:solidFill>
          <a:ln w="0">
            <a:solidFill>
              <a:srgbClr val="FFF7E6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9D320DD-F4F5-43C4-8A84-C20F76090A76}"/>
              </a:ext>
            </a:extLst>
          </p:cNvPr>
          <p:cNvSpPr>
            <a:spLocks noGrp="1"/>
          </p:cNvSpPr>
          <p:nvPr/>
        </p:nvSpPr>
        <p:spPr>
          <a:xfrm>
            <a:off x="1219200" y="2209800"/>
            <a:ext cx="982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info = robot.robot_info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D091BA-7187-4DC5-B52A-24B922785A5A}"/>
              </a:ext>
            </a:extLst>
          </p:cNvPr>
          <p:cNvSpPr>
            <a:spLocks noGrp="1"/>
          </p:cNvSpPr>
          <p:nvPr/>
        </p:nvSpPr>
        <p:spPr>
          <a:xfrm>
            <a:off x="1219200" y="2533650"/>
            <a:ext cx="982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print(f"机器人的元信息：{info}")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0EB8A53-B3F0-41E2-AC5E-CE94E9861BBD}"/>
              </a:ext>
            </a:extLst>
          </p:cNvPr>
          <p:cNvSpPr>
            <a:spLocks noGrp="1"/>
          </p:cNvSpPr>
          <p:nvPr/>
        </p:nvSpPr>
        <p:spPr>
          <a:xfrm>
            <a:off x="1219200" y="2857500"/>
            <a:ext cx="982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 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6E1D55B-DEB4-4F03-8C43-C3BC91108838}"/>
              </a:ext>
            </a:extLst>
          </p:cNvPr>
          <p:cNvSpPr>
            <a:spLocks noGrp="1"/>
          </p:cNvSpPr>
          <p:nvPr/>
        </p:nvSpPr>
        <p:spPr>
          <a:xfrm>
            <a:off x="1219200" y="3181350"/>
            <a:ext cx="982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print("型号：    ", info.model)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B291A2A-D297-4F40-9016-0E9EC14037F7}"/>
              </a:ext>
            </a:extLst>
          </p:cNvPr>
          <p:cNvSpPr>
            <a:spLocks noGrp="1"/>
          </p:cNvSpPr>
          <p:nvPr/>
        </p:nvSpPr>
        <p:spPr>
          <a:xfrm>
            <a:off x="1219200" y="3505200"/>
            <a:ext cx="982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print("序列号：  ", info.serial_number)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018674C-806F-4876-B736-93C360AC0381}"/>
              </a:ext>
            </a:extLst>
          </p:cNvPr>
          <p:cNvSpPr>
            <a:spLocks noGrp="1"/>
          </p:cNvSpPr>
          <p:nvPr/>
        </p:nvSpPr>
        <p:spPr>
          <a:xfrm>
            <a:off x="1219200" y="3829050"/>
            <a:ext cx="982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print("固件版本：", info.firmware_version)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7F35AA0-F952-46F0-A38D-76D1087D2B01}"/>
              </a:ext>
            </a:extLst>
          </p:cNvPr>
          <p:cNvSpPr>
            <a:spLocks noGrp="1"/>
          </p:cNvSpPr>
          <p:nvPr/>
        </p:nvSpPr>
        <p:spPr>
          <a:xfrm>
            <a:off x="1571625" y="4333875"/>
            <a:ext cx="2857500" cy="590550"/>
          </a:xfrm>
          <a:prstGeom prst="roundRect">
            <a:avLst>
              <a:gd name="adj" fmla="val 12903"/>
            </a:avLst>
          </a:prstGeom>
          <a:solidFill>
            <a:srgbClr val="FFF7E6"/>
          </a:solidFill>
          <a:ln w="9525">
            <a:solidFill>
              <a:srgbClr val="F59E0B"/>
            </a:solidFill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17212B"/>
                </a:solidFill>
              </a:defRPr>
            </a:pPr>
            <a:r>
              <a:rPr sz="1575" b="1">
                <a:solidFill>
                  <a:srgbClr val="17212B"/>
                </a:solidFill>
              </a:rPr>
              <a:t>serial_number</a:t>
            </a: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5C12A5BB-E658-4497-A0A0-237981D945B1}"/>
              </a:ext>
            </a:extLst>
          </p:cNvPr>
          <p:cNvSpPr>
            <a:spLocks noGrp="1"/>
          </p:cNvSpPr>
          <p:nvPr/>
        </p:nvSpPr>
        <p:spPr>
          <a:xfrm>
            <a:off x="4810125" y="4495800"/>
            <a:ext cx="619125" cy="266700"/>
          </a:xfrm>
          <a:prstGeom prst="rightArrow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F6364F8-866B-4159-B6A0-EE9CBA62EA64}"/>
              </a:ext>
            </a:extLst>
          </p:cNvPr>
          <p:cNvSpPr>
            <a:spLocks noGrp="1"/>
          </p:cNvSpPr>
          <p:nvPr/>
        </p:nvSpPr>
        <p:spPr>
          <a:xfrm>
            <a:off x="5810250" y="4333875"/>
            <a:ext cx="3619500" cy="590550"/>
          </a:xfrm>
          <a:prstGeom prst="roundRect">
            <a:avLst>
              <a:gd name="adj" fmla="val 12903"/>
            </a:avLst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123A7A"/>
                </a:solidFill>
              </a:defRPr>
            </a:pPr>
            <a:r>
              <a:rPr sz="1575" b="1">
                <a:solidFill>
                  <a:srgbClr val="123A7A"/>
                </a:solidFill>
              </a:rPr>
              <a:t>多机区分的“身份证号”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48763DC-F9C9-487E-8CAF-FCEE5DC6C2B4}"/>
              </a:ext>
            </a:extLst>
          </p:cNvPr>
          <p:cNvSpPr>
            <a:spLocks noGrp="1"/>
          </p:cNvSpPr>
          <p:nvPr/>
        </p:nvSpPr>
        <p:spPr>
          <a:xfrm>
            <a:off x="952500" y="5429250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0">
                <a:solidFill>
                  <a:srgbClr val="6B7785"/>
                </a:solidFill>
              </a:defRPr>
            </a:pPr>
            <a:r>
              <a:rPr sz="1275" b="0">
                <a:solidFill>
                  <a:srgbClr val="6B7785"/>
                </a:solidFill>
              </a:rPr>
              <a:t>重点：serial_number 是多机环境区分设备的字段；字段值以当前设备真实返回为准。</a:t>
            </a:r>
          </a:p>
        </p:txBody>
      </p:sp>
    </p:spTree>
    <p:extLst>
      <p:ext uri="{BB962C8B-B14F-4D97-AF65-F5344CB8AC3E}">
        <p14:creationId xmlns:p14="http://schemas.microsoft.com/office/powerpoint/2010/main" val="12518545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85A1FD1-5275-4C10-B23B-7F9A354E4F05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2228850" cy="3048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第四部分 · 动手连接与读取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39C7D0D-6B34-4C19-A095-16499BB7AEA9}"/>
              </a:ext>
            </a:extLst>
          </p:cNvPr>
          <p:cNvSpPr>
            <a:spLocks noGrp="1"/>
          </p:cNvSpPr>
          <p:nvPr/>
        </p:nvSpPr>
        <p:spPr>
          <a:xfrm>
            <a:off x="647700" y="781050"/>
            <a:ext cx="1085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浏览关节清单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2D6401-CFA8-4583-9269-65D1975465C2}"/>
              </a:ext>
            </a:extLst>
          </p:cNvPr>
          <p:cNvSpPr>
            <a:spLocks noGrp="1"/>
          </p:cNvSpPr>
          <p:nvPr/>
        </p:nvSpPr>
        <p:spPr>
          <a:xfrm>
            <a:off x="647700" y="1257300"/>
            <a:ext cx="1085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22 个关节与它们的“身体结构”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B1906A4A-1980-49B8-BC84-3A1ADD2EE30A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10896600" cy="9525"/>
          </a:xfrm>
          <a:prstGeom prst="line">
            <a:avLst/>
          </a:prstGeom>
          <a:noFill/>
          <a:ln w="9525">
            <a:solidFill>
              <a:srgbClr val="D8E0E8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7919B83-360A-4BF3-8B2A-63B191321B9B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781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28 / 30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DF5FE02-3A99-49DF-A226-F24471420CB4}"/>
              </a:ext>
            </a:extLst>
          </p:cNvPr>
          <p:cNvSpPr>
            <a:spLocks noGrp="1"/>
          </p:cNvSpPr>
          <p:nvPr/>
        </p:nvSpPr>
        <p:spPr>
          <a:xfrm>
            <a:off x="952500" y="2047875"/>
            <a:ext cx="6191250" cy="2428875"/>
          </a:xfrm>
          <a:prstGeom prst="roundRect">
            <a:avLst>
              <a:gd name="adj" fmla="val 3137"/>
            </a:avLst>
          </a:prstGeom>
          <a:solidFill>
            <a:srgbClr val="F4F6F9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260AC6E-79EE-432E-B049-D10A65D863CE}"/>
              </a:ext>
            </a:extLst>
          </p:cNvPr>
          <p:cNvSpPr>
            <a:spLocks noGrp="1"/>
          </p:cNvSpPr>
          <p:nvPr/>
        </p:nvSpPr>
        <p:spPr>
          <a:xfrm>
            <a:off x="952500" y="2047875"/>
            <a:ext cx="85725" cy="2428875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11323E4-1071-4FCD-B090-800AA88E14B2}"/>
              </a:ext>
            </a:extLst>
          </p:cNvPr>
          <p:cNvSpPr>
            <a:spLocks noGrp="1"/>
          </p:cNvSpPr>
          <p:nvPr/>
        </p:nvSpPr>
        <p:spPr>
          <a:xfrm>
            <a:off x="1047750" y="2181225"/>
            <a:ext cx="6000750" cy="266700"/>
          </a:xfrm>
          <a:prstGeom prst="rect">
            <a:avLst/>
          </a:prstGeom>
          <a:solidFill>
            <a:srgbClr val="FFF7E6"/>
          </a:solidFill>
          <a:ln w="0">
            <a:solidFill>
              <a:srgbClr val="FFF7E6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6EC7B0C-FE1B-42B0-B693-70EEA2F61A02}"/>
              </a:ext>
            </a:extLst>
          </p:cNvPr>
          <p:cNvSpPr>
            <a:spLocks noGrp="1"/>
          </p:cNvSpPr>
          <p:nvPr/>
        </p:nvSpPr>
        <p:spPr>
          <a:xfrm>
            <a:off x="1047750" y="3800475"/>
            <a:ext cx="6000750" cy="266700"/>
          </a:xfrm>
          <a:prstGeom prst="rect">
            <a:avLst/>
          </a:prstGeom>
          <a:solidFill>
            <a:srgbClr val="FFF7E6"/>
          </a:solidFill>
          <a:ln w="0">
            <a:solidFill>
              <a:srgbClr val="FFF7E6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8892F7A-3743-418F-AA10-CE691DCF39D7}"/>
              </a:ext>
            </a:extLst>
          </p:cNvPr>
          <p:cNvSpPr>
            <a:spLocks noGrp="1"/>
          </p:cNvSpPr>
          <p:nvPr/>
        </p:nvSpPr>
        <p:spPr>
          <a:xfrm>
            <a:off x="1219200" y="2162175"/>
            <a:ext cx="5734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joints = robot.list_joints()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1A4FAFF-7D42-47BB-8CE0-09491253FFCF}"/>
              </a:ext>
            </a:extLst>
          </p:cNvPr>
          <p:cNvSpPr>
            <a:spLocks noGrp="1"/>
          </p:cNvSpPr>
          <p:nvPr/>
        </p:nvSpPr>
        <p:spPr>
          <a:xfrm>
            <a:off x="1219200" y="2486025"/>
            <a:ext cx="5734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print(f"关节总数：{len(joints)}")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037A907-9318-4E7F-9E0E-71349E2F69BB}"/>
              </a:ext>
            </a:extLst>
          </p:cNvPr>
          <p:cNvSpPr>
            <a:spLocks noGrp="1"/>
          </p:cNvSpPr>
          <p:nvPr/>
        </p:nvSpPr>
        <p:spPr>
          <a:xfrm>
            <a:off x="1219200" y="2809875"/>
            <a:ext cx="5734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print(f"list_joints{joints}")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FAD5FA4-1EC8-4614-B3AE-3132876727B6}"/>
              </a:ext>
            </a:extLst>
          </p:cNvPr>
          <p:cNvSpPr>
            <a:spLocks noGrp="1"/>
          </p:cNvSpPr>
          <p:nvPr/>
        </p:nvSpPr>
        <p:spPr>
          <a:xfrm>
            <a:off x="1219200" y="3133725"/>
            <a:ext cx="5734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 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DD48B57-BF0B-4620-B5C1-1BFDE9619F76}"/>
              </a:ext>
            </a:extLst>
          </p:cNvPr>
          <p:cNvSpPr>
            <a:spLocks noGrp="1"/>
          </p:cNvSpPr>
          <p:nvPr/>
        </p:nvSpPr>
        <p:spPr>
          <a:xfrm>
            <a:off x="1219200" y="3457575"/>
            <a:ext cx="5734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for j in joints: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3CEF1BF-8595-4C51-AF4A-B673CD1A4458}"/>
              </a:ext>
            </a:extLst>
          </p:cNvPr>
          <p:cNvSpPr>
            <a:spLocks noGrp="1"/>
          </p:cNvSpPr>
          <p:nvPr/>
        </p:nvSpPr>
        <p:spPr>
          <a:xfrm>
            <a:off x="1219200" y="3781425"/>
            <a:ext cx="5734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    print(f"{j.name:&lt;20} 限位: [{j.limits.min:.3f}, {j.limits.max:.3f}] rad  最大速度: {j.max_velocity:.3f} rad/s")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07C0673-1BD3-4959-8422-D652F01E49DB}"/>
              </a:ext>
            </a:extLst>
          </p:cNvPr>
          <p:cNvSpPr>
            <a:spLocks noGrp="1"/>
          </p:cNvSpPr>
          <p:nvPr/>
        </p:nvSpPr>
        <p:spPr>
          <a:xfrm>
            <a:off x="7953375" y="2381250"/>
            <a:ext cx="2190750" cy="45720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j.name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AF5F6750-D665-4820-8F19-A57D4043C993}"/>
              </a:ext>
            </a:extLst>
          </p:cNvPr>
          <p:cNvSpPr>
            <a:spLocks noGrp="1"/>
          </p:cNvSpPr>
          <p:nvPr/>
        </p:nvSpPr>
        <p:spPr>
          <a:xfrm>
            <a:off x="7953375" y="3000375"/>
            <a:ext cx="2190750" cy="552450"/>
          </a:xfrm>
          <a:prstGeom prst="roundRect">
            <a:avLst>
              <a:gd name="adj" fmla="val 13793"/>
            </a:avLst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23A7A"/>
                </a:solidFill>
              </a:defRPr>
            </a:pPr>
            <a:r>
              <a:rPr sz="1350" b="1">
                <a:solidFill>
                  <a:srgbClr val="123A7A"/>
                </a:solidFill>
              </a:rPr>
              <a:t>关节名称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44A847C-D34B-4DA6-8559-2EEFC7A3DD29}"/>
              </a:ext>
            </a:extLst>
          </p:cNvPr>
          <p:cNvSpPr>
            <a:spLocks noGrp="1"/>
          </p:cNvSpPr>
          <p:nvPr/>
        </p:nvSpPr>
        <p:spPr>
          <a:xfrm>
            <a:off x="7953375" y="3857625"/>
            <a:ext cx="2190750" cy="457200"/>
          </a:xfrm>
          <a:prstGeom prst="roundRect">
            <a:avLst>
              <a:gd name="adj" fmla="val 16667"/>
            </a:avLst>
          </a:prstGeom>
          <a:solidFill>
            <a:srgbClr val="0EA5A4"/>
          </a:solidFill>
          <a:ln w="9525">
            <a:solidFill>
              <a:srgbClr val="0EA5A4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j.limits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986A014-F2B7-441F-A642-97B89E586502}"/>
              </a:ext>
            </a:extLst>
          </p:cNvPr>
          <p:cNvSpPr>
            <a:spLocks noGrp="1"/>
          </p:cNvSpPr>
          <p:nvPr/>
        </p:nvSpPr>
        <p:spPr>
          <a:xfrm>
            <a:off x="7953375" y="4476750"/>
            <a:ext cx="2190750" cy="552450"/>
          </a:xfrm>
          <a:prstGeom prst="roundRect">
            <a:avLst>
              <a:gd name="adj" fmla="val 13793"/>
            </a:avLst>
          </a:prstGeom>
          <a:solidFill>
            <a:srgbClr val="CCFBF1"/>
          </a:solidFill>
          <a:ln w="9525">
            <a:solidFill>
              <a:srgbClr val="0EA5A4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0EA5A4"/>
                </a:solidFill>
              </a:defRPr>
            </a:pPr>
            <a:r>
              <a:rPr sz="1350" b="1">
                <a:solidFill>
                  <a:srgbClr val="0EA5A4"/>
                </a:solidFill>
              </a:rPr>
              <a:t>活动范围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D5FAE03-0E0F-4F06-846C-0482BCC8D281}"/>
              </a:ext>
            </a:extLst>
          </p:cNvPr>
          <p:cNvSpPr>
            <a:spLocks noGrp="1"/>
          </p:cNvSpPr>
          <p:nvPr/>
        </p:nvSpPr>
        <p:spPr>
          <a:xfrm>
            <a:off x="952500" y="5381625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先看总数，再看每个关节的名称、限位和最大速度；数量以实际返回为准。</a:t>
            </a:r>
          </a:p>
        </p:txBody>
      </p:sp>
    </p:spTree>
    <p:extLst>
      <p:ext uri="{BB962C8B-B14F-4D97-AF65-F5344CB8AC3E}">
        <p14:creationId xmlns:p14="http://schemas.microsoft.com/office/powerpoint/2010/main" val="5424266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7B7E8F52-37E9-40FC-8B52-8A43E68BA40A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2228850" cy="3048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第四部分 · 动手连接与读取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C218EE3-70B3-47CF-81ED-98D4237F6B7E}"/>
              </a:ext>
            </a:extLst>
          </p:cNvPr>
          <p:cNvSpPr>
            <a:spLocks noGrp="1"/>
          </p:cNvSpPr>
          <p:nvPr/>
        </p:nvSpPr>
        <p:spPr>
          <a:xfrm>
            <a:off x="647700" y="781050"/>
            <a:ext cx="1085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浏览动作库与当前状态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8332CDB-02B7-429F-B305-3FF768F0E10E}"/>
              </a:ext>
            </a:extLst>
          </p:cNvPr>
          <p:cNvSpPr>
            <a:spLocks noGrp="1"/>
          </p:cNvSpPr>
          <p:nvPr/>
        </p:nvSpPr>
        <p:spPr>
          <a:xfrm>
            <a:off x="647700" y="1257300"/>
            <a:ext cx="1085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它会哪些动作，现在什么状态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CD7C1D48-9FC2-4555-AF81-8F92FCCC9455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10896600" cy="9525"/>
          </a:xfrm>
          <a:prstGeom prst="line">
            <a:avLst/>
          </a:prstGeom>
          <a:noFill/>
          <a:ln w="9525">
            <a:solidFill>
              <a:srgbClr val="D8E0E8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13E9C6E-4395-4D25-B409-EE5166197095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781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29 / 30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14FE447-4CAE-4E77-97A7-7443621B7B21}"/>
              </a:ext>
            </a:extLst>
          </p:cNvPr>
          <p:cNvSpPr>
            <a:spLocks noGrp="1"/>
          </p:cNvSpPr>
          <p:nvPr/>
        </p:nvSpPr>
        <p:spPr>
          <a:xfrm>
            <a:off x="952500" y="1952625"/>
            <a:ext cx="6191250" cy="3190875"/>
          </a:xfrm>
          <a:prstGeom prst="roundRect">
            <a:avLst>
              <a:gd name="adj" fmla="val 2388"/>
            </a:avLst>
          </a:prstGeom>
          <a:solidFill>
            <a:srgbClr val="F4F6F9"/>
          </a:solidFill>
          <a:ln w="9525">
            <a:solidFill>
              <a:srgbClr val="D8E0E8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2BE5FDD-7110-4B7C-9216-C6FF4BD321E4}"/>
              </a:ext>
            </a:extLst>
          </p:cNvPr>
          <p:cNvSpPr>
            <a:spLocks noGrp="1"/>
          </p:cNvSpPr>
          <p:nvPr/>
        </p:nvSpPr>
        <p:spPr>
          <a:xfrm>
            <a:off x="952500" y="1952625"/>
            <a:ext cx="85725" cy="3190875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AD8CC93-25CB-4145-8236-C35454DC88CE}"/>
              </a:ext>
            </a:extLst>
          </p:cNvPr>
          <p:cNvSpPr>
            <a:spLocks noGrp="1"/>
          </p:cNvSpPr>
          <p:nvPr/>
        </p:nvSpPr>
        <p:spPr>
          <a:xfrm>
            <a:off x="1047750" y="2085975"/>
            <a:ext cx="6000750" cy="266700"/>
          </a:xfrm>
          <a:prstGeom prst="rect">
            <a:avLst/>
          </a:prstGeom>
          <a:solidFill>
            <a:srgbClr val="FFF7E6"/>
          </a:solidFill>
          <a:ln w="0">
            <a:solidFill>
              <a:srgbClr val="FFF7E6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13CF836-7A39-4F93-BD13-5C43750B1CEB}"/>
              </a:ext>
            </a:extLst>
          </p:cNvPr>
          <p:cNvSpPr>
            <a:spLocks noGrp="1"/>
          </p:cNvSpPr>
          <p:nvPr/>
        </p:nvSpPr>
        <p:spPr>
          <a:xfrm>
            <a:off x="1047750" y="4676775"/>
            <a:ext cx="6000750" cy="266700"/>
          </a:xfrm>
          <a:prstGeom prst="rect">
            <a:avLst/>
          </a:prstGeom>
          <a:solidFill>
            <a:srgbClr val="FFF7E6"/>
          </a:solidFill>
          <a:ln w="0">
            <a:solidFill>
              <a:srgbClr val="FFF7E6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565D643-726E-4D5A-B6C7-544F4AB4A6B6}"/>
              </a:ext>
            </a:extLst>
          </p:cNvPr>
          <p:cNvSpPr>
            <a:spLocks noGrp="1"/>
          </p:cNvSpPr>
          <p:nvPr/>
        </p:nvSpPr>
        <p:spPr>
          <a:xfrm>
            <a:off x="1047750" y="5000625"/>
            <a:ext cx="6000750" cy="266700"/>
          </a:xfrm>
          <a:prstGeom prst="rect">
            <a:avLst/>
          </a:prstGeom>
          <a:solidFill>
            <a:srgbClr val="FFF7E6"/>
          </a:solidFill>
          <a:ln w="0">
            <a:solidFill>
              <a:srgbClr val="FFF7E6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6F0B52D-3D76-400A-911D-F58DCEAC4CF1}"/>
              </a:ext>
            </a:extLst>
          </p:cNvPr>
          <p:cNvSpPr>
            <a:spLocks noGrp="1"/>
          </p:cNvSpPr>
          <p:nvPr/>
        </p:nvSpPr>
        <p:spPr>
          <a:xfrm>
            <a:off x="1219200" y="2066925"/>
            <a:ext cx="5734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actions = robot.list_actions()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D52423C-77E9-4302-90CA-A279C5E4572B}"/>
              </a:ext>
            </a:extLst>
          </p:cNvPr>
          <p:cNvSpPr>
            <a:spLocks noGrp="1"/>
          </p:cNvSpPr>
          <p:nvPr/>
        </p:nvSpPr>
        <p:spPr>
          <a:xfrm>
            <a:off x="1219200" y="2390775"/>
            <a:ext cx="5734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print(f"预定义动作总数：{len(actions)}")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D9EC2A0-BB96-44C2-8EBF-4D4CA0AF3685}"/>
              </a:ext>
            </a:extLst>
          </p:cNvPr>
          <p:cNvSpPr>
            <a:spLocks noGrp="1"/>
          </p:cNvSpPr>
          <p:nvPr/>
        </p:nvSpPr>
        <p:spPr>
          <a:xfrm>
            <a:off x="1219200" y="2714625"/>
            <a:ext cx="5734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print(f"预定义动作内容：{actions}")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518CE12-C7A3-4CFD-9819-CD9B213B9F56}"/>
              </a:ext>
            </a:extLst>
          </p:cNvPr>
          <p:cNvSpPr>
            <a:spLocks noGrp="1"/>
          </p:cNvSpPr>
          <p:nvPr/>
        </p:nvSpPr>
        <p:spPr>
          <a:xfrm>
            <a:off x="1219200" y="3038475"/>
            <a:ext cx="5734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 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96E14FB-8EC6-4591-A055-F233509EF1D3}"/>
              </a:ext>
            </a:extLst>
          </p:cNvPr>
          <p:cNvSpPr>
            <a:spLocks noGrp="1"/>
          </p:cNvSpPr>
          <p:nvPr/>
        </p:nvSpPr>
        <p:spPr>
          <a:xfrm>
            <a:off x="1219200" y="3362325"/>
            <a:ext cx="5734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for a in actions: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818F51F-3643-429C-AD81-7CDC6C4898B0}"/>
              </a:ext>
            </a:extLst>
          </p:cNvPr>
          <p:cNvSpPr>
            <a:spLocks noGrp="1"/>
          </p:cNvSpPr>
          <p:nvPr/>
        </p:nvSpPr>
        <p:spPr>
          <a:xfrm>
            <a:off x="1219200" y="3686175"/>
            <a:ext cx="5734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    dur = f"{a.duration:.1f}s" if a.duration is not None else "-"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81C77B3-27AE-4DFA-99AA-3BA8D9D35649}"/>
              </a:ext>
            </a:extLst>
          </p:cNvPr>
          <p:cNvSpPr>
            <a:spLocks noGrp="1"/>
          </p:cNvSpPr>
          <p:nvPr/>
        </p:nvSpPr>
        <p:spPr>
          <a:xfrm>
            <a:off x="1219200" y="4010025"/>
            <a:ext cx="5734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    print(f"动作名称：{a.id:&lt;25} 类型：{a.type:&lt;15} 时长：{dur:&lt;8} 可中断：{'是' if a.interruptible else '否'}")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83FF27D-C00E-47FD-8482-D1E63DEE0CA3}"/>
              </a:ext>
            </a:extLst>
          </p:cNvPr>
          <p:cNvSpPr>
            <a:spLocks noGrp="1"/>
          </p:cNvSpPr>
          <p:nvPr/>
        </p:nvSpPr>
        <p:spPr>
          <a:xfrm>
            <a:off x="1219200" y="4333875"/>
            <a:ext cx="5734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 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FC31FEB-FBFA-4ED3-BC94-503B37A215FE}"/>
              </a:ext>
            </a:extLst>
          </p:cNvPr>
          <p:cNvSpPr>
            <a:spLocks noGrp="1"/>
          </p:cNvSpPr>
          <p:nvPr/>
        </p:nvSpPr>
        <p:spPr>
          <a:xfrm>
            <a:off x="1219200" y="4657725"/>
            <a:ext cx="5734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print("当前模式：", robot.get_mode())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66CED88-0066-49B8-A592-920C0DA17610}"/>
              </a:ext>
            </a:extLst>
          </p:cNvPr>
          <p:cNvSpPr>
            <a:spLocks noGrp="1"/>
          </p:cNvSpPr>
          <p:nvPr/>
        </p:nvSpPr>
        <p:spPr>
          <a:xfrm>
            <a:off x="1219200" y="4981575"/>
            <a:ext cx="5734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print("电池信息：", robot.get_battery())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2370AFE-1E82-4727-8405-D50A47ABA9F3}"/>
              </a:ext>
            </a:extLst>
          </p:cNvPr>
          <p:cNvSpPr>
            <a:spLocks noGrp="1"/>
          </p:cNvSpPr>
          <p:nvPr/>
        </p:nvSpPr>
        <p:spPr>
          <a:xfrm>
            <a:off x="8001000" y="2333625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list_actions()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E7E36098-8CEB-4940-9145-6F36AE9955C2}"/>
              </a:ext>
            </a:extLst>
          </p:cNvPr>
          <p:cNvSpPr>
            <a:spLocks noGrp="1"/>
          </p:cNvSpPr>
          <p:nvPr/>
        </p:nvSpPr>
        <p:spPr>
          <a:xfrm>
            <a:off x="8001000" y="2809875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7212B"/>
                </a:solidFill>
              </a:defRPr>
            </a:pPr>
            <a:r>
              <a:rPr sz="1200" b="1">
                <a:solidFill>
                  <a:srgbClr val="17212B"/>
                </a:solidFill>
              </a:rPr>
              <a:t>动作库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EAFFF34C-E327-475D-905B-F7D4E897631A}"/>
              </a:ext>
            </a:extLst>
          </p:cNvPr>
          <p:cNvSpPr>
            <a:spLocks noGrp="1"/>
          </p:cNvSpPr>
          <p:nvPr/>
        </p:nvSpPr>
        <p:spPr>
          <a:xfrm>
            <a:off x="8001000" y="3238500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0EA5A4"/>
          </a:solidFill>
          <a:ln w="9525">
            <a:solidFill>
              <a:srgbClr val="0EA5A4"/>
            </a:solidFill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get_mode()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DBB7DBC3-4921-41C7-8130-DDA44D5F9CBF}"/>
              </a:ext>
            </a:extLst>
          </p:cNvPr>
          <p:cNvSpPr>
            <a:spLocks noGrp="1"/>
          </p:cNvSpPr>
          <p:nvPr/>
        </p:nvSpPr>
        <p:spPr>
          <a:xfrm>
            <a:off x="8001000" y="3714750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CCFBF1"/>
          </a:solidFill>
          <a:ln w="9525">
            <a:solidFill>
              <a:srgbClr val="0EA5A4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7212B"/>
                </a:solidFill>
              </a:defRPr>
            </a:pPr>
            <a:r>
              <a:rPr sz="1200" b="1">
                <a:solidFill>
                  <a:srgbClr val="17212B"/>
                </a:solidFill>
              </a:rPr>
              <a:t>当前模式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A8389FEF-4A62-45CF-AE73-67AB52CFF10D}"/>
              </a:ext>
            </a:extLst>
          </p:cNvPr>
          <p:cNvSpPr>
            <a:spLocks noGrp="1"/>
          </p:cNvSpPr>
          <p:nvPr/>
        </p:nvSpPr>
        <p:spPr>
          <a:xfrm>
            <a:off x="8001000" y="4143375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get_battery()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64D48121-FDD9-4D3A-8D58-12088EA648CB}"/>
              </a:ext>
            </a:extLst>
          </p:cNvPr>
          <p:cNvSpPr>
            <a:spLocks noGrp="1"/>
          </p:cNvSpPr>
          <p:nvPr/>
        </p:nvSpPr>
        <p:spPr>
          <a:xfrm>
            <a:off x="8001000" y="4619625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FFF7E6"/>
          </a:solidFill>
          <a:ln w="9525">
            <a:solidFill>
              <a:srgbClr val="F59E0B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7212B"/>
                </a:solidFill>
              </a:defRPr>
            </a:pPr>
            <a:r>
              <a:rPr sz="1200" b="1">
                <a:solidFill>
                  <a:srgbClr val="17212B"/>
                </a:solidFill>
              </a:rPr>
              <a:t>电池状态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4E248EB-3D07-4450-9875-502A8480ADB1}"/>
              </a:ext>
            </a:extLst>
          </p:cNvPr>
          <p:cNvSpPr>
            <a:spLocks noGrp="1"/>
          </p:cNvSpPr>
          <p:nvPr/>
        </p:nvSpPr>
        <p:spPr>
          <a:xfrm>
            <a:off x="952500" y="542925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只读接口的价值：先知道系统“有什么、在哪里、处于什么状态”。</a:t>
            </a:r>
          </a:p>
        </p:txBody>
      </p:sp>
    </p:spTree>
    <p:extLst>
      <p:ext uri="{BB962C8B-B14F-4D97-AF65-F5344CB8AC3E}">
        <p14:creationId xmlns:p14="http://schemas.microsoft.com/office/powerpoint/2010/main" val="11736884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FDB6FC36-191F-421E-A203-70A3A14CEB10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1943100" cy="304800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第五部分 · 小结与评价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24D733B-47D2-419E-87A2-6FB6029E878B}"/>
              </a:ext>
            </a:extLst>
          </p:cNvPr>
          <p:cNvSpPr>
            <a:spLocks noGrp="1"/>
          </p:cNvSpPr>
          <p:nvPr/>
        </p:nvSpPr>
        <p:spPr>
          <a:xfrm>
            <a:off x="647700" y="781050"/>
            <a:ext cx="1085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本课小结与学习评价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5BE897-7AD7-401E-8DEA-6CD334790268}"/>
              </a:ext>
            </a:extLst>
          </p:cNvPr>
          <p:cNvSpPr>
            <a:spLocks noGrp="1"/>
          </p:cNvSpPr>
          <p:nvPr/>
        </p:nvSpPr>
        <p:spPr>
          <a:xfrm>
            <a:off x="647700" y="1257300"/>
            <a:ext cx="1085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带走三件东西，测一测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838DE687-6862-42BC-B0D9-3B7A1550759A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10896600" cy="9525"/>
          </a:xfrm>
          <a:prstGeom prst="line">
            <a:avLst/>
          </a:prstGeom>
          <a:noFill/>
          <a:ln w="9525">
            <a:solidFill>
              <a:srgbClr val="D8E0E8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57F6BC1-4E46-4DD4-BC8E-9870DF7D4820}"/>
              </a:ext>
            </a:extLst>
          </p:cNvPr>
          <p:cNvSpPr>
            <a:spLocks noGrp="1"/>
          </p:cNvSpPr>
          <p:nvPr/>
        </p:nvSpPr>
        <p:spPr>
          <a:xfrm>
            <a:off x="10763250" y="6477000"/>
            <a:ext cx="781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30 / 30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FF34944-B318-424B-AE34-488A6B3B658F}"/>
              </a:ext>
            </a:extLst>
          </p:cNvPr>
          <p:cNvSpPr>
            <a:spLocks noGrp="1"/>
          </p:cNvSpPr>
          <p:nvPr/>
        </p:nvSpPr>
        <p:spPr>
          <a:xfrm>
            <a:off x="1000125" y="20955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身份证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2F1E278-F3F6-4B1B-9A1B-9FB7E29A1090}"/>
              </a:ext>
            </a:extLst>
          </p:cNvPr>
          <p:cNvSpPr>
            <a:spLocks noGrp="1"/>
          </p:cNvSpPr>
          <p:nvPr/>
        </p:nvSpPr>
        <p:spPr>
          <a:xfrm>
            <a:off x="1000125" y="257175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0">
                <a:solidFill>
                  <a:srgbClr val="344454"/>
                </a:solidFill>
              </a:defRPr>
            </a:pPr>
            <a:r>
              <a:rPr sz="1425" b="0">
                <a:solidFill>
                  <a:srgbClr val="344454"/>
                </a:solidFill>
              </a:rPr>
              <a:t>serial_number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8E0D333-0F41-440E-840C-A99B72DCF057}"/>
              </a:ext>
            </a:extLst>
          </p:cNvPr>
          <p:cNvSpPr>
            <a:spLocks noGrp="1"/>
          </p:cNvSpPr>
          <p:nvPr/>
        </p:nvSpPr>
        <p:spPr>
          <a:xfrm>
            <a:off x="4667250" y="20955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75" b="1">
                <a:solidFill>
                  <a:srgbClr val="0EA5A4"/>
                </a:solidFill>
              </a:defRPr>
            </a:pPr>
            <a:r>
              <a:rPr sz="1875" b="1">
                <a:solidFill>
                  <a:srgbClr val="0EA5A4"/>
                </a:solidFill>
              </a:rPr>
              <a:t>身体清单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AC0186A-3DF9-489B-A448-C35C81B90FEE}"/>
              </a:ext>
            </a:extLst>
          </p:cNvPr>
          <p:cNvSpPr>
            <a:spLocks noGrp="1"/>
          </p:cNvSpPr>
          <p:nvPr/>
        </p:nvSpPr>
        <p:spPr>
          <a:xfrm>
            <a:off x="4667250" y="257175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0">
                <a:solidFill>
                  <a:srgbClr val="344454"/>
                </a:solidFill>
              </a:defRPr>
            </a:pPr>
            <a:r>
              <a:rPr sz="1425" b="0">
                <a:solidFill>
                  <a:srgbClr val="344454"/>
                </a:solidFill>
              </a:rPr>
              <a:t>list_joints()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4135F4D-1FF7-49B9-A97E-84BCEEA3A0B2}"/>
              </a:ext>
            </a:extLst>
          </p:cNvPr>
          <p:cNvSpPr>
            <a:spLocks noGrp="1"/>
          </p:cNvSpPr>
          <p:nvPr/>
        </p:nvSpPr>
        <p:spPr>
          <a:xfrm>
            <a:off x="8334375" y="20955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75" b="1">
                <a:solidFill>
                  <a:srgbClr val="F59E0B"/>
                </a:solidFill>
              </a:defRPr>
            </a:pPr>
            <a:r>
              <a:rPr sz="1875" b="1">
                <a:solidFill>
                  <a:srgbClr val="F59E0B"/>
                </a:solidFill>
              </a:rPr>
              <a:t>连接工具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4D2720A-FD7D-4E58-9C4A-69E96DCC69E7}"/>
              </a:ext>
            </a:extLst>
          </p:cNvPr>
          <p:cNvSpPr>
            <a:spLocks noGrp="1"/>
          </p:cNvSpPr>
          <p:nvPr/>
        </p:nvSpPr>
        <p:spPr>
          <a:xfrm>
            <a:off x="8334375" y="257175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0">
                <a:solidFill>
                  <a:srgbClr val="344454"/>
                </a:solidFill>
              </a:defRPr>
            </a:pPr>
            <a:r>
              <a:rPr sz="1350" b="0">
                <a:solidFill>
                  <a:srgbClr val="344454"/>
                </a:solidFill>
              </a:rPr>
              <a:t>BoosterStudio / SDK</a:t>
            </a: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190E93BF-0AF2-4062-ADEC-7EBF745DE510}"/>
              </a:ext>
            </a:extLst>
          </p:cNvPr>
          <p:cNvSpPr>
            <a:spLocks noGrp="1"/>
          </p:cNvSpPr>
          <p:nvPr/>
        </p:nvSpPr>
        <p:spPr>
          <a:xfrm>
            <a:off x="857250" y="3238500"/>
            <a:ext cx="10477500" cy="9525"/>
          </a:xfrm>
          <a:prstGeom prst="line">
            <a:avLst/>
          </a:prstGeom>
          <a:noFill/>
          <a:ln w="9525">
            <a:solidFill>
              <a:srgbClr val="D8E0E8"/>
            </a:solidFill>
            <a:prstDash val="solid"/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5AED2B4-D656-4DE0-8688-59C2BE244BAB}"/>
              </a:ext>
            </a:extLst>
          </p:cNvPr>
          <p:cNvSpPr>
            <a:spLocks noGrp="1"/>
          </p:cNvSpPr>
          <p:nvPr/>
        </p:nvSpPr>
        <p:spPr>
          <a:xfrm>
            <a:off x="904875" y="3619500"/>
            <a:ext cx="1428750" cy="438150"/>
          </a:xfrm>
          <a:prstGeom prst="roundRect">
            <a:avLst>
              <a:gd name="adj" fmla="val 17391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评价题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08E8CAE-9B51-4B25-B455-D7DB5E399F04}"/>
              </a:ext>
            </a:extLst>
          </p:cNvPr>
          <p:cNvSpPr>
            <a:spLocks noGrp="1"/>
          </p:cNvSpPr>
          <p:nvPr/>
        </p:nvSpPr>
        <p:spPr>
          <a:xfrm>
            <a:off x="1000125" y="4333875"/>
            <a:ext cx="1019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344454"/>
                </a:solidFill>
              </a:defRPr>
            </a:pPr>
            <a:r>
              <a:rPr sz="1275" b="0">
                <a:solidFill>
                  <a:srgbClr val="344454"/>
                </a:solidFill>
              </a:rPr>
              <a:t>1. 本实验全部为只读操作，不涉及机器人任何运动，可以放心运行。（    ）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086CF82-0D7A-4966-9996-5B95939824EF}"/>
              </a:ext>
            </a:extLst>
          </p:cNvPr>
          <p:cNvSpPr>
            <a:spLocks noGrp="1"/>
          </p:cNvSpPr>
          <p:nvPr/>
        </p:nvSpPr>
        <p:spPr>
          <a:xfrm>
            <a:off x="1000125" y="4762500"/>
            <a:ext cx="1019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344454"/>
                </a:solidFill>
              </a:defRPr>
            </a:pPr>
            <a:r>
              <a:rPr sz="1275" b="0">
                <a:solidFill>
                  <a:srgbClr val="344454"/>
                </a:solidFill>
              </a:rPr>
              <a:t>2. robot.robot_info 中，用于多机环境区分设备的字段是 ______。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8B34DCB-D1FA-4E60-9C06-39C4F59AD24C}"/>
              </a:ext>
            </a:extLst>
          </p:cNvPr>
          <p:cNvSpPr>
            <a:spLocks noGrp="1"/>
          </p:cNvSpPr>
          <p:nvPr/>
        </p:nvSpPr>
        <p:spPr>
          <a:xfrm>
            <a:off x="1000125" y="5191125"/>
            <a:ext cx="1019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344454"/>
                </a:solidFill>
              </a:defRPr>
            </a:pPr>
            <a:r>
              <a:rPr sz="1275" b="0">
                <a:solidFill>
                  <a:srgbClr val="344454"/>
                </a:solidFill>
              </a:rPr>
              <a:t>3. list_actions() 返回的动作信息中，可作为 do_action() 参数的字段是（    ）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BC0803D-43FF-46E0-8777-A7A2B491BBCD}"/>
              </a:ext>
            </a:extLst>
          </p:cNvPr>
          <p:cNvSpPr>
            <a:spLocks noGrp="1"/>
          </p:cNvSpPr>
          <p:nvPr/>
        </p:nvSpPr>
        <p:spPr>
          <a:xfrm>
            <a:off x="1000125" y="5524500"/>
            <a:ext cx="10191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6B7785"/>
                </a:solidFill>
              </a:defRPr>
            </a:pPr>
            <a:r>
              <a:rPr sz="1125" b="0">
                <a:solidFill>
                  <a:srgbClr val="6B7785"/>
                </a:solidFill>
              </a:rPr>
              <a:t>A. type    B. id    C. duration    D. interruptible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835ADF8-8927-4951-9217-ADECDE6C0A5E}"/>
              </a:ext>
            </a:extLst>
          </p:cNvPr>
          <p:cNvSpPr>
            <a:spLocks noGrp="1"/>
          </p:cNvSpPr>
          <p:nvPr/>
        </p:nvSpPr>
        <p:spPr>
          <a:xfrm>
            <a:off x="1000125" y="5810250"/>
            <a:ext cx="1019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下一步：让机器人真正动起来。</a:t>
            </a:r>
          </a:p>
        </p:txBody>
      </p:sp>
    </p:spTree>
    <p:extLst>
      <p:ext uri="{BB962C8B-B14F-4D97-AF65-F5344CB8AC3E}">
        <p14:creationId xmlns:p14="http://schemas.microsoft.com/office/powerpoint/2010/main" val="48924465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2480</Words>
  <Application>Microsoft Office PowerPoint</Application>
  <DocSecurity>0</DocSecurity>
  <PresentationFormat>宽屏</PresentationFormat>
  <Paragraphs>501</Paragraphs>
  <Slides>30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2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xiaoyu Liu</cp:lastModifiedBy>
  <cp:revision>1</cp:revision>
  <dcterms:created xsi:type="dcterms:W3CDTF">2026-08-28T03:04:28Z</dcterms:created>
  <dcterms:modified xsi:type="dcterms:W3CDTF">2026-08-28T03:09:41Z</dcterms:modified>
</cp:coreProperties>
</file>