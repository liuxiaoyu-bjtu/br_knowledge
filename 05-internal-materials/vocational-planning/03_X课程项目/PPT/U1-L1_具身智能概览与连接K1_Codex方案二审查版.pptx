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96513286bb4ef1" /><Relationship Type="http://schemas.openxmlformats.org/officeDocument/2006/relationships/extended-properties" Target="/docProps/app.xml" Id="R12be0129adc3470f" /><Relationship Type="http://schemas.openxmlformats.org/officeDocument/2006/relationships/officeDocument" Target="/ppt/presentation.xml" Id="R0c88e81dbeb544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a6fa4fb75543a8"/>
  </p:sldMasterIdLst>
  <p:notesMasterIdLst>
    <p:notesMasterId xmlns:r="http://schemas.openxmlformats.org/officeDocument/2006/relationships" r:id="R02f6a1892815459e"/>
  </p:notesMasterIdLst>
  <p:sldIdLst>
    <p:sldId xmlns:r="http://schemas.openxmlformats.org/officeDocument/2006/relationships" id="256" r:id="R5a95b88f55e4462b"/>
    <p:sldId xmlns:r="http://schemas.openxmlformats.org/officeDocument/2006/relationships" id="257" r:id="R8f5bce8e48be4f20"/>
    <p:sldId xmlns:r="http://schemas.openxmlformats.org/officeDocument/2006/relationships" id="258" r:id="R761cdebcc7654f9f"/>
    <p:sldId xmlns:r="http://schemas.openxmlformats.org/officeDocument/2006/relationships" id="259" r:id="R48d651231a1b4e1f"/>
    <p:sldId xmlns:r="http://schemas.openxmlformats.org/officeDocument/2006/relationships" id="260" r:id="Rdbcdb96e2fec4634"/>
    <p:sldId xmlns:r="http://schemas.openxmlformats.org/officeDocument/2006/relationships" id="261" r:id="R6ffae9f922234165"/>
    <p:sldId xmlns:r="http://schemas.openxmlformats.org/officeDocument/2006/relationships" id="262" r:id="R07a15cc2e31b4ed3"/>
    <p:sldId xmlns:r="http://schemas.openxmlformats.org/officeDocument/2006/relationships" id="263" r:id="Rebff1614060b41ed"/>
    <p:sldId xmlns:r="http://schemas.openxmlformats.org/officeDocument/2006/relationships" id="264" r:id="R83a9cd27e0284c26"/>
    <p:sldId xmlns:r="http://schemas.openxmlformats.org/officeDocument/2006/relationships" id="265" r:id="R016050b8dd2c486b"/>
    <p:sldId xmlns:r="http://schemas.openxmlformats.org/officeDocument/2006/relationships" id="266" r:id="Rf283715472a64e2b"/>
    <p:sldId xmlns:r="http://schemas.openxmlformats.org/officeDocument/2006/relationships" id="267" r:id="R560ec80c7b1a404a"/>
    <p:sldId xmlns:r="http://schemas.openxmlformats.org/officeDocument/2006/relationships" id="268" r:id="R7ee74c9b7ba544fd"/>
    <p:sldId xmlns:r="http://schemas.openxmlformats.org/officeDocument/2006/relationships" id="269" r:id="R3735ebde177f4e59"/>
    <p:sldId xmlns:r="http://schemas.openxmlformats.org/officeDocument/2006/relationships" id="270" r:id="Rb87f5345962e4849"/>
    <p:sldId xmlns:r="http://schemas.openxmlformats.org/officeDocument/2006/relationships" id="271" r:id="Rd81b804d2f3642f2"/>
    <p:sldId xmlns:r="http://schemas.openxmlformats.org/officeDocument/2006/relationships" id="272" r:id="R60e6fcf419d54bb5"/>
    <p:sldId xmlns:r="http://schemas.openxmlformats.org/officeDocument/2006/relationships" id="273" r:id="Re99b0acca4fc42d9"/>
    <p:sldId xmlns:r="http://schemas.openxmlformats.org/officeDocument/2006/relationships" id="274" r:id="Re0d9ea528a4b4b4a"/>
    <p:sldId xmlns:r="http://schemas.openxmlformats.org/officeDocument/2006/relationships" id="275" r:id="Rae2b6026a014418c"/>
    <p:sldId xmlns:r="http://schemas.openxmlformats.org/officeDocument/2006/relationships" id="276" r:id="R9a051531856746c5"/>
    <p:sldId xmlns:r="http://schemas.openxmlformats.org/officeDocument/2006/relationships" id="277" r:id="Re26dfd7a755940d2"/>
    <p:sldId xmlns:r="http://schemas.openxmlformats.org/officeDocument/2006/relationships" id="278" r:id="Rd7a563ded581410d"/>
    <p:sldId xmlns:r="http://schemas.openxmlformats.org/officeDocument/2006/relationships" id="279" r:id="R8536e19e5b564179"/>
    <p:sldId xmlns:r="http://schemas.openxmlformats.org/officeDocument/2006/relationships" id="280" r:id="Ra23b943ed5634bf2"/>
    <p:sldId xmlns:r="http://schemas.openxmlformats.org/officeDocument/2006/relationships" id="281" r:id="R564a1a9dc8694dd0"/>
    <p:sldId xmlns:r="http://schemas.openxmlformats.org/officeDocument/2006/relationships" id="282" r:id="R515e121493aa43c0"/>
    <p:sldId xmlns:r="http://schemas.openxmlformats.org/officeDocument/2006/relationships" id="283" r:id="R94025a0f6929430a"/>
    <p:sldId xmlns:r="http://schemas.openxmlformats.org/officeDocument/2006/relationships" id="284" r:id="R77e999bd46e64291"/>
    <p:sldId xmlns:r="http://schemas.openxmlformats.org/officeDocument/2006/relationships" id="285" r:id="Rffb1e5a9233748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d039813cf048fd" /><Relationship Type="http://schemas.openxmlformats.org/officeDocument/2006/relationships/slideMaster" Target="/ppt/slideMasters/slideMaster1.xml" Id="R5aa6fa4fb75543a8" /><Relationship Type="http://schemas.openxmlformats.org/officeDocument/2006/relationships/notesMaster" Target="/ppt/notesMasters/notesMaster1.xml" Id="R02f6a1892815459e" /><Relationship Type="http://schemas.openxmlformats.org/officeDocument/2006/relationships/presProps" Target="/ppt/presProps.xml" Id="R656d8f5655c643f8" /><Relationship Type="http://schemas.openxmlformats.org/officeDocument/2006/relationships/tableStyles" Target="/ppt/tableStyles.xml" Id="R44e02b2b77c14f19" /><Relationship Type="http://schemas.openxmlformats.org/officeDocument/2006/relationships/slide" Target="/ppt/slides/slide1.xml" Id="R5a95b88f55e4462b" /><Relationship Type="http://schemas.openxmlformats.org/officeDocument/2006/relationships/slide" Target="/ppt/slides/slide2.xml" Id="R8f5bce8e48be4f20" /><Relationship Type="http://schemas.openxmlformats.org/officeDocument/2006/relationships/slide" Target="/ppt/slides/slide3.xml" Id="R761cdebcc7654f9f" /><Relationship Type="http://schemas.openxmlformats.org/officeDocument/2006/relationships/slide" Target="/ppt/slides/slide4.xml" Id="R48d651231a1b4e1f" /><Relationship Type="http://schemas.openxmlformats.org/officeDocument/2006/relationships/slide" Target="/ppt/slides/slide5.xml" Id="Rdbcdb96e2fec4634" /><Relationship Type="http://schemas.openxmlformats.org/officeDocument/2006/relationships/slide" Target="/ppt/slides/slide6.xml" Id="R6ffae9f922234165" /><Relationship Type="http://schemas.openxmlformats.org/officeDocument/2006/relationships/slide" Target="/ppt/slides/slide7.xml" Id="R07a15cc2e31b4ed3" /><Relationship Type="http://schemas.openxmlformats.org/officeDocument/2006/relationships/slide" Target="/ppt/slides/slide8.xml" Id="Rebff1614060b41ed" /><Relationship Type="http://schemas.openxmlformats.org/officeDocument/2006/relationships/slide" Target="/ppt/slides/slide9.xml" Id="R83a9cd27e0284c26" /><Relationship Type="http://schemas.openxmlformats.org/officeDocument/2006/relationships/slide" Target="/ppt/slides/slide10.xml" Id="R016050b8dd2c486b" /><Relationship Type="http://schemas.openxmlformats.org/officeDocument/2006/relationships/slide" Target="/ppt/slides/slide11.xml" Id="Rf283715472a64e2b" /><Relationship Type="http://schemas.openxmlformats.org/officeDocument/2006/relationships/slide" Target="/ppt/slides/slide12.xml" Id="R560ec80c7b1a404a" /><Relationship Type="http://schemas.openxmlformats.org/officeDocument/2006/relationships/slide" Target="/ppt/slides/slide13.xml" Id="R7ee74c9b7ba544fd" /><Relationship Type="http://schemas.openxmlformats.org/officeDocument/2006/relationships/slide" Target="/ppt/slides/slide14.xml" Id="R3735ebde177f4e59" /><Relationship Type="http://schemas.openxmlformats.org/officeDocument/2006/relationships/slide" Target="/ppt/slides/slide15.xml" Id="Rb87f5345962e4849" /><Relationship Type="http://schemas.openxmlformats.org/officeDocument/2006/relationships/slide" Target="/ppt/slides/slide16.xml" Id="Rd81b804d2f3642f2" /><Relationship Type="http://schemas.openxmlformats.org/officeDocument/2006/relationships/slide" Target="/ppt/slides/slide17.xml" Id="R60e6fcf419d54bb5" /><Relationship Type="http://schemas.openxmlformats.org/officeDocument/2006/relationships/slide" Target="/ppt/slides/slide18.xml" Id="Re99b0acca4fc42d9" /><Relationship Type="http://schemas.openxmlformats.org/officeDocument/2006/relationships/slide" Target="/ppt/slides/slide19.xml" Id="Re0d9ea528a4b4b4a" /><Relationship Type="http://schemas.openxmlformats.org/officeDocument/2006/relationships/slide" Target="/ppt/slides/slide20.xml" Id="Rae2b6026a014418c" /><Relationship Type="http://schemas.openxmlformats.org/officeDocument/2006/relationships/slide" Target="/ppt/slides/slide21.xml" Id="R9a051531856746c5" /><Relationship Type="http://schemas.openxmlformats.org/officeDocument/2006/relationships/slide" Target="/ppt/slides/slide22.xml" Id="Re26dfd7a755940d2" /><Relationship Type="http://schemas.openxmlformats.org/officeDocument/2006/relationships/slide" Target="/ppt/slides/slide23.xml" Id="Rd7a563ded581410d" /><Relationship Type="http://schemas.openxmlformats.org/officeDocument/2006/relationships/slide" Target="/ppt/slides/slide24.xml" Id="R8536e19e5b564179" /><Relationship Type="http://schemas.openxmlformats.org/officeDocument/2006/relationships/slide" Target="/ppt/slides/slide25.xml" Id="Ra23b943ed5634bf2" /><Relationship Type="http://schemas.openxmlformats.org/officeDocument/2006/relationships/slide" Target="/ppt/slides/slide26.xml" Id="R564a1a9dc8694dd0" /><Relationship Type="http://schemas.openxmlformats.org/officeDocument/2006/relationships/slide" Target="/ppt/slides/slide27.xml" Id="R515e121493aa43c0" /><Relationship Type="http://schemas.openxmlformats.org/officeDocument/2006/relationships/slide" Target="/ppt/slides/slide28.xml" Id="R94025a0f6929430a" /><Relationship Type="http://schemas.openxmlformats.org/officeDocument/2006/relationships/slide" Target="/ppt/slides/slide29.xml" Id="R77e999bd46e64291" /><Relationship Type="http://schemas.openxmlformats.org/officeDocument/2006/relationships/slide" Target="/ppt/slides/slide30.xml" Id="Rffb1e5a9233748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38d930461e48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85d88c51044cb" /><Relationship Type="http://schemas.openxmlformats.org/officeDocument/2006/relationships/notesMaster" Target="/ppt/notesMasters/notesMaster1.xml" Id="R9be0c3860b924d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10de0089824cc0" /><Relationship Type="http://schemas.openxmlformats.org/officeDocument/2006/relationships/notesMaster" Target="/ppt/notesMasters/notesMaster1.xml" Id="Ra3e1df2622ec4a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e82f53606e4fe8" /><Relationship Type="http://schemas.openxmlformats.org/officeDocument/2006/relationships/notesMaster" Target="/ppt/notesMasters/notesMaster1.xml" Id="R17b02deb561f40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6f34b5f6504d6a" /><Relationship Type="http://schemas.openxmlformats.org/officeDocument/2006/relationships/notesMaster" Target="/ppt/notesMasters/notesMaster1.xml" Id="R09e1ce4bf0dd45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d48ee90bfa410d" /><Relationship Type="http://schemas.openxmlformats.org/officeDocument/2006/relationships/notesMaster" Target="/ppt/notesMasters/notesMaster1.xml" Id="R6266c53046bb46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743f0843c740f8" /><Relationship Type="http://schemas.openxmlformats.org/officeDocument/2006/relationships/notesMaster" Target="/ppt/notesMasters/notesMaster1.xml" Id="R9bdc2845e5814c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17d41f29eb4623" /><Relationship Type="http://schemas.openxmlformats.org/officeDocument/2006/relationships/notesMaster" Target="/ppt/notesMasters/notesMaster1.xml" Id="Rc430fdc7e3064b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8c6c34cd9a48dc" /><Relationship Type="http://schemas.openxmlformats.org/officeDocument/2006/relationships/notesMaster" Target="/ppt/notesMasters/notesMaster1.xml" Id="R6029b8c3ef314f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4fdd4306e644e8" /><Relationship Type="http://schemas.openxmlformats.org/officeDocument/2006/relationships/notesMaster" Target="/ppt/notesMasters/notesMaster1.xml" Id="Rad3fd735757f40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31fcece84645ba" /><Relationship Type="http://schemas.openxmlformats.org/officeDocument/2006/relationships/notesMaster" Target="/ppt/notesMasters/notesMaster1.xml" Id="R7e60311d83144c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dff6421cf74ae8" /><Relationship Type="http://schemas.openxmlformats.org/officeDocument/2006/relationships/notesMaster" Target="/ppt/notesMasters/notesMaster1.xml" Id="Rf5826f19ddf04a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2c37d20a184f6e" /><Relationship Type="http://schemas.openxmlformats.org/officeDocument/2006/relationships/notesMaster" Target="/ppt/notesMasters/notesMaster1.xml" Id="Rf2b4eae1891a40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b48211b8304d87" /><Relationship Type="http://schemas.openxmlformats.org/officeDocument/2006/relationships/notesMaster" Target="/ppt/notesMasters/notesMaster1.xml" Id="Rfcc9c7e75cb94f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c94819d5dd48eb" /><Relationship Type="http://schemas.openxmlformats.org/officeDocument/2006/relationships/notesMaster" Target="/ppt/notesMasters/notesMaster1.xml" Id="R4a24164c0d3c4b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f303bdb5be42ee" /><Relationship Type="http://schemas.openxmlformats.org/officeDocument/2006/relationships/notesMaster" Target="/ppt/notesMasters/notesMaster1.xml" Id="R36999e836ecf46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6889ac5c4b4282" /><Relationship Type="http://schemas.openxmlformats.org/officeDocument/2006/relationships/notesMaster" Target="/ppt/notesMasters/notesMaster1.xml" Id="Re31545775e7e47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fd9c75e8ff470b" /><Relationship Type="http://schemas.openxmlformats.org/officeDocument/2006/relationships/notesMaster" Target="/ppt/notesMasters/notesMaster1.xml" Id="R47d2b0086bd34b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619844b5f44c94" /><Relationship Type="http://schemas.openxmlformats.org/officeDocument/2006/relationships/notesMaster" Target="/ppt/notesMasters/notesMaster1.xml" Id="Rf47335cfd68a46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16fb80a4d32425a" /><Relationship Type="http://schemas.openxmlformats.org/officeDocument/2006/relationships/notesMaster" Target="/ppt/notesMasters/notesMaster1.xml" Id="Ra288d5d6c1664a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fb0d3cf2d744178" /><Relationship Type="http://schemas.openxmlformats.org/officeDocument/2006/relationships/notesMaster" Target="/ppt/notesMasters/notesMaster1.xml" Id="Rc9ebedaa1c764de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0d0b3c60be4041" /><Relationship Type="http://schemas.openxmlformats.org/officeDocument/2006/relationships/notesMaster" Target="/ppt/notesMasters/notesMaster1.xml" Id="Rf3b33f4528464e4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b9ae3eab4345e5" /><Relationship Type="http://schemas.openxmlformats.org/officeDocument/2006/relationships/notesMaster" Target="/ppt/notesMasters/notesMaster1.xml" Id="R9e3d191bd9144cb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39c81bd7564e48" /><Relationship Type="http://schemas.openxmlformats.org/officeDocument/2006/relationships/notesMaster" Target="/ppt/notesMasters/notesMaster1.xml" Id="R2446efbc29764c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0ffdac4da04269" /><Relationship Type="http://schemas.openxmlformats.org/officeDocument/2006/relationships/notesMaster" Target="/ppt/notesMasters/notesMaster1.xml" Id="R89946e72660041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25469da8fa8441f" /><Relationship Type="http://schemas.openxmlformats.org/officeDocument/2006/relationships/notesMaster" Target="/ppt/notesMasters/notesMaster1.xml" Id="R936e3e2d28514e0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1b2cc15b66b4d3e" /><Relationship Type="http://schemas.openxmlformats.org/officeDocument/2006/relationships/notesMaster" Target="/ppt/notesMasters/notesMaster1.xml" Id="R402934dfb22943f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638339695eb4dc7" /><Relationship Type="http://schemas.openxmlformats.org/officeDocument/2006/relationships/notesMaster" Target="/ppt/notesMasters/notesMaster1.xml" Id="R824df9968c6d481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7b79eb3d0a4ad6" /><Relationship Type="http://schemas.openxmlformats.org/officeDocument/2006/relationships/notesMaster" Target="/ppt/notesMasters/notesMaster1.xml" Id="Rdf14e50e4a8e4f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9c9df42a6b74c08" /><Relationship Type="http://schemas.openxmlformats.org/officeDocument/2006/relationships/notesMaster" Target="/ppt/notesMasters/notesMaster1.xml" Id="R7f881ac00390425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52979ac13124663" /><Relationship Type="http://schemas.openxmlformats.org/officeDocument/2006/relationships/notesMaster" Target="/ppt/notesMasters/notesMaster1.xml" Id="Re6a47b10bb8f42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  <a:p xmlns:a="http://schemas.openxmlformats.org/drawingml/2006/main">
            <a:r>
              <a:t>- 知识库：01-booster-kb/07-tech-platform/_tech-overview.md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  <a:p xmlns:a="http://schemas.openxmlformats.org/drawingml/2006/main">
            <a:r>
              <a:t>- 知识库：05-internal-materials/vocational-planning/03_X课程项目/教学设计/U1-L1_具身智能概览与连接K1_教学设计.md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  <a:p xmlns:a="http://schemas.openxmlformats.org/drawingml/2006/main">
            <a:r>
              <a:t>- 知识库：03-cross-reference/theory-to-product.md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  <a:p xmlns:a="http://schemas.openxmlformats.org/drawingml/2006/main">
            <a:r>
              <a:t>- 知识库：02-embodied-ai-edu/01-theory/what-is-embodied-ai-edu.md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知识库：05-internal-materials/vocational-planning/03_X课程项目/教学设计/U1-L1_具身智能概览与连接K1_教学设计.md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  <a:p xmlns:a="http://schemas.openxmlformats.org/drawingml/2006/main">
            <a:r>
              <a:t>- 知识库：03-cross-reference/theory-to-product.md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  <a:p xmlns:a="http://schemas.openxmlformats.org/drawingml/2006/main">
            <a:r>
              <a:t>- 知识库：03-cross-reference/theory-to-product.md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  <a:p xmlns:a="http://schemas.openxmlformats.org/drawingml/2006/main">
            <a:r>
              <a:t>- 知识库：03-cross-reference/theory-to-product.md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  <a:p xmlns:a="http://schemas.openxmlformats.org/drawingml/2006/main">
            <a:r>
              <a:t>- 知识库：01-booster-kb/02-products/booster-k1.md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知识库：01-booster-kb/02-products/booster-k1.md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  <a:p xmlns:a="http://schemas.openxmlformats.org/drawingml/2006/main">
            <a:r>
              <a:t>- 知识库：05-internal-materials/vocational-planning/03_X课程项目/notebooks/U1-L1_具身智能概览与连接K1.ipynb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知识库：01-booster-kb/07-tech-platform/booster-sdk.md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知识库：01-booster-kb/07-tech-platform/booster-sdk.md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知识库：05-internal-materials/vocational-planning/02_共创规则与上下文/notebook开发规则.md</a:t>
            </a:r>
          </a:p>
          <a:p xmlns:a="http://schemas.openxmlformats.org/drawingml/2006/main">
            <a:r>
              <a:t>- 知识库：01-booster-kb/07-tech-platform/booster-studio.md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知识库：01-booster-kb/07-tech-platform/booster-studio.md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知识库：05-internal-materials/vocational-planning/03_X课程项目/教学设计/U1-L1_具身智能概览与连接K1_教学设计.md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知识库：01-booster-kb/07-tech-platform/booster-sdk.md</a:t>
            </a:r>
          </a:p>
          <a:p xmlns:a="http://schemas.openxmlformats.org/drawingml/2006/main">
            <a:r>
              <a:t>- 知识库：05-internal-materials/vocational-planning/03_X课程项目/notebooks/U1-L1_具身智能概览与连接K1.ipynb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知识库：01-booster-kb/07-tech-platform/booster-sdk.md</a:t>
            </a:r>
          </a:p>
          <a:p xmlns:a="http://schemas.openxmlformats.org/drawingml/2006/main">
            <a:r>
              <a:t>- 知识库：05-internal-materials/vocational-planning/03_X课程项目/notebooks/U1-L1_具身智能概览与连接K1.ipynb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知识库：01-booster-kb/07-tech-platform/booster-sdk.md</a:t>
            </a:r>
          </a:p>
          <a:p xmlns:a="http://schemas.openxmlformats.org/drawingml/2006/main">
            <a:r>
              <a:t>- 知识库：05-internal-materials/vocational-planning/03_X课程项目/notebooks/U1-L1_具身智能概览与连接K1.ipynb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知识库：01-booster-kb/07-tech-platform/booster-sdk.md</a:t>
            </a:r>
          </a:p>
          <a:p xmlns:a="http://schemas.openxmlformats.org/drawingml/2006/main">
            <a:r>
              <a:t>- 知识库：05-internal-materials/vocational-planning/03_X课程项目/notebooks/U1-L1_具身智能概览与连接K1.ipynb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知识库：05-internal-materials/vocational-planning/03_X课程项目/PPT内容设计/U1-L1_具身智能概览与连接K1_PPT内容大纲.md</a:t>
            </a:r>
          </a:p>
          <a:p xmlns:a="http://schemas.openxmlformats.org/drawingml/2006/main">
            <a:r>
              <a:t>- 知识库：05-internal-materials/vocational-planning/03_X课程项目/教学设计/U1-L1_具身智能概览与连接K1_教学设计.md</a:t>
            </a:r>
          </a:p>
          <a:p xmlns:a="http://schemas.openxmlformats.org/drawingml/2006/main">
            <a:r>
              <a:t>- 知识库：05-internal-materials/vocational-planning/03_X课程项目/notebooks/U1-L1_具身智能概览与连接K1.ipynb</a:t>
            </a:r>
          </a:p>
          <a:p xmlns:a="http://schemas.openxmlformats.org/drawingml/2006/main">
            <a:r>
              <a:t>- 答案：1. √；2. serial_number；3. B. id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7cb7587b74e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b817f2175b4933" /><Relationship Type="http://schemas.openxmlformats.org/officeDocument/2006/relationships/slideLayout" Target="/ppt/slideLayouts/slideLayout1.xml" Id="R3eace91a895441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ace91a895441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a235ffe4d4aa1" /><Relationship Type="http://schemas.openxmlformats.org/officeDocument/2006/relationships/notesSlide" Target="/ppt/notesSlides/notesSlide1.xml" Id="R0e20ac715aac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e9c9e7d2e4057" /><Relationship Type="http://schemas.openxmlformats.org/officeDocument/2006/relationships/notesSlide" Target="/ppt/notesSlides/notesSlide2.xml" Id="R96d7cc3cb41a4a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916242a654f60" /><Relationship Type="http://schemas.openxmlformats.org/officeDocument/2006/relationships/notesSlide" Target="/ppt/notesSlides/notesSlide3.xml" Id="R842f9455687243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952da5d654e76" /><Relationship Type="http://schemas.openxmlformats.org/officeDocument/2006/relationships/notesSlide" Target="/ppt/notesSlides/notesSlide4.xml" Id="R1b08123b384549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944ee93724c1c" /><Relationship Type="http://schemas.openxmlformats.org/officeDocument/2006/relationships/notesSlide" Target="/ppt/notesSlides/notesSlide5.xml" Id="R7309c6dfcb7249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d8ef7800e4c27" /><Relationship Type="http://schemas.openxmlformats.org/officeDocument/2006/relationships/notesSlide" Target="/ppt/notesSlides/notesSlide6.xml" Id="R7d84522cf94c4e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68cb5474a49e7" /><Relationship Type="http://schemas.openxmlformats.org/officeDocument/2006/relationships/notesSlide" Target="/ppt/notesSlides/notesSlide7.xml" Id="R63c2cac9fe3646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02d6b377f44fe" /><Relationship Type="http://schemas.openxmlformats.org/officeDocument/2006/relationships/notesSlide" Target="/ppt/notesSlides/notesSlide8.xml" Id="Rf049c9647d574d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005b6df204393" /><Relationship Type="http://schemas.openxmlformats.org/officeDocument/2006/relationships/notesSlide" Target="/ppt/notesSlides/notesSlide9.xml" Id="Re3d3852efe6241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8bdffa5f04690" /><Relationship Type="http://schemas.openxmlformats.org/officeDocument/2006/relationships/notesSlide" Target="/ppt/notesSlides/notesSlide10.xml" Id="R4a958795e7a545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7cecc07cc4930" /><Relationship Type="http://schemas.openxmlformats.org/officeDocument/2006/relationships/notesSlide" Target="/ppt/notesSlides/notesSlide11.xml" Id="R721a7b1ed04e4b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533cb880d4fc5" /><Relationship Type="http://schemas.openxmlformats.org/officeDocument/2006/relationships/notesSlide" Target="/ppt/notesSlides/notesSlide12.xml" Id="R4921d0304c7c45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c8476bd8942d6" /><Relationship Type="http://schemas.openxmlformats.org/officeDocument/2006/relationships/notesSlide" Target="/ppt/notesSlides/notesSlide13.xml" Id="R7335587c43de4f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2a92b63dd4aec" /><Relationship Type="http://schemas.openxmlformats.org/officeDocument/2006/relationships/notesSlide" Target="/ppt/notesSlides/notesSlide14.xml" Id="Re37f6c9fd65d48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218bf66dc4130" /><Relationship Type="http://schemas.openxmlformats.org/officeDocument/2006/relationships/notesSlide" Target="/ppt/notesSlides/notesSlide15.xml" Id="R189c4aa3387c40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fe4393b9c4a9f" /><Relationship Type="http://schemas.openxmlformats.org/officeDocument/2006/relationships/notesSlide" Target="/ppt/notesSlides/notesSlide16.xml" Id="R5255d8750acb40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77b216637413b" /><Relationship Type="http://schemas.openxmlformats.org/officeDocument/2006/relationships/notesSlide" Target="/ppt/notesSlides/notesSlide17.xml" Id="Rbb0f23d2f2364b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4a0650bf14b34" /><Relationship Type="http://schemas.openxmlformats.org/officeDocument/2006/relationships/notesSlide" Target="/ppt/notesSlides/notesSlide18.xml" Id="R27383b71a51d46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03e4686744324" /><Relationship Type="http://schemas.openxmlformats.org/officeDocument/2006/relationships/notesSlide" Target="/ppt/notesSlides/notesSlide19.xml" Id="R0c16f6600ba34c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2524b98654c65" /><Relationship Type="http://schemas.openxmlformats.org/officeDocument/2006/relationships/notesSlide" Target="/ppt/notesSlides/notesSlide20.xml" Id="R8316d421b73647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d0b6af3204d92" /><Relationship Type="http://schemas.openxmlformats.org/officeDocument/2006/relationships/notesSlide" Target="/ppt/notesSlides/notesSlide21.xml" Id="R071256b1be0043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12a02075d4b48" /><Relationship Type="http://schemas.openxmlformats.org/officeDocument/2006/relationships/notesSlide" Target="/ppt/notesSlides/notesSlide22.xml" Id="R25acf32a13bd4cd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44eaedb574ac2" /><Relationship Type="http://schemas.openxmlformats.org/officeDocument/2006/relationships/notesSlide" Target="/ppt/notesSlides/notesSlide23.xml" Id="Rc578c183c30c41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ed989f20349cc" /><Relationship Type="http://schemas.openxmlformats.org/officeDocument/2006/relationships/notesSlide" Target="/ppt/notesSlides/notesSlide24.xml" Id="R1f8c62a4b4ad47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745fddcea4904" /><Relationship Type="http://schemas.openxmlformats.org/officeDocument/2006/relationships/notesSlide" Target="/ppt/notesSlides/notesSlide25.xml" Id="R6eb5347067b94b7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5c1608c6f46fe" /><Relationship Type="http://schemas.openxmlformats.org/officeDocument/2006/relationships/notesSlide" Target="/ppt/notesSlides/notesSlide26.xml" Id="Rd9e5d1c919304a1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7850da7d34042" /><Relationship Type="http://schemas.openxmlformats.org/officeDocument/2006/relationships/notesSlide" Target="/ppt/notesSlides/notesSlide27.xml" Id="R7736e9ba501d473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c886e019c42dc" /><Relationship Type="http://schemas.openxmlformats.org/officeDocument/2006/relationships/notesSlide" Target="/ppt/notesSlides/notesSlide28.xml" Id="Rf6047c54f8ce474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891ac90034ae4" /><Relationship Type="http://schemas.openxmlformats.org/officeDocument/2006/relationships/notesSlide" Target="/ppt/notesSlides/notesSlide29.xml" Id="Rc234a2a41657452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6aac1db8b49f8" /><Relationship Type="http://schemas.openxmlformats.org/officeDocument/2006/relationships/notesSlide" Target="/ppt/notesSlides/notesSlide30.xml" Id="R8087d701d54345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A31B0-2F65-456B-9CCC-8760E0C5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第一堂人形机器人课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B7FDB-5032-4C93-8DA0-7D17F90F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</a:defRPr>
            </a:pPr>
            <a:r>
              <a:rPr sz="3450" b="1">
                <a:solidFill>
                  <a:srgbClr val="17212B"/>
                </a:solidFill>
              </a:rPr>
              <a:t>具身智能概览与连接 K1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A6D25-96BD-4A73-AD2D-D1B92B6C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785"/>
                </a:solidFill>
              </a:defRPr>
            </a:pPr>
            <a:r>
              <a:rPr sz="1650" b="0">
                <a:solidFill>
                  <a:srgbClr val="6B7785"/>
                </a:solidFill>
              </a:rPr>
              <a:t>—— 从数字大脑到会动的身体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90BCB-94DB-4F2F-9380-91AA3396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3000B-5255-4ACF-A477-822736C7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785"/>
                </a:solidFill>
              </a:defRPr>
            </a:pPr>
            <a:r>
              <a:rPr sz="1200" b="0">
                <a:solidFill>
                  <a:srgbClr val="6B7785"/>
                </a:solidFill>
              </a:rPr>
              <a:t>单元 U1 · 人形机器人初探与运动控制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A1587-2887-4DA5-B30E-E583851F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课时 L1 · 主讲人：__________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85F5E-C205-4642-969F-66AABA2C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478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K1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22263-0BEC-4C90-9ACC-41122569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00325"/>
            <a:ext cx="952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BF536-947D-4586-9B3D-8F9CC29F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感知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F3602-244C-4E05-94CF-99724A2F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4800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4454"/>
                </a:solidFill>
              </a:defRPr>
            </a:pPr>
            <a:r>
              <a:rPr sz="1200" b="1">
                <a:solidFill>
                  <a:srgbClr val="344454"/>
                </a:solidFill>
              </a:rPr>
              <a:t>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D3C0C-1114-421C-A525-F8AAD08A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952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7BAC2-F510-4D00-ACB3-495B4318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43300"/>
            <a:ext cx="952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00E08-4680-4EB0-9B4A-3D6741CE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481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A7A"/>
                </a:solidFill>
              </a:defRPr>
            </a:pPr>
            <a:r>
              <a:rPr sz="1200" b="1">
                <a:solidFill>
                  <a:srgbClr val="123A7A"/>
                </a:solidFill>
              </a:rPr>
              <a:t>运动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86F6F-7E9E-4B52-B0BF-5DB6E97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481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4454"/>
                </a:solidFill>
              </a:defRPr>
            </a:pPr>
            <a:r>
              <a:rPr sz="1200" b="1">
                <a:solidFill>
                  <a:srgbClr val="344454"/>
                </a:solidFill>
              </a:rPr>
              <a:t>电源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211DE-926D-4B71-B605-22F0268E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101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785"/>
                </a:solidFill>
              </a:defRPr>
            </a:pPr>
            <a:r>
              <a:rPr sz="975" b="0">
                <a:solidFill>
                  <a:srgbClr val="6B7785"/>
                </a:solidFill>
              </a:rPr>
              <a:t>可编辑结构示意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9D174-A00D-4724-8BE5-C48683E1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 / 30</a:t>
            </a:r>
          </a:p>
        </p:txBody>
      </p:sp>
    </p:spTree>
    <p:extLst>
      <p:ext uri="{BB962C8B-B14F-4D97-AF65-F5344CB8AC3E}">
        <p14:creationId xmlns:p14="http://schemas.microsoft.com/office/powerpoint/2010/main" val="1591530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6D599-682A-462B-BABF-1AB481B3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14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导学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F3499-1D64-40DB-8C43-AB4C360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本课目标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98CDD-E8FC-4E47-ABDF-FBD2A6C8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一节课我们要带走什么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0B9A5-F19E-4B2F-9F62-3BD1008C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2DABF-0CE4-4ADB-B135-C6F844A3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CBC6E-6AC6-4AF1-A4A9-AA1C9320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02C1D-512D-4FB2-9968-D9B60EE5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431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认识具身智能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8455A-8A1A-43E7-960F-251A38FE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05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说清楚“数字大脑”和“有身体的智能”有什么不同。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7A7B4-D08D-464A-B6F4-164BD402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9D21A-CF15-44E6-91E3-C79D3B93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956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连接一台 K1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1476F-7882-4805-87D0-118996C0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576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用 BoosterOS SDK 读取身份、关节、动作和状态信息。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649AA-53F8-4B5D-8F13-61490A4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1F1C8-E154-4CDF-98EF-D27DDCAC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建立开发范式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80F77-C3E1-472B-B549-5A21A684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理解：电脑经网络连接实体机器人，SDK 提供程序接口。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81496-82ED-4712-8643-66C87F27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32A0A-2035-46C1-8CD6-75525D2B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今天先读懂、连上、看清楚；暂不下发运动指令。</a:t>
            </a:r>
          </a:p>
        </p:txBody>
      </p:sp>
    </p:spTree>
    <p:extLst>
      <p:ext uri="{BB962C8B-B14F-4D97-AF65-F5344CB8AC3E}">
        <p14:creationId xmlns:p14="http://schemas.microsoft.com/office/powerpoint/2010/main" val="2096618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0397D-B7C6-47EE-8ACF-EB9751E6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0859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7C9BB-5648-42FB-90D4-428F098A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机器人的“智能”在哪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48340-FE40-46FB-B3C7-459E78EB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会算，还是会动？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0E922-9B77-4E66-B830-BBE6BCC5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33F24-1A4D-49D0-B928-A49C4C63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3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953AC-9FA0-4DF3-BEA3-6C86670A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43125"/>
            <a:ext cx="4191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A981C-73A0-4281-AF1F-0D58C263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24425"/>
            <a:ext cx="4191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4176C-8440-4355-9B0C-384F17AF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09925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短片画面</a:t>
            </a:r>
          </a:p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展厅 · 足球 · 搬运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60A39-7D98-4181-B33F-912EE29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先看一个任务：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机器人把杯子稳稳送到指定位置。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4E809-7054-42A8-9711-602AE725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【想一想】</a:t>
            </a:r>
          </a:p>
          <a:p xmlns:a="http://schemas.openxmlformats.org/drawingml/2006/main">
            <a:pPr algn="l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它需要哪些能力？</a:t>
            </a:r>
          </a:p>
          <a:p xmlns:a="http://schemas.openxmlformats.org/drawingml/2006/main">
            <a:pPr algn="l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只会生成答案，够不够？</a:t>
            </a:r>
          </a:p>
        </p:txBody>
      </p:sp>
    </p:spTree>
    <p:extLst>
      <p:ext uri="{BB962C8B-B14F-4D97-AF65-F5344CB8AC3E}">
        <p14:creationId xmlns:p14="http://schemas.microsoft.com/office/powerpoint/2010/main" val="17468043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19CE0-FD4B-44F0-91BF-9CF34019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0859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E9A29-44E4-47B2-ACA8-99987BC8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什么是具身智能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CBB51-114D-4DC6-8B54-35557C5D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从数字大脑到会动的身体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98DD8-C815-4F7A-924B-40FFE0C1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3601F-8EF2-4190-BEE9-3410B4DE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4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7EF4B-B387-4258-BFBF-69AF96A4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智能不只存在于模型里，也存在于身体与环境的真实交互中。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F3027-DF40-4B6B-B2C4-0102B750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离身智能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40D4B-289A-46FE-92B6-37F6E729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具身智能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E9A03-E47D-4312-A7F7-B957AFB3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课堂中的 K1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C1C7A-E6D6-4A96-A823-9576B513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屏幕中的模型</a:t>
            </a:r>
          </a:p>
          <a:p xmlns:a="http://schemas.openxmlformats.org/drawingml/2006/main">
            <a:pPr algn="ctr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擅长计算、生成、推理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7C977-D7C1-461F-9D20-9768E87E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14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身体 + 感知 + 行动</a:t>
            </a:r>
          </a:p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在环境中完成任务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28C8E-392C-4557-9D01-DB2D04B6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K1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有芯片、有系统、能被编程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9AEBA-83DE-4037-A3AA-338E34EB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关键区别：能否通过身体感知世界，并用行动改变世界。</a:t>
            </a:r>
          </a:p>
        </p:txBody>
      </p:sp>
    </p:spTree>
    <p:extLst>
      <p:ext uri="{BB962C8B-B14F-4D97-AF65-F5344CB8AC3E}">
        <p14:creationId xmlns:p14="http://schemas.microsoft.com/office/powerpoint/2010/main" val="474138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3B9E8-A166-499C-82CA-D8173E0E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0859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52C38-9AC4-4F21-A88E-B76D9328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智能是怎么一步步“长”出来的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5BDFF-DF62-4669-B9EB-A8D42AC0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四段发展脉络一览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923F2-C457-4847-A3D4-C2AE90B6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E5164-1E8E-480E-BF1B-F5FA4A23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5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F774B-1D37-46EB-8AC1-9EAF70FA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6125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30643-EB43-461F-B90D-81304852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符号智能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1950s–1980s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智能 = 符号推理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CE77E-C033-4532-A1D7-8AB7E9F6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6125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D26A2-A359-4A1E-B2D3-46D3B32A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行为主义与机器人学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1980s–2000s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感知—行动闭环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F0D2C-498B-4CAA-ABAA-B8D6AC3C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27478-1B10-4053-89FC-86CC90FC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深度学习赋能感知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2010s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看得清、听得懂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9974B-501E-4FB6-8E6E-FD685ACD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大模型与 VLA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2020s 至今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看—想—动一体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32286-A6A8-4403-947E-92FCFCB7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每一次进步，都让机器人更接近“理解环境并采取行动”。</a:t>
            </a:r>
          </a:p>
        </p:txBody>
      </p:sp>
    </p:spTree>
    <p:extLst>
      <p:ext uri="{BB962C8B-B14F-4D97-AF65-F5344CB8AC3E}">
        <p14:creationId xmlns:p14="http://schemas.microsoft.com/office/powerpoint/2010/main" val="888151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E3DAE-F551-4CA9-96BA-03B87081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0859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803FF-AC78-4BB9-918E-9964D1C4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发展一 · 符号智能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E58B9-94C3-4CDF-B2C4-96517C49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把智能当作“推理”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50B9B-1A92-4466-91B1-87719CBC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511A4-131B-42A7-829A-8FDE10FD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6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9517F-6A44-4E3F-AEBE-F2D0EB9E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1950s–1980s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F17C5-5400-4521-A80E-C2CEA74C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早期人工智能把智能理解为符号推理。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机器人按固定程序执行任务，尚不具备自主学习能力。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10776-904E-44D1-B947-26BDED6E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代表人物：Newell &amp; Simon</a:t>
            </a:r>
          </a:p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认识重点：规则能解决什么，不能解决什么。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9E9BF-B7EA-4F44-A083-F5CBA8D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3762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95E6D-E327-4F4C-8AB5-C593FD71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76800"/>
            <a:ext cx="3762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53E02-3600-4143-A1D6-798170D4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62300"/>
            <a:ext cx="3305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概念图示</a:t>
            </a:r>
          </a:p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可替换为课堂配图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FBCC5-891C-427F-ABC3-27722DA2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38750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这一阶段留下的关键词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40BF7-A0E9-43AA-B0EB-16840721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24500"/>
            <a:ext cx="2619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符号智能</a:t>
            </a:r>
          </a:p>
        </p:txBody>
      </p:sp>
    </p:spTree>
    <p:extLst>
      <p:ext uri="{BB962C8B-B14F-4D97-AF65-F5344CB8AC3E}">
        <p14:creationId xmlns:p14="http://schemas.microsoft.com/office/powerpoint/2010/main" val="1462387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63D90-58A4-4375-AD05-5A703EBC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0859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BDBA7-5C02-4B9B-B545-6E15147B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发展二 · 行为主义与机器人学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53A57-EBFC-4A98-ABD7-D6EBBF49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让机器人“感知—行动”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C7762-89F0-4ABA-BAE7-1B6D4FA7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EB47C-6224-4EA9-805E-CDDAF15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7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AA580-7EB9-4A55-B795-FC92BA7B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1980s–2000s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50A4F-D118-4425-A9E3-74DED8BE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机器人开始进入真实环境：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边感知、边行动，用反馈形成闭环。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5023B-BFE1-4784-8A2D-650B1C77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代表思路：Brooks 的“无表征”</a:t>
            </a:r>
          </a:p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认识重点：身体和环境进入智能系统。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367FB-E300-4B20-9F07-B53980CB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3762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DBC85-9597-4804-A21A-9CABBF52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76800"/>
            <a:ext cx="3762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7DFE1-137F-4E4D-9B25-DCFFCA9C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62300"/>
            <a:ext cx="3305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概念图示</a:t>
            </a:r>
          </a:p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可替换为课堂配图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06270-7141-4CD1-AA9D-632E7633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38750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这一阶段留下的关键词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BCAF7-673E-4DF4-8B1E-27A9AE7E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24500"/>
            <a:ext cx="2619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行为主义与机器人学</a:t>
            </a:r>
          </a:p>
        </p:txBody>
      </p:sp>
    </p:spTree>
    <p:extLst>
      <p:ext uri="{BB962C8B-B14F-4D97-AF65-F5344CB8AC3E}">
        <p14:creationId xmlns:p14="http://schemas.microsoft.com/office/powerpoint/2010/main" val="1455789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C5A48-053F-4BAE-B922-AD95FE0F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0859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96D63-8A1B-4228-B664-3591827B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发展三 · 深度学习赋能感知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E91DE-F2CC-49EF-BAF6-D3340DD4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机器人终于“看得清”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070AA-6E82-4792-A0E2-8974BCAE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D576B-6521-4DFF-85EE-8C98C47A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8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04AF9-57C5-45C1-A4C1-47CA9AF3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2010s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70C06-B10E-41D9-8337-989CB51D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视觉与语音识别能力快速提升，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机器人开始更可靠地识别环境和人的指令。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9877F-8C8A-4F77-BABE-A5C78056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代表突破：AlexNet</a:t>
            </a:r>
          </a:p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认识重点：感知能力是行动的入口。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DB569-B247-4B06-8B34-1BD82BC4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3762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C1B52-B02C-4D80-8DC5-CDD99B7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76800"/>
            <a:ext cx="3762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57B0F-5B95-46DE-A13B-A9124320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62300"/>
            <a:ext cx="3305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概念图示</a:t>
            </a:r>
          </a:p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可替换为课堂配图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4C5F2-22B2-4BFD-AC46-B0A029CC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38750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这一阶段留下的关键词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7C65C-4DF0-4682-982E-641F1E85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24500"/>
            <a:ext cx="2619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深度学习赋能感知</a:t>
            </a:r>
          </a:p>
        </p:txBody>
      </p:sp>
    </p:spTree>
    <p:extLst>
      <p:ext uri="{BB962C8B-B14F-4D97-AF65-F5344CB8AC3E}">
        <p14:creationId xmlns:p14="http://schemas.microsoft.com/office/powerpoint/2010/main" val="15723153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70B6D-76B8-43B7-9BCC-89B5567F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0859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第一部分 · 初识具身智能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725D3-9FFA-4B10-85E0-31468174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发展四 · 大模型与 VLA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AE8FB-59AF-45AF-B078-31CD528C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看、想、动连成一体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EC2EA-01E1-42BE-A069-963F42E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0393B-9327-45E1-8F12-99D16675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9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8F7E3-B998-43FB-B294-9144BAB9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2020s 至今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792BF-B377-49BC-8B1D-B855A07A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大模型提供更强的通用推理，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VLA 尝试把视觉、语言和动作连接起来。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274DF-C012-461A-900D-EF9A472B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代表方向：PaLM-E、RT-2</a:t>
            </a:r>
          </a:p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认识重点：从单点能力走向任务级行为。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DF622-CF4E-4EF8-8746-EA7777B5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3762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4E867-29FF-4AA4-907D-463D0C98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76800"/>
            <a:ext cx="3762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1B15A-903E-4AD7-A5A2-E51F4302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62300"/>
            <a:ext cx="3305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概念图示</a:t>
            </a:r>
          </a:p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可替换为课堂配图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21CC5-02DA-4AB3-994C-8BD5AC30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38750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这一阶段留下的关键词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0DE98-644D-4886-A0C9-89A5EA7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24500"/>
            <a:ext cx="2619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大模型与 VLA</a:t>
            </a:r>
          </a:p>
        </p:txBody>
      </p:sp>
    </p:spTree>
    <p:extLst>
      <p:ext uri="{BB962C8B-B14F-4D97-AF65-F5344CB8AC3E}">
        <p14:creationId xmlns:p14="http://schemas.microsoft.com/office/powerpoint/2010/main" val="810194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4C01C-E31B-4124-A33D-7B39188D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5BAEA-209C-4CD9-B20A-33214410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今天的研究往哪用力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D471A-F238-4E72-978A-0B67FD8A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既要开眼界，也要能上手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75199-A1B9-4907-9BBA-67578508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B9580-547F-4D33-98F6-06BF2C52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10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084E2-AB15-442A-9C2C-A7CE7F1A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38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前沿方向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29450-D43A-41D5-A19A-EFBDAF66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VLN · VLA · 世界模型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D69F7-AE00-4736-A85A-0504AAF5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回答：智能如何理解更复杂的环境与任务？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3E974-8DD7-471D-9202-4640EA4A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381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A7A"/>
          </a:solidFill>
          <a:ln xmlns:a="http://schemas.openxmlformats.org/drawingml/2006/main" w="9525">
            <a:solidFill>
              <a:srgbClr val="123A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应用方向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10FA0-CA3E-4657-BC71-8EC6579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机器人操作 · 运动控制 · 手眼协调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4D9CA-3E19-4915-AB2A-35000011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回答：智能如何稳定地完成真实任务？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B78B7-E080-4E94-A034-772167D1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922AE-104D-416D-8C4D-E5BA03F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0DB28-29B0-4F5D-8F25-E8888498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方向不同，问题相同：让机器人更好地理解并行动。</a:t>
            </a:r>
          </a:p>
        </p:txBody>
      </p:sp>
    </p:spTree>
    <p:extLst>
      <p:ext uri="{BB962C8B-B14F-4D97-AF65-F5344CB8AC3E}">
        <p14:creationId xmlns:p14="http://schemas.microsoft.com/office/powerpoint/2010/main" val="18197493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70C18-801A-425E-9BAA-675D934A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A7825-B44B-4E95-8D12-253C8C96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前沿一 · 视觉语言导航 VLN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C4DCB-89B3-4C15-8506-23C4591C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听懂“去那边把杯子拿来”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6A85D-E240-4354-855A-CBFA8C27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4BF57-E572-4AB4-9286-242E5830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11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5C9CD-0254-48FE-A7C9-BB9D33D4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语言 + 环境 + 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97E0A-C40F-4E08-B0C3-0C886C2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语言指令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E2E76-2C04-468F-B2CC-02AB45B8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ED725-E604-460D-862D-18EF28FB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看见环境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0DCF0-4ACE-4769-ACB9-F99A7307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813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4317E-BC2E-4836-ACCD-6FC738E1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规划路径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A6D25-E38A-4F9B-8361-62F1BE3D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337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CC805-9F71-42A6-AC7A-EA0AA4E5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到达目标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FEBFB-E224-43AA-AB4D-43313AF1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核心问题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A08F6-D888-45FC-A7F2-9D142C72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语言 + 环境 + 路径</a:t>
            </a:r>
          </a:p>
        </p:txBody>
      </p:sp>
    </p:spTree>
    <p:extLst>
      <p:ext uri="{BB962C8B-B14F-4D97-AF65-F5344CB8AC3E}">
        <p14:creationId xmlns:p14="http://schemas.microsoft.com/office/powerpoint/2010/main" val="6878100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871F1-C7B7-4E09-AD30-7651FFE8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3B915-6EA8-4FF6-8599-20728C90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前沿二 · 视觉语言动作 VLA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82402-D700-4358-A0D5-14B6ACE5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看见画面，直接输出动作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E3523-F459-48C4-9AC6-DF51F87C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F1C36-B41B-4AAB-B43D-E7829941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12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E5AF7-5C78-4A1F-B92E-B592A3A6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画面 + 指令 → 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97F11-A8A4-4025-B819-D743FC4A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9E550-531B-40DB-8B02-1B23CF51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D32B9-975C-4466-BCB5-FCB9435A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语言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0AF91-C7CB-42A6-9CA1-6E82CD5F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813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A426B-3A8E-42A5-B214-424CB92C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模型推理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A1585-9AD5-49CB-AC95-688C5C08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337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26BA5-2E7D-4241-A4EE-2475405C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动作序列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E36CF-CFE4-409C-B686-8C9CAFAB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核心问题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EEBB4-D69E-4D1F-A76E-6D54ED7B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画面 + 指令 → 动作</a:t>
            </a:r>
          </a:p>
        </p:txBody>
      </p:sp>
    </p:spTree>
    <p:extLst>
      <p:ext uri="{BB962C8B-B14F-4D97-AF65-F5344CB8AC3E}">
        <p14:creationId xmlns:p14="http://schemas.microsoft.com/office/powerpoint/2010/main" val="2024805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0D5A3-350B-4772-9291-30BDAF5E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0E9A9-B44C-45A3-9680-159696D2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前沿三 · 世界模型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4FBD-1D39-4177-98DA-805D0568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在脑内先“演一遍”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0DB69-561A-4EF3-8FA2-A514B112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EF18A-B298-4996-9464-CDA70281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13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AA7E0-1645-441C-A5FF-5E3EF0EA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</a:defRPr>
            </a:pPr>
            <a:r>
              <a:rPr sz="1725" b="1">
                <a:solidFill>
                  <a:srgbClr val="17212B"/>
                </a:solidFill>
              </a:rPr>
              <a:t>预测行动后果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E5F0D-0925-4B2D-B8AF-19022FA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当前状态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EA98C-53DD-498F-A0A9-64BA440C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C4F0B-47B8-4495-8CE1-16914E68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假设动作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44D21-05A2-4B08-85E2-4C05B497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813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87EE1-04CC-45FD-85AD-FC68229F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A7A"/>
                </a:solidFill>
              </a:defRPr>
            </a:pPr>
            <a:r>
              <a:rPr sz="1275" b="1">
                <a:solidFill>
                  <a:srgbClr val="123A7A"/>
                </a:solidFill>
              </a:rPr>
              <a:t>预测结果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45425-5D31-4534-AFC0-F73EF193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337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8DAA1-DFD5-45F1-B1CF-6DE06B64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选择行动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D0DAC-E456-472E-A1F2-3486B431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核心问题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2CD67-ACF8-45F4-88D5-CC8D37D2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预测行动后果</a:t>
            </a:r>
          </a:p>
        </p:txBody>
      </p:sp>
    </p:spTree>
    <p:extLst>
      <p:ext uri="{BB962C8B-B14F-4D97-AF65-F5344CB8AC3E}">
        <p14:creationId xmlns:p14="http://schemas.microsoft.com/office/powerpoint/2010/main" val="13649994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0BCA7-0B64-4155-BDC2-B9C80263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807F5-6D20-4D62-8C8A-9D77EDFA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应用一 · 机器人操作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55BC2-ACBE-4B62-8A01-7689DF43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稳稳抓放、精准装配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3152D-01C9-4A7C-8FF9-15991A62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BB1A7-7207-47C7-939D-91232AED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14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E0AFA-F065-4134-A12F-D1E39DC8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让机器人把“看见目标”变成“完成操作”。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B00C1-DA63-471B-A3C4-2DED2269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A7A"/>
                </a:solidFill>
              </a:defRPr>
            </a:pPr>
            <a:r>
              <a:rPr sz="1425" b="1">
                <a:solidFill>
                  <a:srgbClr val="123A7A"/>
                </a:solidFill>
              </a:rPr>
              <a:t>识别目标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34A10-0894-49AD-97B3-CFF21EE1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6C0D6-7BAB-4994-B037-DC0C280F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规划抓取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84B1F-7CA6-4B4E-8D8A-3585F8B1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7A1BC-C661-4F42-8D85-0EFC495C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稳定放置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01DD1-658D-4244-BC4C-39A79876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应用方向的共同目标：让感知结果真正转化为稳定动作。</a:t>
            </a:r>
          </a:p>
        </p:txBody>
      </p:sp>
    </p:spTree>
    <p:extLst>
      <p:ext uri="{BB962C8B-B14F-4D97-AF65-F5344CB8AC3E}">
        <p14:creationId xmlns:p14="http://schemas.microsoft.com/office/powerpoint/2010/main" val="1033412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E460B-37E1-447C-82A3-A9455651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07153-FC14-4CA1-8B6E-26093301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应用二 · 运动控制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DF2CC-5975-4CD5-926D-E9816D39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在不平地面站稳走好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114B3-C2F6-46B7-96B8-D830B088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7F9FF-BEB5-461C-BD21-EC442DAA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15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C1C8F-C018-4694-B1F4-84473E07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让机器人在运动中保持姿态、速度与方向。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0A903-0CD9-4967-BDDB-CA2B77BB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A7A"/>
                </a:solidFill>
              </a:defRPr>
            </a:pPr>
            <a:r>
              <a:rPr sz="1425" b="1">
                <a:solidFill>
                  <a:srgbClr val="123A7A"/>
                </a:solidFill>
              </a:rPr>
              <a:t>读取状态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291A3-E3F0-4527-988E-CC7B742B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7A072-C977-493C-AE02-5AC32A76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调整速度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28E4F-2D9E-4D9A-8CD1-54A1DCBF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C7F94-2BFE-448E-9BC1-2CA6BD8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稳定行走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5FDB2-D8BE-433B-933B-B8C0E8C7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应用方向的共同目标：让感知结果真正转化为稳定动作。</a:t>
            </a:r>
          </a:p>
        </p:txBody>
      </p:sp>
    </p:spTree>
    <p:extLst>
      <p:ext uri="{BB962C8B-B14F-4D97-AF65-F5344CB8AC3E}">
        <p14:creationId xmlns:p14="http://schemas.microsoft.com/office/powerpoint/2010/main" val="18113199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44816-8687-4F05-BDA1-01A74311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第二部分 · 研究重心与方向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B2866-9489-49D0-8CE8-7E6DC5F4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应用三 · 手眼协调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B9E7E-84B8-4F7A-A2DA-566A927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眼睛看到的，实时修正手的动作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83298-7B86-4E41-A59C-A558F612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8113D-C445-43A8-99A8-3F56C274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16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F3B56-5D18-40F3-B73C-13CF4C07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让视觉反馈持续修正动作误差。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66A4D-6F60-4BCB-B72A-5AFC8B0F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A7A"/>
                </a:solidFill>
              </a:defRPr>
            </a:pPr>
            <a:r>
              <a:rPr sz="1425" b="1">
                <a:solidFill>
                  <a:srgbClr val="123A7A"/>
                </a:solidFill>
              </a:rPr>
              <a:t>视觉反馈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F8FFE-71AB-499A-83EE-01DD7BE1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E4194-E849-49BD-947E-1E6E5595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44454"/>
                </a:solidFill>
              </a:defRPr>
            </a:pPr>
            <a:r>
              <a:rPr sz="1425" b="1">
                <a:solidFill>
                  <a:srgbClr val="344454"/>
                </a:solidFill>
              </a:rPr>
              <a:t>误差判断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58E3A-9D8E-4147-AF8D-28E43253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D3D4F-D300-4E6F-BC2F-2D4CE371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动作修正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DA069-7993-446E-B119-85A0ABE8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应用方向的共同目标：让感知结果真正转化为稳定动作。</a:t>
            </a:r>
          </a:p>
        </p:txBody>
      </p:sp>
    </p:spTree>
    <p:extLst>
      <p:ext uri="{BB962C8B-B14F-4D97-AF65-F5344CB8AC3E}">
        <p14:creationId xmlns:p14="http://schemas.microsoft.com/office/powerpoint/2010/main" val="12858804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02B42-6048-49A9-A919-83D79E5C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00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A4617-B231-4C7B-8DBD-CC014738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回到我们手边的这台 K1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9CB81-A6B0-439C-ACF5-E56C70E7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它到底由什么组成？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0609F-0309-4CE0-A784-8AF7BD9D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16CEF-6B70-4D27-AE48-A8BC484C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17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1FC7A-E199-4C60-B079-2672B077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前面认识了“智能”与“研究方向”。</a:t>
            </a:r>
          </a:p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现在回到一台真实的人形机器人：K1。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D734A-CCE1-437D-B25A-62A9B8C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52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A7A"/>
                </a:solidFill>
              </a:defRPr>
            </a:pPr>
            <a:r>
              <a:rPr sz="1650" b="1">
                <a:solidFill>
                  <a:srgbClr val="123A7A"/>
                </a:solidFill>
              </a:rPr>
              <a:t>它的身体由哪些系统组成？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0EB0A-5B1B-4E4F-AEC9-1D321504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K1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DAB41-8AEB-4815-8AB2-5822727E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95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AE4E6-9F6A-4C7F-AA1B-638F5706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1238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感知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FD1B7-9A14-4BFF-AA61-ABCA2477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238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0EF24-EB48-4199-B8B1-ABFF20ED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9625"/>
            <a:ext cx="1238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运动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F3A17-663F-4931-9BE7-5B211053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19625"/>
            <a:ext cx="1238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454"/>
                </a:solidFill>
              </a:defRPr>
            </a:pPr>
            <a:r>
              <a:rPr sz="1350" b="1">
                <a:solidFill>
                  <a:srgbClr val="344454"/>
                </a:solidFill>
              </a:rPr>
              <a:t>电源</a:t>
            </a:r>
          </a:p>
        </p:txBody>
      </p:sp>
    </p:spTree>
    <p:extLst>
      <p:ext uri="{BB962C8B-B14F-4D97-AF65-F5344CB8AC3E}">
        <p14:creationId xmlns:p14="http://schemas.microsoft.com/office/powerpoint/2010/main" val="6362827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71869-09FC-4478-AEAA-13AB07C7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00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6EF27-F183-4685-82F4-ECF5122E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人形机器人的系统组成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2F14D-047F-4B4F-90D9-128E24B1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感知、计算、运动、电源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1147F-1564-4D62-A630-A7932E11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55656-148D-4C70-AEA7-DF6055A4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18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A4F36-9E11-408F-AB64-AC434D42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9550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K1 人形机器人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B0A7A-1D5C-41E2-8CC0-2F380A9E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86050"/>
            <a:ext cx="4143375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A1C6E-5AE1-4CF4-B299-591E9F73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感知子系统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相机 · IMU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获取环境与姿态信息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20068-F9B8-45D9-AC36-48A817EF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86050"/>
            <a:ext cx="1285875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ECE45-097D-49B2-9D0B-59205EEF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计算子系统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机载算力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处理数据与任务逻辑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3D7E7-C815-48FA-9AE9-E11441F7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1571625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3A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B6004-7F05-4F4C-AC23-5A5EAD91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23A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运动子系统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关节 · 电机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把指令变成动作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49ED2-FF08-4FAC-8A8A-7A5BB7C1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4429125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C8444-317A-445E-AEAC-3768D5A8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电源子系统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电池 · 供电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让系统持续运行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E25FE-DFB8-426F-ABBA-84E8ADC5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四个子系统协同，才形成完整的感知—决策—行动链路。</a:t>
            </a:r>
          </a:p>
        </p:txBody>
      </p:sp>
    </p:spTree>
    <p:extLst>
      <p:ext uri="{BB962C8B-B14F-4D97-AF65-F5344CB8AC3E}">
        <p14:creationId xmlns:p14="http://schemas.microsoft.com/office/powerpoint/2010/main" val="14519589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B4E7B-2A70-4C0A-B6C9-40B46E2B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00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8BF83-1000-439A-B52C-469C6061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走近 K1（一）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5856A-63AA-4FA6-9761-44BAD816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外观、硬件与“身体参数”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7F58C-A4FD-4132-99DE-51BA5BBB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5EDF1-60B1-45AF-9326-0B7451FC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19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2403D-E7BB-4007-B4CE-8B2D8F42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6EBF8-BC74-4E54-A048-3BCAEDFE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625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C4D0A-0A51-4C77-8F37-A90B530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05175"/>
            <a:ext cx="2876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K1 全身实拍</a:t>
            </a:r>
          </a:p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建议替换为公司产品图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5868C-6065-4E8E-BEB1-B2732AFD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Booster Robot 公司的人形机器人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BC212-7729-467A-821B-3AF69D8B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CAB7E-CD9C-4FAB-83FA-2A7FBD50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0375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约 1.3 m 级人形机器人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CD27-28B1-4C70-A227-F8B45BE0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97F6A-4226-404C-9561-52042B57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0425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22 个关节自由度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A35F4-8FB6-4F51-A715-47FB5863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68B79-45AC-489A-8321-6B4A4C64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00475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头部相机、IMU 等传感器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83B30-53D0-4F5D-B729-587EE005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D6FC8-4950-4C05-825A-5D1C7A24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00525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有芯片、有操作系统 BoosterOS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EAE11-353A-423A-8B74-815EC49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身体参数不是“背诵题”</a:t>
            </a:r>
          </a:p>
          <a:p xmlns:a="http://schemas.openxmlformats.org/drawingml/2006/main">
            <a:pPr algn="l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它们决定了程序可以读取和控制什么。</a:t>
            </a:r>
          </a:p>
        </p:txBody>
      </p:sp>
    </p:spTree>
    <p:extLst>
      <p:ext uri="{BB962C8B-B14F-4D97-AF65-F5344CB8AC3E}">
        <p14:creationId xmlns:p14="http://schemas.microsoft.com/office/powerpoint/2010/main" val="9534406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11EF5-32EE-44EB-ABAB-34EE31B3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00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A56CF-255A-427D-889B-6C08705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走近 K1（二）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3B0B1-AFB9-4E06-A1A4-DEDFEC4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它能做什么，我们能对它做什么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58D8B-201B-4160-9364-BD0E604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51E87-EB24-4BF9-9627-E10C0A9E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20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B0300-318B-490A-988F-8B5A4031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今天的任务是“只读认识”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220C1-6C7C-4C36-B0BB-B7458398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连接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3A28F-10D2-4C15-AD52-C00EB95C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861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让电脑找到这台 K1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85F9E-3E28-4081-B8BD-25E8778F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读取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1BE46-0C78-4923-B345-F2018F6C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29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查看身份、关节、动作与状态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2F586-F2DB-4B96-B032-091120E8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7677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A1844-CBB8-4B86-9C10-16365D9C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72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把返回数据和机器人身体对应起来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CD03C-9789-48F2-B5FB-AD4E7053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484D"/>
                </a:solidFill>
              </a:defRPr>
            </a:pPr>
            <a:r>
              <a:rPr sz="1500" b="1">
                <a:solidFill>
                  <a:srgbClr val="E5484D"/>
                </a:solidFill>
              </a:rPr>
              <a:t>本课不下发运动指令</a:t>
            </a:r>
          </a:p>
          <a:p xmlns:a="http://schemas.openxmlformats.org/drawingml/2006/main">
            <a:pPr algn="ctr">
              <a:defRPr sz="1500" b="1">
                <a:solidFill>
                  <a:srgbClr val="E5484D"/>
                </a:solidFill>
              </a:defRPr>
            </a:pPr>
            <a:r>
              <a:rPr sz="1500" b="1">
                <a:solidFill>
                  <a:srgbClr val="E5484D"/>
                </a:solidFill>
              </a:rPr>
              <a:t>先建立“我连的是谁、我读到了什么”的工程习惯。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919C1-FA83-4339-9B61-CFEE6B57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484D"/>
                </a:solidFill>
              </a:defRPr>
            </a:pPr>
            <a:r>
              <a:rPr sz="1650" b="1">
                <a:solidFill>
                  <a:srgbClr val="E5484D"/>
                </a:solidFill>
              </a:rPr>
              <a:t>看清楚，再动手。</a:t>
            </a:r>
          </a:p>
        </p:txBody>
      </p:sp>
    </p:spTree>
    <p:extLst>
      <p:ext uri="{BB962C8B-B14F-4D97-AF65-F5344CB8AC3E}">
        <p14:creationId xmlns:p14="http://schemas.microsoft.com/office/powerpoint/2010/main" val="11975053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3B698-29BB-4EA5-BC7D-5168184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00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7830D-ABC9-4E1D-8C92-14E215D9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怎么用一行代码让它“听话”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A2F5C-2752-4995-9641-51548D65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从手动到程序控制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22001-EA66-4039-ABC4-6CF25865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51E99-984D-4F71-951B-292EB641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21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852A6-C9FB-4F2B-A382-CADBB0A3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看完了“身体”，下一步是找到程序入口。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56437-DDD9-44AE-A1C2-8AA0C322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4454"/>
                </a:solidFill>
              </a:defRPr>
            </a:pPr>
            <a:r>
              <a:rPr sz="1725" b="1">
                <a:solidFill>
                  <a:srgbClr val="344454"/>
                </a:solidFill>
              </a:rPr>
              <a:t>人手操作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959D9-E060-4DB7-8C13-8764451E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43350"/>
            <a:ext cx="762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27A31-051A-4E84-91B6-3D4CB856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程序接口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04BE9-7826-46E9-B7B6-8E8F7C90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762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E6A59-F334-4094-B280-139CDC61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机器人行动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0BC2D-790D-4399-9B9B-DE97960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SDK 把复杂的通信与设备能力，整理成可以调用的程序接口。</a:t>
            </a:r>
          </a:p>
        </p:txBody>
      </p:sp>
    </p:spTree>
    <p:extLst>
      <p:ext uri="{BB962C8B-B14F-4D97-AF65-F5344CB8AC3E}">
        <p14:creationId xmlns:p14="http://schemas.microsoft.com/office/powerpoint/2010/main" val="7143515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1DD05-701C-4F97-9947-918AF393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00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1F2AD-AD6E-4589-9BFC-EAE89ECB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SDK 是什么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F3C0E-6A1D-4BFA-AF52-8739FFB0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操作机器人的“说明书 + 钥匙”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537A0-80AE-463E-95A4-5B672588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B56E1-AA6D-442C-9977-5FFE0684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22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83D96-91D6-458C-9093-B7083535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BoosterRobot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统一入口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06EC6-E9A5-4438-84BC-E6F87AE4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26670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42AE8-8BEA-4EE3-A5B6-9C911E21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robot_info</a:t>
            </a:r>
          </a:p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读身份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F0A7F-4C8F-4949-9F0A-3A6DD7CE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26670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45D98-BDC9-45E3-808C-8E709832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list_joints()</a:t>
            </a:r>
          </a:p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读身体清单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D9417-0D0F-4E16-99B5-9509C5EA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26670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25DE4-F821-485C-9B90-C9D6667D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list_actions()</a:t>
            </a:r>
          </a:p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读动作库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71AE7-3DA5-4695-867A-3E41F666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先通过统一入口读取信息，再决定下一步怎么开发。</a:t>
            </a:r>
          </a:p>
        </p:txBody>
      </p:sp>
    </p:spTree>
    <p:extLst>
      <p:ext uri="{BB962C8B-B14F-4D97-AF65-F5344CB8AC3E}">
        <p14:creationId xmlns:p14="http://schemas.microsoft.com/office/powerpoint/2010/main" val="14976536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8B870-08D2-438E-98C3-FD817657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00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第三部分 · 认识 K1 与开发工具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EB677-7B0E-4D95-9893-2760DC2D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K1 与电脑怎么连上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71490-7EF0-4FA4-A581-55F97D59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无线 / 有线两种方式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4BDDE-528A-4B89-97BD-DAE4CBEB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C5EBC-B024-4288-829C-F68E66A7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23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FBF90-719E-456E-BA3B-C140E650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无线方式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00F44-F73B-49D9-92C6-59A1CA0C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52EF7-0BB3-45F3-8535-F073DFE0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38450"/>
            <a:ext cx="328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Booster APP 配网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F0DCC-7EE4-45BE-ABC6-80E03CCB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956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让 K1 接入网络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644E5-3CAC-42F3-B647-7F694D37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B56F0-A69B-4CDE-B3DD-0711DC35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95700"/>
            <a:ext cx="328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获取 IP / 序列号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A22CB-300B-48A4-8164-1EC4EE1B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5287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确认连接目标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83AEC-EFAF-46BF-8F79-742715ED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B4172-44AD-4A78-A0E2-9469229F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52950"/>
            <a:ext cx="328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BoosterStudio 连接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DA469-8A3D-42CF-ACB1-CCC27004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101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查看状态；编程传文件走 SSH + 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D9247-28C1-48DA-8BB7-BCE0E0EC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95500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A7A"/>
          </a:solidFill>
          <a:ln xmlns:a="http://schemas.openxmlformats.org/drawingml/2006/main" w="9525">
            <a:solidFill>
              <a:srgbClr val="123A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有线方式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4A50D-5EE8-4392-A2C0-4FA101D4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FBBA4-C62A-4621-B6B3-06B63B97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38450"/>
            <a:ext cx="328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网线直连电脑与 K1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4DFFE-38FF-41B0-9795-3DBC40E0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956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建立物理连接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9D4BD-C3A6-4D23-A5C9-2A46AED3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1429C-3848-4362-9FAD-89A1E062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95700"/>
            <a:ext cx="328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修改电脑网络配置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CE577-3D5B-42BE-8C73-069AC020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5287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让两端处于可通信网络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FE443-CC94-4619-B13E-050A2BF1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72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DA3AA3-E4BC-481F-85BB-BDACB425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52950"/>
            <a:ext cx="328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BoosterStudio 连接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AF045-7888-424C-9E5A-AF8E4D61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101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查看状态并开始开发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8F139-1E6C-4079-A6A9-16E54C74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K1 是实体机器人；电脑通过网络远程连接它，SSH 是编程通信方式。</a:t>
            </a:r>
          </a:p>
        </p:txBody>
      </p:sp>
    </p:spTree>
    <p:extLst>
      <p:ext uri="{BB962C8B-B14F-4D97-AF65-F5344CB8AC3E}">
        <p14:creationId xmlns:p14="http://schemas.microsoft.com/office/powerpoint/2010/main" val="8198086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8BE806-963B-4324-86B5-C054B48F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30BC9-CC89-469D-B056-B63517E6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用 BoosterStudio 先连上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25368-214A-4E26-ABAA-ADD1090F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图形界面建立第一印象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A9866-B511-45AF-A38C-405DA9AC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1D082-1D57-4240-859E-F7D19177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24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FC61D-BA6F-4362-B717-CE147F4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A31E6-D3DF-4998-A2EA-288EFBB3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24075"/>
            <a:ext cx="423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开机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6C8D4-0C72-4B40-A481-E95C660E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K1 进入可连接状态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F5678-B134-44E9-BC94-37009764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24125"/>
            <a:ext cx="20955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BCFCF-91A4-4009-B8E2-A3A76597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71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83F06-DC55-4AED-80F9-F84373C1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52725"/>
            <a:ext cx="423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配网 / 接网线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4588A-D50A-43C0-9048-E4F00387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选择无线或有线方式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5B579-41BB-4B22-96F6-B4F37D48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52775"/>
            <a:ext cx="20955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D7419-6BC2-4311-990E-9FE5A89E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0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C3C20-7E4C-4CDA-9A72-14BA6CCE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81375"/>
            <a:ext cx="423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查 IP / 序列号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3E4C6-39ED-4E29-B5B1-506A134E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核对自己的设备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FE81F-D482-4240-AFE1-76B7A628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81425"/>
            <a:ext cx="20955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65A16-AB57-46D7-8823-F0EA0DBE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29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AF6A6-396F-4E7F-815E-6F7B9814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423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BoosterStudio 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E927C-0480-4215-94F7-CCBB8C9A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建立开发入口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3071D-8ACD-4D66-B8D0-E047B9D9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10075"/>
            <a:ext cx="20955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8D6526-97A3-4300-ADB9-90EB47D4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57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2FBFA-ED80-4B36-A965-47B637E4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38675"/>
            <a:ext cx="423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看实时画面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F6ACE-F86F-4E06-953B-F6EA136B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确认连接成功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47DB14-CE23-4C24-98FB-36DD6249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3714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422087-BDF7-4F10-8095-06C4E6DF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14925"/>
            <a:ext cx="3714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F5B616-4B64-4192-9CD1-FEF3C1FB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05175"/>
            <a:ext cx="3257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BoosterStudio 连接界面</a:t>
            </a:r>
          </a:p>
          <a:p xmlns:a="http://schemas.openxmlformats.org/drawingml/2006/main">
            <a:pPr algn="ctr">
              <a:defRPr sz="1350" b="1">
                <a:solidFill>
                  <a:srgbClr val="123A7A"/>
                </a:solidFill>
              </a:defRPr>
            </a:pPr>
            <a:r>
              <a:rPr sz="1350" b="1">
                <a:solidFill>
                  <a:srgbClr val="123A7A"/>
                </a:solidFill>
              </a:rPr>
              <a:t>建议替换为实际截图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84368-9B94-49A0-8A24-E3BBF772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76875"/>
            <a:ext cx="3714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A5A4"/>
                </a:solidFill>
              </a:defRPr>
            </a:pPr>
            <a:r>
              <a:rPr sz="1200" b="1">
                <a:solidFill>
                  <a:srgbClr val="0EA5A4"/>
                </a:solidFill>
              </a:rPr>
              <a:t>演示观察点</a:t>
            </a:r>
          </a:p>
          <a:p xmlns:a="http://schemas.openxmlformats.org/drawingml/2006/main">
            <a:pPr algn="ctr">
              <a:defRPr sz="1200" b="1">
                <a:solidFill>
                  <a:srgbClr val="0EA5A4"/>
                </a:solidFill>
              </a:defRPr>
            </a:pPr>
            <a:r>
              <a:rPr sz="1200" b="1">
                <a:solidFill>
                  <a:srgbClr val="0EA5A4"/>
                </a:solidFill>
              </a:rPr>
              <a:t>连接状态 · 实时画面 · 机器人模式</a:t>
            </a:r>
          </a:p>
        </p:txBody>
      </p:sp>
    </p:spTree>
    <p:extLst>
      <p:ext uri="{BB962C8B-B14F-4D97-AF65-F5344CB8AC3E}">
        <p14:creationId xmlns:p14="http://schemas.microsoft.com/office/powerpoint/2010/main" val="19327639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62E39-D8FF-47F4-9CBF-8B501A4C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B30FA-E47D-4556-B60A-E6981807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实操任务卡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08370-CC67-42FF-B899-047D7C28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分组连接，记好“身份证”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8DBDE-F293-4DC2-BA5A-2838DD35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9AC0E-4D4B-4583-B789-A9B5CD15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25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448AE-CA22-4FB7-AD57-369BD5D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【动手试试】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42B60-302F-4C94-917C-D430E56C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每组完成一次连接，并记录属于自己的 K1。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8A21E-EE32-4DA2-832E-6D790E79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718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A5A4"/>
                </a:solidFill>
              </a:defRPr>
            </a:pPr>
            <a:r>
              <a:rPr sz="1425" b="1">
                <a:solidFill>
                  <a:srgbClr val="0EA5A4"/>
                </a:solidFill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701AD-3DB5-43B8-8D6D-C8AFE268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5282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记录 IP 地址：________________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DB4DD-B6C0-4C50-BD6C-C81BCECA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481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A5A4"/>
                </a:solidFill>
              </a:defRPr>
            </a:pPr>
            <a:r>
              <a:rPr sz="1425" b="1">
                <a:solidFill>
                  <a:srgbClr val="0EA5A4"/>
                </a:solidFill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A67E3-2356-490B-88DA-B250B00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290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记录序列号：________________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3E4AE-70E1-45D1-9F7E-108E05E6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A5A4"/>
                </a:solidFill>
              </a:defRPr>
            </a:pPr>
            <a:r>
              <a:rPr sz="1425" b="1">
                <a:solidFill>
                  <a:srgbClr val="0EA5A4"/>
                </a:solidFill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913F8-3951-489C-B84B-01F20CFF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0532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在 BoosterStudio 中核对设备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EC100-1E6B-4307-8366-66C7109C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00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A5A4"/>
                </a:solidFill>
              </a:defRPr>
            </a:pPr>
            <a:r>
              <a:rPr sz="1425" b="1">
                <a:solidFill>
                  <a:srgbClr val="0EA5A4"/>
                </a:solidFill>
              </a:rPr>
              <a:t>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64C77-3513-49CA-B23A-E59E77A2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815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连接成功后举手，等待教师确认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B75DC-F67D-4B5F-A486-6C1E75D7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5484D"/>
                </a:solidFill>
              </a:defRPr>
            </a:pPr>
            <a:r>
              <a:rPr sz="1575" b="1">
                <a:solidFill>
                  <a:srgbClr val="E5484D"/>
                </a:solidFill>
              </a:rPr>
              <a:t>多机同场</a:t>
            </a:r>
          </a:p>
          <a:p xmlns:a="http://schemas.openxmlformats.org/drawingml/2006/main">
            <a:pPr algn="ctr">
              <a:defRPr sz="1575" b="1">
                <a:solidFill>
                  <a:srgbClr val="E5484D"/>
                </a:solidFill>
              </a:defRPr>
            </a:pPr>
            <a:r>
              <a:rPr sz="1575" b="1">
                <a:solidFill>
                  <a:srgbClr val="E5484D"/>
                </a:solidFill>
              </a:rPr>
              <a:t>先核对序列号，再开始操作。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B7486-1243-4678-B484-8E76CFE7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A4"/>
                </a:solidFill>
              </a:defRPr>
            </a:pPr>
            <a:r>
              <a:rPr sz="1350" b="1">
                <a:solidFill>
                  <a:srgbClr val="0EA5A4"/>
                </a:solidFill>
              </a:rPr>
              <a:t>完成标准：连得上、认得准、记得清。</a:t>
            </a:r>
          </a:p>
        </p:txBody>
      </p:sp>
    </p:spTree>
    <p:extLst>
      <p:ext uri="{BB962C8B-B14F-4D97-AF65-F5344CB8AC3E}">
        <p14:creationId xmlns:p14="http://schemas.microsoft.com/office/powerpoint/2010/main" val="2833215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C004EA-AAAB-44A1-8572-0A8599EA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5458C-E8E0-4A57-B2C7-B1B830AB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用代码连接 K1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89DE5-FFDA-400B-A77B-4DEAE99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第一行：建立连接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2ACDF-081E-42A2-80BD-CA80213D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F32AF-947F-407E-A307-9E1254F5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26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D2EA6-A7CE-48E3-8A42-1DBBD125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28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0FC76-00BC-499C-8761-83D77A13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857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1EBCD-5368-4719-8BE1-F6BB20F2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79690-B508-42F1-B52B-917FFD61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00300"/>
            <a:ext cx="982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from boosteros.robots.booster import BoosterRobot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0B637-1C1C-471A-A54D-8E85E28D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24150"/>
            <a:ext cx="982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7D296-E578-4B9D-ACBD-24CBDA8D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982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robot = BoosterRobot()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C4FC0-B097-495A-8C51-9DCEA72F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82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print("已连接 K1，开始探索 🤖")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89A67-CAFB-4B74-AEDE-733F8307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2428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BoosterRobot()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7B7A7-C8CB-4216-9216-71F7831C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5715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8E483-B4C0-4526-97BF-EB383D78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1487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建立连接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9B17A-1013-4846-BD01-7B5FCA28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5715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A4016-D331-45A9-9E54-786795C4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A5A4"/>
                </a:solidFill>
              </a:defRPr>
            </a:pPr>
            <a:r>
              <a:rPr sz="1575" b="1">
                <a:solidFill>
                  <a:srgbClr val="0EA5A4"/>
                </a:solidFill>
              </a:rPr>
              <a:t>robot 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3EE1F-14AB-443D-9F1E-A386EEB6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对应 notebook：步骤 1</a:t>
            </a:r>
          </a:p>
        </p:txBody>
      </p:sp>
    </p:spTree>
    <p:extLst>
      <p:ext uri="{BB962C8B-B14F-4D97-AF65-F5344CB8AC3E}">
        <p14:creationId xmlns:p14="http://schemas.microsoft.com/office/powerpoint/2010/main" val="288844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697D5-94DE-4E4D-BA8B-187A24F3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F3E56-74FD-4F71-BD8D-27703641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读取它的“身份证”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2F6B8-FB38-4FE4-8BF2-9BC051E2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型号 · 序列号 · 固件版本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AC55E-BDCE-4FE9-AC17-F13437FD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FB8BB-98A7-44CC-BB1C-222B52A9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27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DBFFD-58E2-49AC-9046-DE409EF7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B2BE0-CB6D-494B-9DC4-B4CFB338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857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88D5D-CB4B-42B5-93E7-71BC8332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71835-A69E-471A-9E02-98A6BC9B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094EE-A43B-49E4-B12E-F2134AD0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D7AA0-2D9E-4AE8-83D9-E362A77D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982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info = robot.robot_info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33B85-5BAE-4045-8BB9-9AFA532C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982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print(f"机器人的元信息：{info}")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6356B-A642-450D-9CF9-B658ECCD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982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1615C-C0E4-4316-AF85-E4F9F1C4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982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print("型号：    ", info.model)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3D9B8-2A77-45E2-87D9-80791B6F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982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print("序列号：  ", info.serial_number)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9DB23-1362-4703-B0F7-0B08E308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982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print("固件版本：", info.firmware_version)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1E7C0-840C-4959-B68F-07BDD8D3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</a:defRPr>
            </a:pPr>
            <a:r>
              <a:rPr sz="1575" b="1">
                <a:solidFill>
                  <a:srgbClr val="17212B"/>
                </a:solidFill>
              </a:rPr>
              <a:t>serial_number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3C9D0-91BD-4C30-9A73-21A1A607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95800"/>
            <a:ext cx="619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BFA7D-D127-407C-A639-D7B4F231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33875"/>
            <a:ext cx="361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A5A4"/>
                </a:solidFill>
              </a:defRPr>
            </a:pPr>
            <a:r>
              <a:rPr sz="1575" b="1">
                <a:solidFill>
                  <a:srgbClr val="0EA5A4"/>
                </a:solidFill>
              </a:rPr>
              <a:t>多机区分的“身份证号”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09232-92CD-4D7C-9279-F7C692A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B7785"/>
                </a:solidFill>
              </a:defRPr>
            </a:pPr>
            <a:r>
              <a:rPr sz="1275" b="0">
                <a:solidFill>
                  <a:srgbClr val="6B7785"/>
                </a:solidFill>
              </a:rPr>
              <a:t>重点：serial_number 是多机环境区分设备的字段；字段值以当前设备真实返回为准。</a:t>
            </a:r>
          </a:p>
        </p:txBody>
      </p:sp>
    </p:spTree>
    <p:extLst>
      <p:ext uri="{BB962C8B-B14F-4D97-AF65-F5344CB8AC3E}">
        <p14:creationId xmlns:p14="http://schemas.microsoft.com/office/powerpoint/2010/main" val="17029165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5B502-D7DC-4C2B-9026-1F56E29E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5FB39-5E32-4422-B540-55BF1288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浏览关节清单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FEACA-E935-4336-81AE-DEF1F192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22 个关节与它们的“身体结构”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AC6FF-4D4B-4879-B8AB-ADB7B57A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A4E69-19E1-40C2-9EC9-02F03C3C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28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0511F-54AB-4AA6-A939-5A00F3A9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61912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F625D-3FFD-486D-992F-78D903F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857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16615-17E3-4417-907F-8AF007DC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81225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0A87F-F95A-49BF-AF76-7056D0C0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0AA95-E52D-4F0A-A486-FEB46C29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6217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joints = robot.list_joints()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0BA77-9FFE-432A-AA38-A8CF2D97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860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print(f"关节总数：{len(joints)}")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57B47-5066-44A8-85DD-97715D0D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987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print(f"list_joints{joints}")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90DB2-B0EA-4263-A756-CDE360BA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8BA47-5EBD-4FF1-824A-E8CF5FDF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5757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for j in joints: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9BC1E-295B-407E-93A0-184A7080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814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   print(f"{j.name:&lt;20} 限位: [{j.limits.min:.3f}, {j.limits.max:.3f}] rad  最大速度: {j.max_velocity:.3f} rad/s")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43422-EAF2-4D08-BC84-BE1635A5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812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j.name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2177A-3D83-43B9-A728-02CD6BE3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0375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A4"/>
                </a:solidFill>
              </a:defRPr>
            </a:pPr>
            <a:r>
              <a:rPr sz="1350" b="1">
                <a:solidFill>
                  <a:srgbClr val="0EA5A4"/>
                </a:solidFill>
              </a:rPr>
              <a:t>关节名称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08750-5F81-4426-B98C-F7A4FC84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j.limits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A4EAB-8247-4515-BD52-0E6913BB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767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A5A4"/>
                </a:solidFill>
              </a:defRPr>
            </a:pPr>
            <a:r>
              <a:rPr sz="1350" b="1">
                <a:solidFill>
                  <a:srgbClr val="0EA5A4"/>
                </a:solidFill>
              </a:rPr>
              <a:t>活动范围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6FD14-A087-4987-ADB7-0D02F97C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A5A4"/>
                </a:solidFill>
              </a:defRPr>
            </a:pPr>
            <a:r>
              <a:rPr sz="1275" b="1">
                <a:solidFill>
                  <a:srgbClr val="0EA5A4"/>
                </a:solidFill>
              </a:rPr>
              <a:t>先看总数，再看每个关节的名称、限位和最大速度；数量以实际返回为准。</a:t>
            </a:r>
          </a:p>
        </p:txBody>
      </p:sp>
    </p:spTree>
    <p:extLst>
      <p:ext uri="{BB962C8B-B14F-4D97-AF65-F5344CB8AC3E}">
        <p14:creationId xmlns:p14="http://schemas.microsoft.com/office/powerpoint/2010/main" val="7900901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42AB51-B798-4746-BBFE-E027B6C4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28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第四部分 · 动手连接与读取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1A962-6EC4-4111-9911-030E2BB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浏览动作库与当前状态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F46DA-289E-4302-9F04-60B28031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它会哪些动作，现在什么状态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BFC01-FBA2-4D10-8A9A-44A82E7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0BEA6-E403-45BB-BCA7-F60CC614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29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E4969-18C2-4501-BB0A-DD62EDD6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072F9-1B51-4554-AF83-217FAEE2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857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solidFill>
              <a:srgbClr val="0EA5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8CAB5-E324-4129-9B38-3B68D28A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85975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067DA-5B6D-404F-8847-99AA8D84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6775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76B17-CD1C-4473-BB28-A02FCA23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D520E-18F9-492D-8AC9-EB4A233B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669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actions = robot.list_actions()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1FE18-99A4-48A7-A015-65754AC2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9077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print(f"预定义动作总数：{len(actions)}")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73033-2C8A-4210-BAC6-425238CD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146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print(f"预定义动作内容：{actions}")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937B8-2FE0-4EA5-AED1-237698E6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3847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BE151-2DD8-45B2-BED6-5EF07FD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623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for a in actions: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456AE-F4FE-4109-A619-001F4C2A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8617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   dur = f"{a.duration:.1f}s" if a.duration is not None else "-"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E36D4-08CE-4A46-BA79-5B3F675E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00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   print(f"动作名称：{a.id:&lt;25} 类型：{a.type:&lt;15} 时长：{dur:&lt;8} 可中断：{'是' if a.interruptible else '否'}")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5B8B0-5F9C-49C7-BC91-A8FD80DF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3387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59D44-8E70-4A8B-9458-A56CE40D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5772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print("当前模式：", robot.get_mode())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253E3-61CD-4EDB-81F4-313BC5FB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81575"/>
            <a:ext cx="573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print("电池信息：", robot.get_battery())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244AF-4168-4657-9D42-4ABD8ECD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list_actions()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42A69-375B-4AA4-B28F-3299DEBD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动作库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519EB-34CE-43E2-80FB-14D86B01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get_mode()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A2A3B-2B98-444E-AC8C-D3972A9A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当前模式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ADADE-741F-431F-BE68-6C7303A7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get_battery()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36ABF-AC35-4D91-8172-22E64816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EA5A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电池状态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C6A082-73B2-430B-AC4A-FAB4CFD1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A5A4"/>
                </a:solidFill>
              </a:defRPr>
            </a:pPr>
            <a:r>
              <a:rPr sz="1275" b="1">
                <a:solidFill>
                  <a:srgbClr val="0EA5A4"/>
                </a:solidFill>
              </a:rPr>
              <a:t>只读接口的价值：先知道系统“有什么、在哪里、处于什么状态”。</a:t>
            </a:r>
          </a:p>
        </p:txBody>
      </p:sp>
    </p:spTree>
    <p:extLst>
      <p:ext uri="{BB962C8B-B14F-4D97-AF65-F5344CB8AC3E}">
        <p14:creationId xmlns:p14="http://schemas.microsoft.com/office/powerpoint/2010/main" val="210801444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941F6-01DE-431A-B7BE-137D6731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43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第五部分 · 小结与评价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C0AC7-A97C-4E94-B76B-E742046B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本课小结与学习评价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6A421-B6E9-4793-955C-AD24CDAD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785"/>
                </a:solidFill>
              </a:defRPr>
            </a:pPr>
            <a:r>
              <a:rPr sz="1350" b="0">
                <a:solidFill>
                  <a:srgbClr val="6B7785"/>
                </a:solidFill>
              </a:rPr>
              <a:t>—— 带走三件东西，测一测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B910C-C209-4E63-BD08-4CF41F80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552E5-E617-4F2E-AD75-F5F4929C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785"/>
                </a:solidFill>
              </a:defRPr>
            </a:pPr>
            <a:r>
              <a:rPr sz="825" b="0">
                <a:solidFill>
                  <a:srgbClr val="6B7785"/>
                </a:solidFill>
              </a:rPr>
              <a:t>30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349C9-06E7-4FE8-AB99-CDCEF301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身份证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85C51-CA7F-4EDD-ABA3-5DCCE838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serial_number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268D6-9AEC-41D6-AEE7-B5B19417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身体清单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57A38-A34F-4B21-BC91-9D8FBD88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44454"/>
                </a:solidFill>
              </a:defRPr>
            </a:pPr>
            <a:r>
              <a:rPr sz="1425" b="0">
                <a:solidFill>
                  <a:srgbClr val="344454"/>
                </a:solidFill>
              </a:rPr>
              <a:t>list_joints()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FAB93-A5C4-44A4-849A-ADD678E9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连接工具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2D2BC-679C-4992-AE73-2C6B837F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4454"/>
                </a:solidFill>
              </a:defRPr>
            </a:pPr>
            <a:r>
              <a:rPr sz="1350" b="0">
                <a:solidFill>
                  <a:srgbClr val="344454"/>
                </a:solidFill>
              </a:rPr>
              <a:t>BoosterStudio / SDK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467C5-5B86-4C69-8D9F-18695B82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56130-1AFF-4259-82FB-F947B0F5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评价题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EC211-BEB1-4BF5-B9FF-3D27F178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1. 本实验全部为只读操作，不涉及机器人任何运动，可以放心运行。（    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5CB86-9146-44C0-88B2-8D7E06C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2. robot.robot_info 中，用于多机环境区分设备的字段是 ______。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677D1-2C14-4D11-9936-74C51A80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454"/>
                </a:solidFill>
              </a:defRPr>
            </a:pPr>
            <a:r>
              <a:rPr sz="1275" b="0">
                <a:solidFill>
                  <a:srgbClr val="344454"/>
                </a:solidFill>
              </a:rPr>
              <a:t>3. list_actions() 返回的动作信息中，可作为 do_action() 参数的字段是（    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523C8-FC4D-4149-AC4D-9FE7F333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A. type    B. id    C. duration    D. interruptible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8882F-2C99-4871-9E35-886C7A35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下一步：让机器人真正动起来。</a:t>
            </a:r>
          </a:p>
        </p:txBody>
      </p:sp>
    </p:spTree>
    <p:extLst>
      <p:ext uri="{BB962C8B-B14F-4D97-AF65-F5344CB8AC3E}">
        <p14:creationId xmlns:p14="http://schemas.microsoft.com/office/powerpoint/2010/main" val="1118382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2026-08-28T03:28:40.9210000Z</dcterms:created>
  <dcterms:modified xsi:type="dcterms:W3CDTF">2026-08-28T03:28:40.9210000Z</dcterms:modified>
</coreProperties>
</file>