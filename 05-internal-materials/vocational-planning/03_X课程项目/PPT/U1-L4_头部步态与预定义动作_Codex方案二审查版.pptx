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801367" cy="43891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第四堂人形机器人课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0515600" cy="11887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4400" b="1" a:ea="Microsoft YaHei" a:cs="Microsoft YaHei">
                <a:solidFill>
                  <a:srgbClr val="1F2937"/>
                </a:solidFill>
                <a:latin typeface="Microsoft YaHei"/>
              </a:rPr>
              <a:t>头部、步态与预定义动作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2200" b="0" a:ea="Microsoft YaHei" a:cs="Microsoft YaHei">
                <a:solidFill>
                  <a:srgbClr val="606A78"/>
                </a:solidFill>
                <a:latin typeface="Microsoft YaHei"/>
              </a:rPr>
              <a:t>—— 让 K1 会看、会走、会做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114800"/>
            <a:ext cx="2011680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4480560"/>
            <a:ext cx="10515600" cy="155448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课程主视觉 / K1 转动头部 + 行走场景 或 头部坐标系示意图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17920"/>
            <a:ext cx="10515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课时 L4 · 主讲人：__________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 /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649224" cy="43891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导学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本课目标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一节课我们要带走什么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86000"/>
            <a:ext cx="10515600" cy="3200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8000"/>
              </a:lnSpc>
              <a:spcAft>
                <a:spcPts val="600"/>
              </a:spcAft>
            </a:pPr>
            <a:r>
              <a:rPr sz="2000" b="0" a:ea="Microsoft YaHei" a:cs="Microsoft YaHei">
                <a:solidFill>
                  <a:srgbClr val="1F2937"/>
                </a:solidFill>
                <a:latin typeface="Microsoft YaHei"/>
              </a:rPr>
              <a:t>• 认识头部坐标系 pitch / yaw，会用 set_head_angle 控制头部姿态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2000" b="0" a:ea="Microsoft YaHei" a:cs="Microsoft YaHei">
                <a:solidFill>
                  <a:srgbClr val="1F2937"/>
                </a:solidFill>
                <a:latin typeface="Microsoft YaHei"/>
              </a:rPr>
              <a:t>• 掌握 set_gait 切换足球 / 标准步态，对比行走差异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2000" b="0" a:ea="Microsoft YaHei" a:cs="Microsoft YaHei">
                <a:solidFill>
                  <a:srgbClr val="1F2937"/>
                </a:solidFill>
                <a:latin typeface="Microsoft YaHei"/>
              </a:rPr>
              <a:t>• 用 do_action 调用预定义动作，并用 TaskHandle 确认任务终态，体验开环组合行为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3118104" cy="43891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第一部分 · 头部坐标系与角度指令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从“能走”到“会看、会做”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脑袋和走路姿势也能编程吗？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2194560"/>
            <a:ext cx="4754880" cy="310896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K1 站立待发 / 头部转动 场景图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5669280" cy="1280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1" a:ea="Microsoft YaHei" a:cs="Microsoft YaHei">
                <a:solidFill>
                  <a:srgbClr val="1F2937"/>
                </a:solidFill>
                <a:latin typeface="Microsoft YaHei"/>
              </a:rPr>
              <a:t>回顾：上节课我们让 K1 按指令走起来了。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657600"/>
            <a:ext cx="5669280" cy="1645920"/>
          </a:xfrm>
          <a:prstGeom prst="roundRect">
            <a:avLst/>
          </a:prstGeom>
          <a:solidFill>
            <a:srgbClr val="F0F4F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657600"/>
            <a:ext cx="91440" cy="1645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1560" y="3712464"/>
            <a:ext cx="53035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1" a:ea="Microsoft YaHei" a:cs="Microsoft YaHei">
                <a:solidFill>
                  <a:srgbClr val="F59E0B"/>
                </a:solidFill>
                <a:latin typeface="Microsoft YaHei"/>
              </a:rPr>
              <a:t>【想一想】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4078224"/>
            <a:ext cx="5257800" cy="11704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想让它走路时脑袋转向一边、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看看那边的东西，程序该怎么写？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先猜一下，下面揭晓。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3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3118104" cy="43891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第一部分 · 头部坐标系与角度指令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什么是头部坐标系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以机器人头部为参照的两个角度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46888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743200"/>
                <a:gridCol w="3108960"/>
                <a:gridCol w="2468880"/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400" b="1" a:ea="Consolas" a:cs="Consolas">
                          <a:solidFill>
                            <a:srgbClr val="FFFFFF"/>
                          </a:solidFill>
                          <a:latin typeface="Consolas"/>
                        </a:rPr>
                        <a:t>角度</a:t>
                      </a:r>
                    </a:p>
                  </a:txBody>
                  <a:tcPr anchor="ctr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名称</a:t>
                      </a:r>
                    </a:p>
                  </a:txBody>
                  <a:tcPr anchor="ctr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正值方向</a:t>
                      </a:r>
                    </a:p>
                  </a:txBody>
                  <a:tcPr anchor="ctr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物理限位（约）</a:t>
                      </a:r>
                    </a:p>
                  </a:txBody>
                  <a:tcPr anchor="ctr" marT="36576" marB="36576">
                    <a:solidFill>
                      <a:srgbClr val="2563E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400" b="1" a:ea="Consolas" a:cs="Consolas">
                          <a:solidFill>
                            <a:srgbClr val="1F2937"/>
                          </a:solidFill>
                          <a:latin typeface="Consolas"/>
                        </a:rPr>
                        <a:t>pitch</a:t>
                      </a:r>
                    </a:p>
                  </a:txBody>
                  <a:tcPr anchor="ctr"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俯仰角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低头（看向地面）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-0.3 ~ 1.0 rad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400" b="1" a:ea="Consolas" a:cs="Consolas">
                          <a:solidFill>
                            <a:srgbClr val="1F2937"/>
                          </a:solidFill>
                          <a:latin typeface="Consolas"/>
                        </a:rPr>
                        <a:t>yaw</a:t>
                      </a:r>
                    </a:p>
                  </a:txBody>
                  <a:tcPr anchor="ctr"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偏航角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头向左转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-0.785 ~ 0.785 rad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5577840"/>
            <a:ext cx="105156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头部自身坐标系：pitch 管低头抬头，yaw 管头左右转；单位都是弧度（rad）。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4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3118104" cy="43891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第一部分 · 头部坐标系与角度指令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两个角度的正方向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pitch 正 = 低头 · yaw 正 = 头向左转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5669280" cy="274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两个角度的正方向约定：</a:t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· pitch 正值 = 低头（看向地面）</a:t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· yaw 正值 = 头向左转</a:t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注意：yaw 与 L3 机身 yaw 同名，但一个是整机转向、一个是脑袋转头。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2194560"/>
            <a:ext cx="4754880" cy="310896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头部正方向标注图（pitch 低头 / yaw 左转）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5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3118104" cy="43891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第一部分 · 头部坐标系与角度指令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set_head_angle 的参数与约束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一个接口，两个角度，只听 walk 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46888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743200"/>
                <a:gridCol w="3108960"/>
                <a:gridCol w="2468880"/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400" b="1" a:ea="Consolas" a:cs="Consolas">
                          <a:solidFill>
                            <a:srgbClr val="FFFFFF"/>
                          </a:solidFill>
                          <a:latin typeface="Consolas"/>
                        </a:rPr>
                        <a:t>参数</a:t>
                      </a:r>
                    </a:p>
                  </a:txBody>
                  <a:tcPr anchor="ctr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含义</a:t>
                      </a:r>
                    </a:p>
                  </a:txBody>
                  <a:tcPr anchor="ctr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正方向</a:t>
                      </a:r>
                    </a:p>
                  </a:txBody>
                  <a:tcPr anchor="ctr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模式约束</a:t>
                      </a:r>
                    </a:p>
                  </a:txBody>
                  <a:tcPr anchor="ctr" marT="36576" marB="36576">
                    <a:solidFill>
                      <a:srgbClr val="2563E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400" b="1" a:ea="Consolas" a:cs="Consolas">
                          <a:solidFill>
                            <a:srgbClr val="1F2937"/>
                          </a:solidFill>
                          <a:latin typeface="Consolas"/>
                        </a:rPr>
                        <a:t>pitch</a:t>
                      </a:r>
                    </a:p>
                  </a:txBody>
                  <a:tcPr anchor="ctr"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头部俯仰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正值 = 低头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仅在 walk 模式下有效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400" b="1" a:ea="Consolas" a:cs="Consolas">
                          <a:solidFill>
                            <a:srgbClr val="1F2937"/>
                          </a:solidFill>
                          <a:latin typeface="Consolas"/>
                        </a:rPr>
                        <a:t>yaw</a:t>
                      </a:r>
                    </a:p>
                  </a:txBody>
                  <a:tcPr anchor="ctr"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头部偏航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正值 = 头向左转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仅在 walk 模式下有效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5577840"/>
            <a:ext cx="105156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set_head_angle(pitch, yaw) 同时设置、立即生效；但只在 walk 模式下有效，否则报错。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6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3118104" cy="43891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第一部分 · 头部坐标系与角度指令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头部视野与运动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边走边转头，能看更宽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5669280" cy="274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头部相机是 K1“看世界”的主要来源。</a:t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行走中改变 yaw 让头部左右转动，就能比固定朝前看到更宽的视野——</a:t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这也是后续“看到目标再行动”的第一步。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2194560"/>
            <a:ext cx="4754880" cy="310896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头部视野扫描示意图（固定朝前 vs 左右转动）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7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3118104" cy="43891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第一部分 · 头部坐标系与角度指令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三个头部动作对照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低头 / 转头 / 回正怎么写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46888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3108960"/>
                <a:gridCol w="246888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300" b="1" a:ea="Consolas" a:cs="Consolas">
                          <a:solidFill>
                            <a:srgbClr val="FFFFFF"/>
                          </a:solidFill>
                          <a:latin typeface="Consolas"/>
                        </a:rPr>
                        <a:t>指令</a:t>
                      </a:r>
                    </a:p>
                  </a:txBody>
                  <a:tcPr anchor="ctr" marT="27432" marB="2743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动作</a:t>
                      </a:r>
                    </a:p>
                  </a:txBody>
                  <a:tcPr anchor="ctr" marT="27432" marB="2743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方向</a:t>
                      </a:r>
                    </a:p>
                  </a:txBody>
                  <a:tcPr anchor="ctr" marT="27432" marB="27432">
                    <a:solidFill>
                      <a:srgbClr val="2563E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300" b="1" a:ea="Consolas" a:cs="Consolas">
                          <a:solidFill>
                            <a:srgbClr val="1F2937"/>
                          </a:solidFill>
                          <a:latin typeface="Consolas"/>
                        </a:rPr>
                        <a:t>set_head_angle(0.3, 0)</a:t>
                      </a:r>
                    </a:p>
                  </a:txBody>
                  <a:tcPr anchor="ctr" marT="27432" marB="2743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低头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看向地面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300" b="1" a:ea="Consolas" a:cs="Consolas">
                          <a:solidFill>
                            <a:srgbClr val="1F2937"/>
                          </a:solidFill>
                          <a:latin typeface="Consolas"/>
                        </a:rPr>
                        <a:t>set_head_angle(0, 0.5)</a:t>
                      </a:r>
                    </a:p>
                  </a:txBody>
                  <a:tcPr anchor="ctr" marT="27432" marB="2743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头向左转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向左 0.5 rad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300" b="1" a:ea="Consolas" a:cs="Consolas">
                          <a:solidFill>
                            <a:srgbClr val="1F2937"/>
                          </a:solidFill>
                          <a:latin typeface="Consolas"/>
                        </a:rPr>
                        <a:t>set_head_angle(0, 0)</a:t>
                      </a:r>
                    </a:p>
                  </a:txBody>
                  <a:tcPr anchor="ctr" marT="27432" marB="2743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回正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中位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5577840"/>
            <a:ext cx="105156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低头 / 转头 / 回正三个动作怎么写，一表记牢；均在 walk 模式下发送。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788920" cy="43891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第二部分 · 步态与预定义动作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除了脑袋，还能怎么“走”和“做”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引出步态与动作库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560320"/>
            <a:ext cx="10332720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000" b="1" a:ea="Microsoft YaHei" a:cs="Microsoft YaHei">
                <a:solidFill>
                  <a:srgbClr val="1F2937"/>
                </a:solidFill>
                <a:latin typeface="Microsoft YaHei"/>
              </a:rPr>
              <a:t>除了脑袋，还能怎么“走”和“做”？</a:t>
            </a:r>
          </a:p>
          <a:p>
            <a:pPr algn="l">
              <a:lnSpc>
                <a:spcPct val="112000"/>
              </a:lnSpc>
            </a:pPr>
            <a:r>
              <a:rPr sz="3000" b="1" a:ea="Microsoft YaHei" a:cs="Microsoft YaHei">
                <a:solidFill>
                  <a:srgbClr val="1F2937"/>
                </a:solidFill>
                <a:latin typeface="Microsoft YaHei"/>
              </a:rPr>
              <a:t>—— 它的走路姿势可调吗？厂家还准备好了哪些现成动作？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097280"/>
            <a:ext cx="3017520" cy="182880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K1 不同步态 / 做动作 示意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9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788920" cy="43891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第二部分 · 步态与预定义动作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步态是什么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soccer 踢球步 vs default 标准步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56032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703320"/>
                <a:gridCol w="3703320"/>
              </a:tblGrid>
              <a:tr h="853440"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 anchor="ctr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soccer（足球步态）</a:t>
                      </a:r>
                    </a:p>
                  </a:txBody>
                  <a:tcPr anchor="ctr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default（标准步态）</a:t>
                      </a:r>
                    </a:p>
                  </a:txBody>
                  <a:tcPr anchor="ctr" marT="36576" marB="36576">
                    <a:solidFill>
                      <a:srgbClr val="2563EB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适用</a:t>
                      </a:r>
                    </a:p>
                  </a:txBody>
                  <a:tcPr anchor="ctr"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踢球等前倾动作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日常平稳行走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重心 / 特点</a:t>
                      </a:r>
                    </a:p>
                  </a:txBody>
                  <a:tcPr anchor="ctr"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更靠前、利于踢球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居中、更稳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5486400"/>
            <a:ext cx="105156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set_gait("soccer" | "default")：步态决定“怎么迈步”，本课对比两种步态的行走差异。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10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788920" cy="43891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第二部分 · 步态与预定义动作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预定义动作库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do_action(id)，一行调用现成行为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5669280" cy="2926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预定义动作库 = 厂家把常用肢体行为固化好，可通过 do_action(id) 一行调用。</a:t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调用会立即返回一个 TaskHandle（任务句柄），用来跟踪这次动作任务是否结束；</a:t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不必关心底层关节轨迹，只关心「做什么、何时做完」。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2194560"/>
            <a:ext cx="4754880" cy="274320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预定义动作缩略图（以 list_actions 读到的动作为准）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5989320"/>
            <a:ext cx="31089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2563EB"/>
                </a:solidFill>
                <a:latin typeface="Microsoft YaHei"/>
              </a:rPr>
              <a:t>核心概念：动作库 + TaskHandle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11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788920" cy="43891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第二部分 · 步态与预定义动作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看清手里的“武器库”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先列清单，再调用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5669280" cy="2926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调用动作前，先看清“武器库”：</a:t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· `list_actions()` 列出所有预定义动作及其 id、type、duration、interruptible</a:t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· `do_action(id)` 用 id 指定动作（id 比名字稳定），返回 `TaskHandle`</a:t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· `list_gaits()` 查看支持的步态</a:t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只读取、不移动；具体代码在实验四（4.1）调用前查看。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2194560"/>
            <a:ext cx="4754880" cy="274320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动作库清单截图 / 动作缩略图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788920" cy="43891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第二部分 · 步态与预定义动作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本课认知主线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头部 + 步态 + 动作 = 组合行为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60320"/>
            <a:ext cx="3291840" cy="2743200"/>
          </a:xfrm>
          <a:prstGeom prst="roundRect">
            <a:avLst/>
          </a:prstGeom>
          <a:solidFill>
            <a:srgbClr val="F0F4FC"/>
          </a:solidFill>
          <a:ln w="12700">
            <a:solidFill>
              <a:srgbClr val="F0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① 头部坐标系</a:t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pitch 低头</a:t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yaw 头左转</a:t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用 set_head_angle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560320"/>
            <a:ext cx="3291840" cy="2743200"/>
          </a:xfrm>
          <a:prstGeom prst="roundRect">
            <a:avLst/>
          </a:prstGeom>
          <a:solidFill>
            <a:srgbClr val="F0F4FC"/>
          </a:solidFill>
          <a:ln w="12700">
            <a:solidFill>
              <a:srgbClr val="F0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② 步态切换</a:t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soccer / default</a:t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用 set_gait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560320"/>
            <a:ext cx="3291840" cy="2743200"/>
          </a:xfrm>
          <a:prstGeom prst="roundRect">
            <a:avLst/>
          </a:prstGeom>
          <a:solidFill>
            <a:srgbClr val="F0F4FC"/>
          </a:solidFill>
          <a:ln w="12700">
            <a:solidFill>
              <a:srgbClr val="F0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③ 预定义动作</a:t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do_action(id)</a:t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动作库一行调用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13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3611879" cy="43891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第三部分 · 头部·步态·动作实验与安全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动手前，先守规矩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真机移动与大幅动作的安全底线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560320"/>
            <a:ext cx="10332720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000" b="1" a:ea="Microsoft YaHei" a:cs="Microsoft YaHei">
                <a:solidFill>
                  <a:srgbClr val="1F2937"/>
                </a:solidFill>
                <a:latin typeface="Microsoft YaHei"/>
              </a:rPr>
              <a:t>动手前，先守规矩</a:t>
            </a:r>
          </a:p>
          <a:p>
            <a:pPr algn="l">
              <a:lnSpc>
                <a:spcPct val="112000"/>
              </a:lnSpc>
            </a:pPr>
            <a:r>
              <a:rPr sz="3000" b="1" a:ea="Microsoft YaHei" a:cs="Microsoft YaHei">
                <a:solidFill>
                  <a:srgbClr val="1F2937"/>
                </a:solidFill>
                <a:latin typeface="Microsoft YaHei"/>
              </a:rPr>
              <a:t>—— 接下来 K1 会动头部、换步态、做大幅动作，比“原地切换”更需谨慎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097280"/>
            <a:ext cx="3017520" cy="182880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空旷场地 + 监督 场景剪影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14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3611879" cy="43891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第三部分 · 头部·步态·动作实验与安全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实验安全规范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空旷 · 在场 · 有预案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10515600" cy="457200"/>
          </a:xfrm>
          <a:prstGeom prst="roundRect">
            <a:avLst/>
          </a:prstGeom>
          <a:solidFill>
            <a:srgbClr val="E5484D"/>
          </a:solidFill>
          <a:ln w="12700">
            <a:solidFill>
              <a:srgbClr val="E54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10515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⚠ 安全提示：真机移动与大幅动作，安全优先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017520"/>
            <a:ext cx="10515600" cy="274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800" b="0" a:ea="Microsoft YaHei" a:cs="Microsoft YaHei">
                <a:solidFill>
                  <a:srgbClr val="1F2937"/>
                </a:solidFill>
                <a:latin typeface="Microsoft YaHei"/>
              </a:rPr>
              <a:t>• ① 场地空旷、无易撞物，远离台阶与电源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 a:ea="Microsoft YaHei" a:cs="Microsoft YaHei">
                <a:solidFill>
                  <a:srgbClr val="1F2937"/>
                </a:solidFill>
                <a:latin typeface="Microsoft YaHei"/>
              </a:rPr>
              <a:t>• ② 教师与同伴在场，保持安全距离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 a:ea="Microsoft YaHei" a:cs="Microsoft YaHei">
                <a:solidFill>
                  <a:srgbClr val="1F2937"/>
                </a:solidFill>
                <a:latin typeface="Microsoft YaHei"/>
              </a:rPr>
              <a:t>• ③ 明确急停与收尾手势，人人知晓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 a:ea="Microsoft YaHei" a:cs="Microsoft YaHei">
                <a:solidFill>
                  <a:srgbClr val="1F2937"/>
                </a:solidFill>
                <a:latin typeface="Microsoft YaHei"/>
              </a:rPr>
              <a:t>• ④ 大幅动作前确认周围空间充足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15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3611879" cy="438912"/>
          </a:xfrm>
          <a:prstGeom prst="roundRect">
            <a:avLst/>
          </a:prstGeom>
          <a:solidFill>
            <a:srgbClr val="0EA5A4"/>
          </a:solidFill>
          <a:ln w="12700">
            <a:solidFill>
              <a:srgbClr val="0EA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第三部分 · 头部·步态·动作实验与安全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实验准备：连接 K1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先连上，进实验再看清清单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10515600" cy="1536192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82296" cy="1536192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816352"/>
            <a:ext cx="10515600" cy="329184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145536"/>
            <a:ext cx="10515600" cy="329184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377440"/>
            <a:ext cx="10515600" cy="15361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# 对应 notebook 2.1（cell-7）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from boosteros.robots.booster import BoosterRobot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 = BoosterRobot()      # 建立连接（仅连接，不移动）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754880"/>
            <a:ext cx="1051560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606A78"/>
                </a:solidFill>
                <a:latin typeface="Microsoft YaHei"/>
              </a:rPr>
              <a:t>先连上机器人；动作库与步态清单在实验四（4.1）调用前再用 `list_actions()` 查看，不必提前统一确认模式。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16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3611879" cy="438912"/>
          </a:xfrm>
          <a:prstGeom prst="roundRect">
            <a:avLst/>
          </a:prstGeom>
          <a:solidFill>
            <a:srgbClr val="0EA5A4"/>
          </a:solidFill>
          <a:ln w="12700">
            <a:solidFill>
              <a:srgbClr val="0EA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第三部分 · 头部·步态·动作实验与安全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进入行走态（仅首次需人工窗口）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确认后才发 walk，后续只注模式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10515600" cy="457200"/>
          </a:xfrm>
          <a:prstGeom prst="roundRect">
            <a:avLst/>
          </a:prstGeom>
          <a:solidFill>
            <a:srgbClr val="E5484D"/>
          </a:solidFill>
          <a:ln w="12700">
            <a:solidFill>
              <a:srgbClr val="E54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10515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⚠ 人工确认仅首次：直立站稳 · 周围空旷 · 教师监督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26080"/>
            <a:ext cx="1737360" cy="155448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① 进入 prepare</a:t>
            </a:r>
          </a:p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并手动拉起站稳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2926080"/>
            <a:ext cx="1737360" cy="1554480"/>
          </a:xfrm>
          <a:prstGeom prst="roundRect">
            <a:avLst/>
          </a:prstGeom>
          <a:solidFill>
            <a:srgbClr val="E5484D"/>
          </a:solidFill>
          <a:ln w="12700">
            <a:solidFill>
              <a:srgbClr val="E54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200" b="1" a:ea="Microsoft YaHei" a:cs="Microsoft YaHei">
                <a:solidFill>
                  <a:srgbClr val="FFFFFF"/>
                </a:solidFill>
                <a:latin typeface="Microsoft YaHei"/>
              </a:rPr>
              <a:t>② 人工确认</a:t>
            </a:r>
          </a:p>
          <a:p>
            <a:pPr algn="ctr">
              <a:lnSpc>
                <a:spcPct val="112000"/>
              </a:lnSpc>
            </a:pPr>
            <a:r>
              <a:rPr sz="1200" b="1" a:ea="Microsoft YaHei" a:cs="Microsoft YaHei">
                <a:solidFill>
                  <a:srgbClr val="FFFFFF"/>
                </a:solidFill>
                <a:latin typeface="Microsoft YaHei"/>
              </a:rPr>
              <a:t>仅首次·直立·空旷·教师监督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926080"/>
            <a:ext cx="1737360" cy="155448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③ 进入 walk</a:t>
            </a:r>
          </a:p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发头部/步态/动作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926080"/>
            <a:ext cx="1737360" cy="155448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④ 回正头部</a:t>
            </a:r>
          </a:p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set_head_angle 0,0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2926080"/>
            <a:ext cx="1737360" cy="155448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⑤ 回 prepare</a:t>
            </a:r>
          </a:p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站立稳定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2926080"/>
            <a:ext cx="1737360" cy="155448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⑥ 手动趴姿</a:t>
            </a:r>
          </a:p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→ damping（人工）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377440" y="3474720"/>
            <a:ext cx="274320" cy="36576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4206240" y="3474720"/>
            <a:ext cx="274320" cy="36576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6035040" y="3474720"/>
            <a:ext cx="274320" cy="36576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7863840" y="3474720"/>
            <a:ext cx="274320" cy="36576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9692639" y="3474720"/>
            <a:ext cx="274320" cy="36576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六步时序，② 人工确认仅首次不可跳过；其余步骤只在代码前注明所需模式，不重复窗口。对应 notebook 2.3 首次进入 walk（cell-9 / cell-10）。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17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3611879" cy="438912"/>
          </a:xfrm>
          <a:prstGeom prst="roundRect">
            <a:avLst/>
          </a:prstGeom>
          <a:solidFill>
            <a:srgbClr val="0EA5A4"/>
          </a:solidFill>
          <a:ln w="12700">
            <a:solidFill>
              <a:srgbClr val="0EA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第三部分 · 头部·步态·动作实验与安全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代码 · 头部控制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set_head_angle(0.3, 0) 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10515600" cy="1865376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82296" cy="1865376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816352"/>
            <a:ext cx="10515600" cy="329184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145536"/>
            <a:ext cx="10515600" cy="329184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474720"/>
            <a:ext cx="10515600" cy="329184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377440"/>
            <a:ext cx="10515600" cy="18653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# 对应 notebook 2.3–2.5（cell-10 / cell-12 / cell-14），机器人处于 walk 模式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robot.set_head_angle(0.3, 0)    # 低头约 0.3 rad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robot.set_head_angle(0, 0.5)    # 头向左转 0.5 rad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robot.set_head_angle(0, 0)      # 回正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606A78"/>
                </a:solidFill>
                <a:latin typeface="Microsoft YaHei"/>
              </a:rPr>
              <a:t>机器人保持在 walk 模式；先不发速度，仅调头部，观察视野变化。运行前确认已人工窗口进入 walk。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18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3611879" cy="438912"/>
          </a:xfrm>
          <a:prstGeom prst="roundRect">
            <a:avLst/>
          </a:prstGeom>
          <a:solidFill>
            <a:srgbClr val="0EA5A4"/>
          </a:solidFill>
          <a:ln w="12700">
            <a:solidFill>
              <a:srgbClr val="0EA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第三部分 · 头部·步态·动作实验与安全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代码 · 步态切换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set_gait("soccer") / "default"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10515600" cy="2523744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82296" cy="2523744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816352"/>
            <a:ext cx="10515600" cy="329184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145536"/>
            <a:ext cx="10515600" cy="329184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4462272"/>
            <a:ext cx="10515600" cy="329184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377440"/>
            <a:ext cx="10515600" cy="2523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# 对应 notebook 3.1–3.3（cell-17 / cell-19 / cell-21），机器人处于 walk 模式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robot.set_gait("soccer")           # 切换足球步态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robot.set_velocity(0.3, 0, 0)      # 前进 0.3 m/s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# 约 2 秒后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robot.set_velocity(0, 0, 0)         # 停止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robot.set_gait("default")          # 切回标准步态，同样前进对比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5486400"/>
            <a:ext cx="10515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本环节在 walk 模式下切换 gait 并对比（实验二头部控制即在该模式下）；保持低速短时，停止后回 prepare（见 3.4）。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19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3611879" cy="438912"/>
          </a:xfrm>
          <a:prstGeom prst="roundRect">
            <a:avLst/>
          </a:prstGeom>
          <a:solidFill>
            <a:srgbClr val="0EA5A4"/>
          </a:solidFill>
          <a:ln w="12700">
            <a:solidFill>
              <a:srgbClr val="0EA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第三部分 · 头部·步态·动作实验与安全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代码 · 预定义动作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看清清单后 do_action(id)，并用 TaskHandle 确认终态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515600" cy="38404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82296" cy="384048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212848"/>
            <a:ext cx="10515600" cy="329184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200400"/>
            <a:ext cx="10515600" cy="329184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529584"/>
            <a:ext cx="10515600" cy="329184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4846320"/>
            <a:ext cx="10515600" cy="329184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5175504"/>
            <a:ext cx="10515600" cy="329184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2103120"/>
            <a:ext cx="10515600" cy="3840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actions = robot.list_actions()       # 先看清单（只读）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print([(a.id, a.type) for a in actions])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print("支持的步态：", robot.list_gaits())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act = actions[0]; handle = robot.do_action(act.id)  # walk 模式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print("status =", handle.status); handle.wait()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print("done =", handle.done(), "final =", handle.status)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upper = next(a for a in actions if a.type == "upper_body")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whole = next(a for a in actions if a.type == "whole_body")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h1 = robot.do_action(upper.id); h1.wait()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h2 = robot.do_action(whole.id); h2.wait()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606A78"/>
                </a:solidFill>
                <a:latin typeface="Microsoft YaHei"/>
              </a:rPr>
              <a:t>do_action 必须在 walk 模式下调用；幅度大，确认周围空旷、教师监督后再运行。运行后先回 prepare（4.4），再手动趴姿→damping。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20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3611879" cy="438912"/>
          </a:xfrm>
          <a:prstGeom prst="roundRect">
            <a:avLst/>
          </a:prstGeom>
          <a:solidFill>
            <a:srgbClr val="0EA5A4"/>
          </a:solidFill>
          <a:ln w="12700">
            <a:solidFill>
              <a:srgbClr val="0EA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第三部分 · 头部·步态·动作实验与安全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代码 · 停止与安全收尾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先回正，再 walk→prepare，最后 damping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10515600" cy="457200"/>
          </a:xfrm>
          <a:prstGeom prst="roundRect">
            <a:avLst/>
          </a:prstGeom>
          <a:solidFill>
            <a:srgbClr val="E5484D"/>
          </a:solidFill>
          <a:ln w="12700">
            <a:solidFill>
              <a:srgbClr val="E54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10515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⚠ 头部回正 → walk→prepare；动作实验结束先回 prepare（4.4），再手动趴姿→damping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80360"/>
            <a:ext cx="10515600" cy="1865376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880360"/>
            <a:ext cx="82296" cy="1865376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319272"/>
            <a:ext cx="10515600" cy="329184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648456"/>
            <a:ext cx="10515600" cy="329184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880360"/>
            <a:ext cx="10515600" cy="18653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# 对应 notebook 2.5 / 3.4 / 4.4（cell-14 / cell-23 / cell-32）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robot.set_head_angle(0, 0)      # 头部回正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robot.set_mode("prepare")       # 安全停止，回到站立稳定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# 确认已站立稳定后，按约定手动放置趴姿 → damping → 关机（严禁程序直进 damping）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394960"/>
            <a:ext cx="105156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1" a:ea="Microsoft YaHei" a:cs="Microsoft YaHei">
                <a:solidFill>
                  <a:srgbClr val="E5484D"/>
                </a:solidFill>
                <a:latin typeface="Microsoft YaHei"/>
              </a:rPr>
              <a:t>头部实验先回正再 walk→prepare；步态实验先归零再 prepare；动作实验结束先回 prepare（4.4），再手动趴姿→damping，严禁程序直接 walk→damping。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21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3611879" cy="438912"/>
          </a:xfrm>
          <a:prstGeom prst="roundRect">
            <a:avLst/>
          </a:prstGeom>
          <a:solidFill>
            <a:srgbClr val="0EA5A4"/>
          </a:solidFill>
          <a:ln w="12700">
            <a:solidFill>
              <a:srgbClr val="0EA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第三部分 · 头部·步态·动作实验与安全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观察记录任务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把“预期”和“实际”的差记下来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10515600" cy="1280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700" b="1" a:ea="Microsoft YaHei" a:cs="Microsoft YaHei">
                <a:solidFill>
                  <a:srgbClr val="1F2937"/>
                </a:solidFill>
                <a:latin typeface="Microsoft YaHei"/>
              </a:rPr>
              <a:t>不写代码：每组按指令操作头部 / 步态 / 动作，记录实际现象与偏差，填入实训手册 §六 观察表（开环：发指令、测现象、做记录）。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657600"/>
            <a:ext cx="10515600" cy="2194560"/>
          </a:xfrm>
          <a:prstGeom prst="roundRect">
            <a:avLst/>
          </a:prstGeom>
          <a:solidFill>
            <a:srgbClr val="F0F4FC"/>
          </a:solidFill>
          <a:ln w="12700">
            <a:solidFill>
              <a:srgbClr val="0EA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657600"/>
            <a:ext cx="91440" cy="219456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3712464"/>
            <a:ext cx="101498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1" a:ea="Microsoft YaHei" a:cs="Microsoft YaHei">
                <a:solidFill>
                  <a:srgbClr val="0EA5A4"/>
                </a:solidFill>
                <a:latin typeface="Microsoft YaHei"/>
              </a:rPr>
              <a:t>【动手试试】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4078224"/>
            <a:ext cx="10104120" cy="17190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观察记录要点：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· 头部：低头 / 转头后相机视野怎么变？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· 步态：同样 0.3 m/s 走 2 秒，soccer 与 default 姿态 / 稳定感有何不同？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· 动作：每个 do_action 做了什么、幅度多大？把现象写成具体描述，同桌交叉核对。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22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295144" cy="438912"/>
          </a:xfrm>
          <a:prstGeom prst="roundRect">
            <a:avLst/>
          </a:prstGeom>
          <a:solidFill>
            <a:srgbClr val="0EA5A4"/>
          </a:solidFill>
          <a:ln w="12700">
            <a:solidFill>
              <a:srgbClr val="0EA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第四部分 · 拓展与评价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拓展：边走边转头扫描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见附件《K1 综合行为设计任务卡》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5669280" cy="2926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>把头部控制与 L3 速度控制组合起来，可形成“前进同时头部左右扫视”的组合行为：</a:t>
            </a:r>
          </a:p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>· 先写指令顺序（先做什么、再做什么、何时回正）</a:t>
            </a:r>
          </a:p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>· 标注每步所需模式（哪些必须在 walk 下）</a:t>
            </a:r>
          </a:p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>· 列出至少 2 条安全注意点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2194560"/>
            <a:ext cx="4754880" cy="292608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组合行为示意图（前进 + 头部左右扫视）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5303520"/>
            <a:ext cx="47548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2563EB"/>
                </a:solidFill>
                <a:latin typeface="Microsoft YaHei"/>
              </a:rPr>
              <a:t>详细图示见附件《K1 综合行为设计任务卡》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23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295144" cy="438912"/>
          </a:xfrm>
          <a:prstGeom prst="roundRect">
            <a:avLst/>
          </a:prstGeom>
          <a:solidFill>
            <a:srgbClr val="0EA5A4"/>
          </a:solidFill>
          <a:ln w="12700">
            <a:solidFill>
              <a:srgbClr val="0EA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第四部分 · 拓展与评价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分组实操任务卡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在监督下完成一次组合行为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10515600" cy="3474720"/>
          </a:xfrm>
          <a:prstGeom prst="roundRect">
            <a:avLst/>
          </a:prstGeom>
          <a:solidFill>
            <a:srgbClr val="F0F4FC"/>
          </a:solidFill>
          <a:ln w="12700">
            <a:solidFill>
              <a:srgbClr val="0EA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86000"/>
            <a:ext cx="91440" cy="347472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1560" y="2340864"/>
            <a:ext cx="101498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1" a:ea="Microsoft YaHei" a:cs="Microsoft YaHei">
                <a:solidFill>
                  <a:srgbClr val="0EA5A4"/>
                </a:solidFill>
                <a:latin typeface="Microsoft YaHei"/>
              </a:rPr>
              <a:t>【动手试试】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2706624"/>
            <a:ext cx="10104120" cy="29992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分组轮换，在监督下完成一次组合行为：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· 每组：prepare → 确认 → 进 walk → 低头/转头/回正 → 切换步态 → 调动作 → 停止收尾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· 每组指定 1 名安全员，全程盯守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· 教师先完整示范一遍，再放手让学生操作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· 每个动作运行前确认周围空旷、站位安全；动作幅度大须留足空间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24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295144" cy="43891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第四部分 · 拓展与评价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本课小结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带走三件东西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60320"/>
            <a:ext cx="3291840" cy="2743200"/>
          </a:xfrm>
          <a:prstGeom prst="roundRect">
            <a:avLst/>
          </a:prstGeom>
          <a:solidFill>
            <a:srgbClr val="F0F4FC"/>
          </a:solidFill>
          <a:ln w="12700">
            <a:solidFill>
              <a:srgbClr val="F0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① 头部坐标系</a:t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pitch 低头</a:t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yaw 头左转</a:t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与 L3 机身 yaw 不同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560320"/>
            <a:ext cx="3291840" cy="2743200"/>
          </a:xfrm>
          <a:prstGeom prst="roundRect">
            <a:avLst/>
          </a:prstGeom>
          <a:solidFill>
            <a:srgbClr val="F0F4FC"/>
          </a:solidFill>
          <a:ln w="12700">
            <a:solidFill>
              <a:srgbClr val="F0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② 步态切换</a:t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soccer / default</a:t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用 set_gait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560320"/>
            <a:ext cx="3291840" cy="2743200"/>
          </a:xfrm>
          <a:prstGeom prst="roundRect">
            <a:avLst/>
          </a:prstGeom>
          <a:solidFill>
            <a:srgbClr val="F0F4FC"/>
          </a:solidFill>
          <a:ln w="12700">
            <a:solidFill>
              <a:srgbClr val="F0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③ 预定义动作库</a:t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do_action(id)</a:t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一行调用现成行为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25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295144" cy="43891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第四部分 · 拓展与评价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学习评价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测一测，带得走多少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600" b="1" a:ea="Microsoft YaHei" a:cs="Microsoft YaHei">
                <a:solidFill>
                  <a:srgbClr val="1F2937"/>
                </a:solidFill>
                <a:latin typeface="Microsoft YaHei"/>
              </a:rPr>
              <a:t>带走三件东西：① 头部坐标系　② 步态切换　③ 预定义动作库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34640"/>
            <a:ext cx="10515600" cy="54864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500" b="1" a:ea="Microsoft YaHei" a:cs="Microsoft YaHei">
                <a:solidFill>
                  <a:srgbClr val="FFFFFF"/>
                </a:solidFill>
                <a:latin typeface="Microsoft YaHei"/>
              </a:rPr>
              <a:t>学习评价（与实训手册一致）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611880"/>
            <a:ext cx="10332720" cy="274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2000"/>
              </a:lnSpc>
              <a:spcAft>
                <a:spcPts val="600"/>
              </a:spcAft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• 判断：set_head_angle(pitch, yaw) 只能在 walk 模式下调用，在 damping / prepare 下调用会报错。（　）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• 填空：切换步态用 set_gait(____)；若当前不在 walk 模式，该设置会 ______（填“立即生效”或“记录并在下次进入 walk 时生效”）。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• 填空：头部俯仰角 pitch 的正值表示 ______（填“低头”或“抬头”）。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• 选择：用于在 walk 模式下控制头部姿态的接口是（　）。A. set_velocity　B. set_gait　C. set_head_angle　D. do_action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• 选择：do_action 指定动作时应传入（　）。A. 动作名字字符串　B. list_actions() 返回的 id　C. 动作 duration　D. 任意整数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26 /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